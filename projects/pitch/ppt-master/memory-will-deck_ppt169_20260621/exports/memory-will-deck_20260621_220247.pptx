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Memory Will is a working handoff surface for agent succession. The first click kills the predecessor agent, the user chooses what can survive, and the app returns a receipt instead of a generic saved chat summary.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core product choice is scoped inheritance. Approved memory becomes restorable, but blocked memory stays named and unavailable. That makes the handoff useful without pretending all prior context should be inherited.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live run is a four-step loop: Kill Agent, write the scoped will to Walrus, open a cold successor through a Walrus read, and inspect the receipt. Build, typecheck, Sui build, and Sui tests have all passed sequentially.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Walrus is on the restore path. The app writes the will before restore is enabled and reads the blob before successor output appears. If the Walrus write or read fails, Memory Will does not fake a successful handoff.</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Sui claim is intentionally bounded. The app reads Sui object metadata for the Walrus object id, and the repo includes a Move package that builds and tests locally. We do not claim the registry is published unless package id and signer are configured.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judge path is simple: open the live URL, click Kill Agent, write the will, open the cold successor, then inspect `/?will=latest`. Final hackathon form submission still requires explicit human approval.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780219b742e64f6.png"/>
  <Relationship Id="rId3" Type="http://schemas.openxmlformats.org/officeDocument/2006/relationships/image" Target="../media/image_bcc527a28f47ed69.png"/>
  <Relationship Id="rId4" Type="http://schemas.openxmlformats.org/officeDocument/2006/relationships/notesSlide" Target="../notesSlides/notesSlide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0F14"/>
            </a:solidFill>
            <a:ln>
              <a:noFill/>
            </a:ln>
          </p:spPr>
        </p:sp>
        <p:sp>
          <p:nvSpPr>
            <p:cNvPr id="3" name="Rectangle 3"/>
            <p:cNvSpPr/>
            <p:nvPr/>
          </p:nvSpPr>
          <p:spPr>
            <a:xfrm>
              <a:off x="0" y="0"/>
              <a:ext cx="12192000" cy="6858000"/>
            </a:xfrm>
            <a:prstGeom prst="rect">
              <a:avLst/>
            </a:prstGeom>
            <a:gradFill>
              <a:gsLst>
                <a:gs pos="0">
                  <a:srgbClr val="4EC5F1">
                    <a:alpha val="22000"/>
                  </a:srgbClr>
                </a:gs>
                <a:gs pos="57999">
                  <a:srgbClr val="4EC5F1">
                    <a:alpha val="6000"/>
                  </a:srgbClr>
                </a:gs>
                <a:gs pos="100000">
                  <a:srgbClr val="4EC5F1">
                    <a:alpha val="0"/>
                  </a:srgbClr>
                </a:gs>
              </a:gsLst>
              <a:path path="circle">
                <a:fillToRect l="50000" t="50000" r="50000" b="50000"/>
              </a:path>
            </a:gradFill>
            <a:ln>
              <a:noFill/>
            </a:ln>
          </p:spPr>
        </p:sp>
        <p:sp>
          <p:nvSpPr>
            <p:cNvPr id="4" name="Rectangle 4"/>
            <p:cNvSpPr/>
            <p:nvPr/>
          </p:nvSpPr>
          <p:spPr>
            <a:xfrm>
              <a:off x="0" y="0"/>
              <a:ext cx="12192000" cy="6858000"/>
            </a:xfrm>
            <a:prstGeom prst="rect">
              <a:avLst/>
            </a:prstGeom>
            <a:gradFill>
              <a:gsLst>
                <a:gs pos="0">
                  <a:srgbClr val="73F0B8">
                    <a:alpha val="22000"/>
                  </a:srgbClr>
                </a:gs>
                <a:gs pos="100000">
                  <a:srgbClr val="73F0B8">
                    <a:alpha val="0"/>
                  </a:srgbClr>
                </a:gs>
              </a:gsLst>
              <a:path path="circle">
                <a:fillToRect l="50000" t="50000" r="50000" b="50000"/>
              </a:path>
            </a:gradFill>
            <a:ln>
              <a:noFill/>
            </a:ln>
          </p:spPr>
        </p:sp>
        <p:sp>
          <p:nvSpPr>
            <p:cNvPr id="5" name="Freeform 5"/>
            <p:cNvSpPr/>
            <p:nvPr/>
          </p:nvSpPr>
          <p:spPr>
            <a:xfrm>
              <a:off x="533400" y="990600"/>
              <a:ext cx="11125200" cy="4800600"/>
            </a:xfrm>
            <a:custGeom>
              <a:avLst/>
              <a:gdLst/>
              <a:ahLst/>
              <a:cxnLst/>
              <a:rect l="l" t="t" r="r" b="b"/>
              <a:pathLst>
                <a:path w="11125200" h="4800600">
                  <a:moveTo>
                    <a:pt x="0" y="0"/>
                  </a:moveTo>
                  <a:lnTo>
                    <a:pt x="11125200" y="0"/>
                  </a:lnTo>
                  <a:moveTo>
                    <a:pt x="0" y="800100"/>
                  </a:moveTo>
                  <a:lnTo>
                    <a:pt x="11125200" y="800100"/>
                  </a:lnTo>
                  <a:moveTo>
                    <a:pt x="0" y="1600200"/>
                  </a:moveTo>
                  <a:lnTo>
                    <a:pt x="11125200" y="1600200"/>
                  </a:lnTo>
                  <a:moveTo>
                    <a:pt x="0" y="2400300"/>
                  </a:moveTo>
                  <a:lnTo>
                    <a:pt x="11125200" y="2400300"/>
                  </a:lnTo>
                  <a:moveTo>
                    <a:pt x="0" y="3200400"/>
                  </a:moveTo>
                  <a:lnTo>
                    <a:pt x="11125200" y="3200400"/>
                  </a:lnTo>
                  <a:moveTo>
                    <a:pt x="0" y="4000500"/>
                  </a:moveTo>
                  <a:lnTo>
                    <a:pt x="11125200" y="4000500"/>
                  </a:lnTo>
                  <a:moveTo>
                    <a:pt x="0" y="4800600"/>
                  </a:moveTo>
                  <a:lnTo>
                    <a:pt x="11125200" y="4800600"/>
                  </a:lnTo>
                </a:path>
              </a:pathLst>
            </a:custGeom>
            <a:noFill/>
            <a:ln w="9525">
              <a:solidFill>
                <a:srgbClr val="223143">
                  <a:alpha val="55000"/>
                </a:srgbClr>
              </a:solidFill>
            </a:ln>
          </p:spPr>
        </p:sp>
        <p:sp>
          <p:nvSpPr>
            <p:cNvPr id="6" name="Freeform 6"/>
            <p:cNvSpPr/>
            <p:nvPr/>
          </p:nvSpPr>
          <p:spPr>
            <a:xfrm>
              <a:off x="1257300" y="457200"/>
              <a:ext cx="9867900" cy="5943600"/>
            </a:xfrm>
            <a:custGeom>
              <a:avLst/>
              <a:gdLst/>
              <a:ahLst/>
              <a:cxnLst/>
              <a:rect l="l" t="t" r="r" b="b"/>
              <a:pathLst>
                <a:path w="9867900" h="5943600">
                  <a:moveTo>
                    <a:pt x="0" y="0"/>
                  </a:moveTo>
                  <a:lnTo>
                    <a:pt x="0" y="5943600"/>
                  </a:lnTo>
                  <a:moveTo>
                    <a:pt x="1409700" y="0"/>
                  </a:moveTo>
                  <a:lnTo>
                    <a:pt x="1409700" y="5943600"/>
                  </a:lnTo>
                  <a:moveTo>
                    <a:pt x="2819400" y="0"/>
                  </a:moveTo>
                  <a:lnTo>
                    <a:pt x="2819400" y="5943600"/>
                  </a:lnTo>
                  <a:moveTo>
                    <a:pt x="4229100" y="0"/>
                  </a:moveTo>
                  <a:lnTo>
                    <a:pt x="4229100" y="5943600"/>
                  </a:lnTo>
                  <a:moveTo>
                    <a:pt x="5638800" y="0"/>
                  </a:moveTo>
                  <a:lnTo>
                    <a:pt x="5638800" y="5943600"/>
                  </a:lnTo>
                  <a:moveTo>
                    <a:pt x="7048500" y="0"/>
                  </a:moveTo>
                  <a:lnTo>
                    <a:pt x="7048500" y="5943600"/>
                  </a:lnTo>
                  <a:moveTo>
                    <a:pt x="8458200" y="0"/>
                  </a:moveTo>
                  <a:lnTo>
                    <a:pt x="8458200" y="5943600"/>
                  </a:lnTo>
                  <a:moveTo>
                    <a:pt x="9867900" y="0"/>
                  </a:moveTo>
                  <a:lnTo>
                    <a:pt x="9867900" y="5943600"/>
                  </a:lnTo>
                </a:path>
              </a:pathLst>
            </a:custGeom>
            <a:noFill/>
            <a:ln w="9525">
              <a:solidFill>
                <a:srgbClr val="223143">
                  <a:alpha val="36000"/>
                </a:srgbClr>
              </a:solidFill>
            </a:ln>
          </p:spPr>
        </p:sp>
      </p:grpSp>
      <p:grpSp>
        <p:nvGrpSpPr>
          <p:cNvPr id="10" name="Group 10"/>
          <p:cNvGrpSpPr/>
          <p:nvPr/>
        </p:nvGrpSpPr>
        <p:grpSpPr>
          <a:xfrm>
            <a:off x="520065" y="381952"/>
            <a:ext cx="11151870" cy="213360"/>
            <a:chOff x="520065" y="381952"/>
            <a:chExt cx="11151870" cy="213360"/>
          </a:xfrm>
        </p:grpSpPr>
        <p:sp>
          <p:nvSpPr>
            <p:cNvPr id="8" name="TextBox 8"/>
            <p:cNvSpPr txBox="1"/>
            <p:nvPr/>
          </p:nvSpPr>
          <p:spPr>
            <a:xfrm>
              <a:off x="520065" y="381952"/>
              <a:ext cx="2630995" cy="213360"/>
            </a:xfrm>
            <a:prstGeom prst="rect">
              <a:avLst/>
            </a:prstGeom>
            <a:noFill/>
            <a:ln>
              <a:noFill/>
            </a:ln>
          </p:spPr>
          <p:txBody>
            <a:bodyPr wrap="none" lIns="0" tIns="0" rIns="0" bIns="0" anchor="t" anchorCtr="0">
              <a:spAutoFit/>
            </a:bodyPr>
            <a:lstStyle/>
            <a:p>
              <a:pPr algn="l"/>
              <a:r>
                <a:rPr lang="zh-CN" sz="1050" dirty="0">
                  <a:solidFill>
                    <a:srgbClr val="A8B6C6"/>
                  </a:solidFill>
                  <a:latin typeface="Consolas"/>
                  <a:ea typeface="Microsoft YaHei"/>
                  <a:cs typeface="Consolas"/>
                </a:rPr>
                <a:t>SUI OVERFLOW 2026 / SPECIAL - WALRUS</a:t>
              </a:r>
            </a:p>
          </p:txBody>
        </p:sp>
        <p:sp>
          <p:nvSpPr>
            <p:cNvPr id="9" name="TextBox 9"/>
            <p:cNvSpPr txBox="1"/>
            <p:nvPr/>
          </p:nvSpPr>
          <p:spPr>
            <a:xfrm>
              <a:off x="11176206" y="381952"/>
              <a:ext cx="495729" cy="213360"/>
            </a:xfrm>
            <a:prstGeom prst="rect">
              <a:avLst/>
            </a:prstGeom>
            <a:noFill/>
            <a:ln>
              <a:noFill/>
            </a:ln>
          </p:spPr>
          <p:txBody>
            <a:bodyPr wrap="none" lIns="0" tIns="0" rIns="0" bIns="0" anchor="t" anchorCtr="0">
              <a:spAutoFit/>
            </a:bodyPr>
            <a:lstStyle/>
            <a:p>
              <a:pPr algn="r"/>
              <a:r>
                <a:rPr lang="zh-CN" sz="1050" dirty="0">
                  <a:solidFill>
                    <a:srgbClr val="667789"/>
                  </a:solidFill>
                  <a:latin typeface="Consolas"/>
                  <a:ea typeface="Microsoft YaHei"/>
                  <a:cs typeface="Consolas"/>
                </a:rPr>
                <a:t>01 / 06</a:t>
              </a:r>
            </a:p>
          </p:txBody>
        </p:sp>
      </p:grpSp>
      <p:grpSp>
        <p:nvGrpSpPr>
          <p:cNvPr id="23" name="Group 23"/>
          <p:cNvGrpSpPr/>
          <p:nvPr/>
        </p:nvGrpSpPr>
        <p:grpSpPr>
          <a:xfrm>
            <a:off x="541020" y="1055370"/>
            <a:ext cx="3823907" cy="3345180"/>
            <a:chOff x="541020" y="1055370"/>
            <a:chExt cx="3823907" cy="3345180"/>
          </a:xfrm>
        </p:grpSpPr>
        <p:sp>
          <p:nvSpPr>
            <p:cNvPr id="11" name="TextBox 11"/>
            <p:cNvSpPr txBox="1"/>
            <p:nvPr/>
          </p:nvSpPr>
          <p:spPr>
            <a:xfrm>
              <a:off x="541020" y="1055370"/>
              <a:ext cx="2934710" cy="1097280"/>
            </a:xfrm>
            <a:prstGeom prst="rect">
              <a:avLst/>
            </a:prstGeom>
            <a:noFill/>
            <a:ln>
              <a:noFill/>
            </a:ln>
          </p:spPr>
          <p:txBody>
            <a:bodyPr wrap="none" lIns="0" tIns="0" rIns="0" bIns="0" anchor="t" anchorCtr="0">
              <a:spAutoFit/>
            </a:bodyPr>
            <a:lstStyle/>
            <a:p>
              <a:pPr algn="l"/>
              <a:r>
                <a:rPr lang="zh-CN" sz="5400" b="1" dirty="0">
                  <a:solidFill>
                    <a:srgbClr val="EAF1F7"/>
                  </a:solidFill>
                  <a:latin typeface="Aptos Display"/>
                  <a:ea typeface="Microsoft YaHei"/>
                  <a:cs typeface="Aptos Display"/>
                </a:rPr>
                <a:t>Memory</a:t>
              </a:r>
            </a:p>
          </p:txBody>
        </p:sp>
        <p:sp>
          <p:nvSpPr>
            <p:cNvPr id="12" name="TextBox 12"/>
            <p:cNvSpPr txBox="1"/>
            <p:nvPr/>
          </p:nvSpPr>
          <p:spPr>
            <a:xfrm>
              <a:off x="541020" y="1798320"/>
              <a:ext cx="1384716" cy="1097280"/>
            </a:xfrm>
            <a:prstGeom prst="rect">
              <a:avLst/>
            </a:prstGeom>
            <a:noFill/>
            <a:ln>
              <a:noFill/>
            </a:ln>
          </p:spPr>
          <p:txBody>
            <a:bodyPr wrap="none" lIns="0" tIns="0" rIns="0" bIns="0" anchor="t" anchorCtr="0">
              <a:spAutoFit/>
            </a:bodyPr>
            <a:lstStyle/>
            <a:p>
              <a:pPr algn="l"/>
              <a:r>
                <a:rPr lang="zh-CN" sz="5400" b="1" dirty="0">
                  <a:solidFill>
                    <a:srgbClr val="EAF1F7"/>
                  </a:solidFill>
                  <a:latin typeface="Aptos Display"/>
                  <a:ea typeface="Microsoft YaHei"/>
                  <a:cs typeface="Aptos Display"/>
                </a:rPr>
                <a:t>Will</a:t>
              </a:r>
            </a:p>
          </p:txBody>
        </p:sp>
        <p:sp>
          <p:nvSpPr>
            <p:cNvPr id="13" name="TextBox 13"/>
            <p:cNvSpPr txBox="1"/>
            <p:nvPr/>
          </p:nvSpPr>
          <p:spPr>
            <a:xfrm>
              <a:off x="622935" y="3066098"/>
              <a:ext cx="3741992" cy="396240"/>
            </a:xfrm>
            <a:prstGeom prst="rect">
              <a:avLst/>
            </a:prstGeom>
            <a:noFill/>
            <a:ln>
              <a:noFill/>
            </a:ln>
          </p:spPr>
          <p:txBody>
            <a:bodyPr wrap="none" lIns="0" tIns="0" rIns="0" bIns="0" anchor="t" anchorCtr="0">
              <a:spAutoFit/>
            </a:bodyPr>
            <a:lstStyle/>
            <a:p>
              <a:pPr algn="l"/>
              <a:r>
                <a:rPr lang="zh-CN" sz="1950" dirty="0">
                  <a:solidFill>
                    <a:srgbClr val="A8B6C6"/>
                  </a:solidFill>
                  <a:latin typeface="Aptos"/>
                  <a:ea typeface="Microsoft YaHei"/>
                  <a:cs typeface="Aptos"/>
                </a:rPr>
                <a:t>Kill one agent. Reopen scoped</a:t>
              </a:r>
            </a:p>
          </p:txBody>
        </p:sp>
        <p:sp>
          <p:nvSpPr>
            <p:cNvPr id="14" name="TextBox 14"/>
            <p:cNvSpPr txBox="1"/>
            <p:nvPr/>
          </p:nvSpPr>
          <p:spPr>
            <a:xfrm>
              <a:off x="622935" y="3408998"/>
              <a:ext cx="3455956" cy="396240"/>
            </a:xfrm>
            <a:prstGeom prst="rect">
              <a:avLst/>
            </a:prstGeom>
            <a:noFill/>
            <a:ln>
              <a:noFill/>
            </a:ln>
          </p:spPr>
          <p:txBody>
            <a:bodyPr wrap="none" lIns="0" tIns="0" rIns="0" bIns="0" anchor="t" anchorCtr="0">
              <a:spAutoFit/>
            </a:bodyPr>
            <a:lstStyle/>
            <a:p>
              <a:pPr algn="l"/>
              <a:r>
                <a:rPr lang="zh-CN" sz="1950" dirty="0">
                  <a:solidFill>
                    <a:srgbClr val="A8B6C6"/>
                  </a:solidFill>
                  <a:latin typeface="Aptos"/>
                  <a:ea typeface="Microsoft YaHei"/>
                  <a:cs typeface="Aptos"/>
                </a:rPr>
                <a:t>Walrus memory by receipt.</a:t>
              </a:r>
            </a:p>
          </p:txBody>
        </p:sp>
        <p:sp>
          <p:nvSpPr>
            <p:cNvPr id="15" name="Freeform 15"/>
            <p:cNvSpPr/>
            <p:nvPr/>
          </p:nvSpPr>
          <p:spPr>
            <a:xfrm>
              <a:off x="647700" y="3943350"/>
              <a:ext cx="2133600" cy="457200"/>
            </a:xfrm>
            <a:custGeom>
              <a:avLst/>
              <a:gdLst/>
              <a:ahLst/>
              <a:cxnLst/>
              <a:rect l="l" t="t" r="r" b="b"/>
              <a:pathLst>
                <a:path w="2133600" h="457200">
                  <a:moveTo>
                    <a:pt x="228600" y="0"/>
                  </a:moveTo>
                  <a:lnTo>
                    <a:pt x="1905000" y="0"/>
                  </a:lnTo>
                  <a:cubicBezTo>
                    <a:pt x="2031252" y="0"/>
                    <a:pt x="2133600" y="102348"/>
                    <a:pt x="2133600" y="228600"/>
                  </a:cubicBezTo>
                  <a:lnTo>
                    <a:pt x="2133600" y="228600"/>
                  </a:lnTo>
                  <a:cubicBezTo>
                    <a:pt x="2133600" y="354852"/>
                    <a:pt x="2031252" y="457200"/>
                    <a:pt x="1905000" y="457200"/>
                  </a:cubicBezTo>
                  <a:lnTo>
                    <a:pt x="228600" y="457200"/>
                  </a:lnTo>
                  <a:cubicBezTo>
                    <a:pt x="102348" y="457200"/>
                    <a:pt x="0" y="354852"/>
                    <a:pt x="0" y="228600"/>
                  </a:cubicBezTo>
                  <a:lnTo>
                    <a:pt x="0" y="228600"/>
                  </a:lnTo>
                  <a:cubicBezTo>
                    <a:pt x="0" y="102348"/>
                    <a:pt x="102348" y="0"/>
                    <a:pt x="228600" y="0"/>
                  </a:cubicBezTo>
                  <a:close/>
                </a:path>
              </a:pathLst>
            </a:custGeom>
            <a:solidFill>
              <a:srgbClr val="4EC5F1">
                <a:alpha val="12000"/>
              </a:srgbClr>
            </a:solidFill>
            <a:ln w="19050">
              <a:solidFill>
                <a:srgbClr val="4EC5F1"/>
              </a:solidFill>
            </a:ln>
          </p:spPr>
        </p:sp>
        <p:grpSp>
          <p:nvGrpSpPr>
            <p:cNvPr id="21" name="Group 21"/>
            <p:cNvGrpSpPr/>
            <p:nvPr/>
          </p:nvGrpSpPr>
          <p:grpSpPr>
            <a:xfrm>
              <a:off x="876300" y="4095750"/>
              <a:ext cx="152400" cy="152400"/>
              <a:chOff x="876300" y="4095750"/>
              <a:chExt cx="152400" cy="152400"/>
            </a:xfrm>
          </p:grpSpPr>
          <p:sp>
            <p:nvSpPr>
              <p:cNvPr id="16" name="Freeform 16"/>
              <p:cNvSpPr/>
              <p:nvPr/>
            </p:nvSpPr>
            <p:spPr>
              <a:xfrm>
                <a:off x="876300" y="4095750"/>
                <a:ext cx="152400" cy="152400"/>
              </a:xfrm>
              <a:custGeom>
                <a:avLst/>
                <a:gdLst/>
                <a:ahLst/>
                <a:cxnLst/>
                <a:rect l="l" t="t" r="r" b="b"/>
                <a:pathLst>
                  <a:path w="152400" h="152400">
                    <a:moveTo>
                      <a:pt x="76200" y="0"/>
                    </a:moveTo>
                    <a:cubicBezTo>
                      <a:pt x="118281" y="0"/>
                      <a:pt x="152400" y="31985"/>
                      <a:pt x="152400" y="71438"/>
                    </a:cubicBezTo>
                    <a:cubicBezTo>
                      <a:pt x="152400" y="89545"/>
                      <a:pt x="145209" y="106080"/>
                      <a:pt x="133350" y="118681"/>
                    </a:cubicBezTo>
                    <a:lnTo>
                      <a:pt x="133350" y="142875"/>
                    </a:lnTo>
                    <a:cubicBezTo>
                      <a:pt x="133350" y="148136"/>
                      <a:pt x="129086" y="152400"/>
                      <a:pt x="123825" y="152400"/>
                    </a:cubicBezTo>
                    <a:lnTo>
                      <a:pt x="28575" y="152400"/>
                    </a:lnTo>
                    <a:cubicBezTo>
                      <a:pt x="23314" y="152400"/>
                      <a:pt x="19050" y="148136"/>
                      <a:pt x="19050" y="142875"/>
                    </a:cubicBezTo>
                    <a:lnTo>
                      <a:pt x="19050" y="118681"/>
                    </a:lnTo>
                    <a:cubicBezTo>
                      <a:pt x="7191" y="106089"/>
                      <a:pt x="0" y="89554"/>
                      <a:pt x="0" y="71438"/>
                    </a:cubicBezTo>
                    <a:cubicBezTo>
                      <a:pt x="0" y="31985"/>
                      <a:pt x="34119" y="0"/>
                      <a:pt x="76200" y="0"/>
                    </a:cubicBezTo>
                  </a:path>
                </a:pathLst>
              </a:custGeom>
              <a:noFill/>
              <a:ln w="19050">
                <a:solidFill>
                  <a:srgbClr val="4EC5F1"/>
                </a:solidFill>
              </a:ln>
            </p:spPr>
          </p:sp>
          <p:sp>
            <p:nvSpPr>
              <p:cNvPr id="17" name="Freeform 17"/>
              <p:cNvSpPr/>
              <p:nvPr/>
            </p:nvSpPr>
            <p:spPr>
              <a:xfrm>
                <a:off x="933450" y="4219575"/>
                <a:ext cx="9525" cy="28575"/>
              </a:xfrm>
              <a:custGeom>
                <a:avLst/>
                <a:gdLst/>
                <a:ahLst/>
                <a:cxnLst/>
                <a:rect l="l" t="t" r="r" b="b"/>
                <a:pathLst>
                  <a:path w="9525" h="28575">
                    <a:moveTo>
                      <a:pt x="0" y="0"/>
                    </a:moveTo>
                    <a:lnTo>
                      <a:pt x="0" y="28575"/>
                    </a:lnTo>
                  </a:path>
                </a:pathLst>
              </a:custGeom>
              <a:noFill/>
              <a:ln w="19050">
                <a:solidFill>
                  <a:srgbClr val="4EC5F1"/>
                </a:solidFill>
              </a:ln>
            </p:spPr>
          </p:sp>
          <p:sp>
            <p:nvSpPr>
              <p:cNvPr id="18" name="Freeform 18"/>
              <p:cNvSpPr/>
              <p:nvPr/>
            </p:nvSpPr>
            <p:spPr>
              <a:xfrm>
                <a:off x="971550" y="4219575"/>
                <a:ext cx="9525" cy="28575"/>
              </a:xfrm>
              <a:custGeom>
                <a:avLst/>
                <a:gdLst/>
                <a:ahLst/>
                <a:cxnLst/>
                <a:rect l="l" t="t" r="r" b="b"/>
                <a:pathLst>
                  <a:path w="9525" h="28575">
                    <a:moveTo>
                      <a:pt x="0" y="0"/>
                    </a:moveTo>
                    <a:lnTo>
                      <a:pt x="0" y="28575"/>
                    </a:lnTo>
                  </a:path>
                </a:pathLst>
              </a:custGeom>
              <a:noFill/>
              <a:ln w="19050">
                <a:solidFill>
                  <a:srgbClr val="4EC5F1"/>
                </a:solidFill>
              </a:ln>
            </p:spPr>
          </p:sp>
          <p:sp>
            <p:nvSpPr>
              <p:cNvPr id="19" name="Freeform 19"/>
              <p:cNvSpPr/>
              <p:nvPr/>
            </p:nvSpPr>
            <p:spPr>
              <a:xfrm>
                <a:off x="914400" y="4152900"/>
                <a:ext cx="19050" cy="19050"/>
              </a:xfrm>
              <a:custGeom>
                <a:avLst/>
                <a:gdLst/>
                <a:ahLst/>
                <a:cxnLst/>
                <a:rect l="l" t="t" r="r" b="b"/>
                <a:pathLst>
                  <a:path w="19050" h="19050">
                    <a:moveTo>
                      <a:pt x="0" y="9525"/>
                    </a:moveTo>
                    <a:cubicBezTo>
                      <a:pt x="0" y="14786"/>
                      <a:pt x="4264" y="19050"/>
                      <a:pt x="9525" y="19050"/>
                    </a:cubicBezTo>
                    <a:cubicBezTo>
                      <a:pt x="14786" y="19050"/>
                      <a:pt x="19050" y="14786"/>
                      <a:pt x="19050" y="9525"/>
                    </a:cubicBezTo>
                    <a:cubicBezTo>
                      <a:pt x="19050" y="4264"/>
                      <a:pt x="14786" y="0"/>
                      <a:pt x="9525" y="0"/>
                    </a:cubicBezTo>
                    <a:cubicBezTo>
                      <a:pt x="4264" y="0"/>
                      <a:pt x="0" y="4264"/>
                      <a:pt x="0" y="9525"/>
                    </a:cubicBezTo>
                  </a:path>
                </a:pathLst>
              </a:custGeom>
              <a:noFill/>
              <a:ln w="19050">
                <a:solidFill>
                  <a:srgbClr val="4EC5F1"/>
                </a:solidFill>
              </a:ln>
            </p:spPr>
          </p:sp>
          <p:sp>
            <p:nvSpPr>
              <p:cNvPr id="20" name="Freeform 20"/>
              <p:cNvSpPr/>
              <p:nvPr/>
            </p:nvSpPr>
            <p:spPr>
              <a:xfrm>
                <a:off x="971550" y="4152900"/>
                <a:ext cx="19050" cy="19050"/>
              </a:xfrm>
              <a:custGeom>
                <a:avLst/>
                <a:gdLst/>
                <a:ahLst/>
                <a:cxnLst/>
                <a:rect l="l" t="t" r="r" b="b"/>
                <a:pathLst>
                  <a:path w="19050" h="19050">
                    <a:moveTo>
                      <a:pt x="0" y="9525"/>
                    </a:moveTo>
                    <a:cubicBezTo>
                      <a:pt x="0" y="14786"/>
                      <a:pt x="4264" y="19050"/>
                      <a:pt x="9525" y="19050"/>
                    </a:cubicBezTo>
                    <a:cubicBezTo>
                      <a:pt x="14786" y="19050"/>
                      <a:pt x="19050" y="14786"/>
                      <a:pt x="19050" y="9525"/>
                    </a:cubicBezTo>
                    <a:cubicBezTo>
                      <a:pt x="19050" y="4264"/>
                      <a:pt x="14786" y="0"/>
                      <a:pt x="9525" y="0"/>
                    </a:cubicBezTo>
                    <a:cubicBezTo>
                      <a:pt x="4264" y="0"/>
                      <a:pt x="0" y="4264"/>
                      <a:pt x="0" y="9525"/>
                    </a:cubicBezTo>
                  </a:path>
                </a:pathLst>
              </a:custGeom>
              <a:noFill/>
              <a:ln w="19050">
                <a:solidFill>
                  <a:srgbClr val="4EC5F1"/>
                </a:solidFill>
              </a:ln>
            </p:spPr>
          </p:sp>
        </p:grpSp>
        <p:sp>
          <p:nvSpPr>
            <p:cNvPr id="22" name="TextBox 22"/>
            <p:cNvSpPr txBox="1"/>
            <p:nvPr/>
          </p:nvSpPr>
          <p:spPr>
            <a:xfrm>
              <a:off x="1183005" y="4092892"/>
              <a:ext cx="2000136" cy="274320"/>
            </a:xfrm>
            <a:prstGeom prst="rect">
              <a:avLst/>
            </a:prstGeom>
            <a:noFill/>
            <a:ln>
              <a:noFill/>
            </a:ln>
          </p:spPr>
          <p:txBody>
            <a:bodyPr wrap="none" lIns="0" tIns="0" rIns="0" bIns="0" anchor="t" anchorCtr="0">
              <a:spAutoFit/>
            </a:bodyPr>
            <a:lstStyle/>
            <a:p>
              <a:pPr algn="l"/>
              <a:r>
                <a:rPr lang="zh-CN" sz="1350" b="1" dirty="0">
                  <a:solidFill>
                    <a:srgbClr val="EAF1F7"/>
                  </a:solidFill>
                  <a:latin typeface="Aptos"/>
                  <a:ea typeface="Microsoft YaHei"/>
                  <a:cs typeface="Aptos"/>
                </a:rPr>
                <a:t>First click: Kill Agent</a:t>
              </a:r>
            </a:p>
          </p:txBody>
        </p:sp>
      </p:grpSp>
      <p:grpSp>
        <p:nvGrpSpPr>
          <p:cNvPr id="39" name="Group 39"/>
          <p:cNvGrpSpPr/>
          <p:nvPr/>
        </p:nvGrpSpPr>
        <p:grpSpPr>
          <a:xfrm>
            <a:off x="4476750" y="1257300"/>
            <a:ext cx="2869263" cy="3429000"/>
            <a:chOff x="4476750" y="1257300"/>
            <a:chExt cx="2869263" cy="3429000"/>
          </a:xfrm>
        </p:grpSpPr>
        <p:sp>
          <p:nvSpPr>
            <p:cNvPr id="24" name="Freeform 24"/>
            <p:cNvSpPr/>
            <p:nvPr/>
          </p:nvSpPr>
          <p:spPr>
            <a:xfrm>
              <a:off x="4476750" y="1257300"/>
              <a:ext cx="2571750" cy="3429000"/>
            </a:xfrm>
            <a:custGeom>
              <a:avLst/>
              <a:gdLst/>
              <a:ahLst/>
              <a:cxnLst/>
              <a:rect l="l" t="t" r="r" b="b"/>
              <a:pathLst>
                <a:path w="2571750" h="3429000">
                  <a:moveTo>
                    <a:pt x="95250" y="0"/>
                  </a:moveTo>
                  <a:lnTo>
                    <a:pt x="2476500" y="0"/>
                  </a:lnTo>
                  <a:cubicBezTo>
                    <a:pt x="2529105" y="0"/>
                    <a:pt x="2571750" y="42645"/>
                    <a:pt x="2571750" y="95250"/>
                  </a:cubicBezTo>
                  <a:lnTo>
                    <a:pt x="2571750" y="3333750"/>
                  </a:lnTo>
                  <a:cubicBezTo>
                    <a:pt x="2571750" y="3386355"/>
                    <a:pt x="2529105" y="3429000"/>
                    <a:pt x="2476500" y="3429000"/>
                  </a:cubicBezTo>
                  <a:lnTo>
                    <a:pt x="95250" y="3429000"/>
                  </a:lnTo>
                  <a:cubicBezTo>
                    <a:pt x="42645" y="3429000"/>
                    <a:pt x="0" y="3386355"/>
                    <a:pt x="0" y="3333750"/>
                  </a:cubicBezTo>
                  <a:lnTo>
                    <a:pt x="0" y="95250"/>
                  </a:lnTo>
                  <a:cubicBezTo>
                    <a:pt x="0" y="42645"/>
                    <a:pt x="42645" y="0"/>
                    <a:pt x="95250" y="0"/>
                  </a:cubicBezTo>
                  <a:close/>
                </a:path>
              </a:pathLst>
            </a:custGeom>
            <a:solidFill>
              <a:srgbClr val="121A24"/>
            </a:solidFill>
            <a:ln w="19050">
              <a:solidFill>
                <a:srgbClr val="2B3A4B"/>
              </a:solidFill>
            </a:ln>
          </p:spPr>
        </p:sp>
        <p:sp>
          <p:nvSpPr>
            <p:cNvPr id="25" name="TextBox 25"/>
            <p:cNvSpPr txBox="1"/>
            <p:nvPr/>
          </p:nvSpPr>
          <p:spPr>
            <a:xfrm>
              <a:off x="4712018" y="1494949"/>
              <a:ext cx="837367" cy="198120"/>
            </a:xfrm>
            <a:prstGeom prst="rect">
              <a:avLst/>
            </a:prstGeom>
            <a:noFill/>
            <a:ln>
              <a:noFill/>
            </a:ln>
          </p:spPr>
          <p:txBody>
            <a:bodyPr wrap="none" lIns="0" tIns="0" rIns="0" bIns="0" anchor="t" anchorCtr="0">
              <a:spAutoFit/>
            </a:bodyPr>
            <a:lstStyle/>
            <a:p>
              <a:pPr algn="l"/>
              <a:r>
                <a:rPr lang="zh-CN" sz="975" dirty="0">
                  <a:solidFill>
                    <a:srgbClr val="A8B6C6"/>
                  </a:solidFill>
                  <a:latin typeface="Consolas"/>
                  <a:ea typeface="Microsoft YaHei"/>
                  <a:cs typeface="Consolas"/>
                </a:rPr>
                <a:t>PREDECESSOR</a:t>
              </a:r>
            </a:p>
          </p:txBody>
        </p:sp>
        <p:grpSp>
          <p:nvGrpSpPr>
            <p:cNvPr id="31" name="Group 31"/>
            <p:cNvGrpSpPr/>
            <p:nvPr/>
          </p:nvGrpSpPr>
          <p:grpSpPr>
            <a:xfrm>
              <a:off x="6454775" y="1416050"/>
              <a:ext cx="215901" cy="215901"/>
              <a:chOff x="6454775" y="1416050"/>
              <a:chExt cx="215901" cy="215901"/>
            </a:xfrm>
          </p:grpSpPr>
          <p:sp>
            <p:nvSpPr>
              <p:cNvPr id="26" name="Freeform 26"/>
              <p:cNvSpPr/>
              <p:nvPr/>
            </p:nvSpPr>
            <p:spPr>
              <a:xfrm>
                <a:off x="6454775" y="1416050"/>
                <a:ext cx="215901" cy="215901"/>
              </a:xfrm>
              <a:custGeom>
                <a:avLst/>
                <a:gdLst/>
                <a:ahLst/>
                <a:cxnLst/>
                <a:rect l="l" t="t" r="r" b="b"/>
                <a:pathLst>
                  <a:path w="215901" h="215901">
                    <a:moveTo>
                      <a:pt x="107950" y="0"/>
                    </a:moveTo>
                    <a:cubicBezTo>
                      <a:pt x="167566" y="0"/>
                      <a:pt x="215901" y="45312"/>
                      <a:pt x="215901" y="101203"/>
                    </a:cubicBezTo>
                    <a:cubicBezTo>
                      <a:pt x="215901" y="126855"/>
                      <a:pt x="205713" y="150280"/>
                      <a:pt x="188913" y="168133"/>
                    </a:cubicBezTo>
                    <a:lnTo>
                      <a:pt x="188913" y="202407"/>
                    </a:lnTo>
                    <a:cubicBezTo>
                      <a:pt x="188913" y="209859"/>
                      <a:pt x="182872" y="215901"/>
                      <a:pt x="175419" y="215901"/>
                    </a:cubicBezTo>
                    <a:lnTo>
                      <a:pt x="40481" y="215901"/>
                    </a:lnTo>
                    <a:cubicBezTo>
                      <a:pt x="33029" y="215901"/>
                      <a:pt x="26988" y="209859"/>
                      <a:pt x="26988" y="202407"/>
                    </a:cubicBezTo>
                    <a:lnTo>
                      <a:pt x="26988" y="168133"/>
                    </a:lnTo>
                    <a:cubicBezTo>
                      <a:pt x="10188" y="150294"/>
                      <a:pt x="0" y="126869"/>
                      <a:pt x="0" y="101203"/>
                    </a:cubicBezTo>
                    <a:cubicBezTo>
                      <a:pt x="0" y="45312"/>
                      <a:pt x="48335" y="0"/>
                      <a:pt x="107950" y="0"/>
                    </a:cubicBezTo>
                  </a:path>
                </a:pathLst>
              </a:custGeom>
              <a:noFill/>
              <a:ln w="19050">
                <a:solidFill>
                  <a:srgbClr val="F7B955"/>
                </a:solidFill>
              </a:ln>
            </p:spPr>
          </p:sp>
          <p:sp>
            <p:nvSpPr>
              <p:cNvPr id="27" name="Freeform 27"/>
              <p:cNvSpPr/>
              <p:nvPr/>
            </p:nvSpPr>
            <p:spPr>
              <a:xfrm>
                <a:off x="6535738" y="1591469"/>
                <a:ext cx="9525" cy="40481"/>
              </a:xfrm>
              <a:custGeom>
                <a:avLst/>
                <a:gdLst/>
                <a:ahLst/>
                <a:cxnLst/>
                <a:rect l="l" t="t" r="r" b="b"/>
                <a:pathLst>
                  <a:path w="9525" h="40481">
                    <a:moveTo>
                      <a:pt x="0" y="0"/>
                    </a:moveTo>
                    <a:lnTo>
                      <a:pt x="0" y="40481"/>
                    </a:lnTo>
                  </a:path>
                </a:pathLst>
              </a:custGeom>
              <a:noFill/>
              <a:ln w="19050">
                <a:solidFill>
                  <a:srgbClr val="F7B955"/>
                </a:solidFill>
              </a:ln>
            </p:spPr>
          </p:sp>
          <p:sp>
            <p:nvSpPr>
              <p:cNvPr id="28" name="Freeform 28"/>
              <p:cNvSpPr/>
              <p:nvPr/>
            </p:nvSpPr>
            <p:spPr>
              <a:xfrm>
                <a:off x="6589713" y="1591469"/>
                <a:ext cx="9525" cy="40481"/>
              </a:xfrm>
              <a:custGeom>
                <a:avLst/>
                <a:gdLst/>
                <a:ahLst/>
                <a:cxnLst/>
                <a:rect l="l" t="t" r="r" b="b"/>
                <a:pathLst>
                  <a:path w="9525" h="40481">
                    <a:moveTo>
                      <a:pt x="0" y="0"/>
                    </a:moveTo>
                    <a:lnTo>
                      <a:pt x="0" y="40481"/>
                    </a:lnTo>
                  </a:path>
                </a:pathLst>
              </a:custGeom>
              <a:noFill/>
              <a:ln w="19050">
                <a:solidFill>
                  <a:srgbClr val="F7B955"/>
                </a:solidFill>
              </a:ln>
            </p:spPr>
          </p:sp>
          <p:sp>
            <p:nvSpPr>
              <p:cNvPr id="29" name="Freeform 29"/>
              <p:cNvSpPr/>
              <p:nvPr/>
            </p:nvSpPr>
            <p:spPr>
              <a:xfrm>
                <a:off x="6508750" y="1497013"/>
                <a:ext cx="26988" cy="26988"/>
              </a:xfrm>
              <a:custGeom>
                <a:avLst/>
                <a:gdLst/>
                <a:ahLst/>
                <a:cxnLst/>
                <a:rect l="l" t="t" r="r" b="b"/>
                <a:pathLst>
                  <a:path w="26988" h="26988">
                    <a:moveTo>
                      <a:pt x="0" y="13494"/>
                    </a:moveTo>
                    <a:cubicBezTo>
                      <a:pt x="0" y="20946"/>
                      <a:pt x="6041" y="26988"/>
                      <a:pt x="13494" y="26988"/>
                    </a:cubicBezTo>
                    <a:cubicBezTo>
                      <a:pt x="20946" y="26988"/>
                      <a:pt x="26988" y="20946"/>
                      <a:pt x="26988" y="13494"/>
                    </a:cubicBezTo>
                    <a:cubicBezTo>
                      <a:pt x="26988" y="6041"/>
                      <a:pt x="20946" y="0"/>
                      <a:pt x="13494" y="0"/>
                    </a:cubicBezTo>
                    <a:cubicBezTo>
                      <a:pt x="6041" y="0"/>
                      <a:pt x="0" y="6041"/>
                      <a:pt x="0" y="13494"/>
                    </a:cubicBezTo>
                  </a:path>
                </a:pathLst>
              </a:custGeom>
              <a:noFill/>
              <a:ln w="19050">
                <a:solidFill>
                  <a:srgbClr val="F7B955"/>
                </a:solidFill>
              </a:ln>
            </p:spPr>
          </p:sp>
          <p:sp>
            <p:nvSpPr>
              <p:cNvPr id="30" name="Freeform 30"/>
              <p:cNvSpPr/>
              <p:nvPr/>
            </p:nvSpPr>
            <p:spPr>
              <a:xfrm>
                <a:off x="6589713" y="1497013"/>
                <a:ext cx="26988" cy="26988"/>
              </a:xfrm>
              <a:custGeom>
                <a:avLst/>
                <a:gdLst/>
                <a:ahLst/>
                <a:cxnLst/>
                <a:rect l="l" t="t" r="r" b="b"/>
                <a:pathLst>
                  <a:path w="26988" h="26988">
                    <a:moveTo>
                      <a:pt x="0" y="13494"/>
                    </a:moveTo>
                    <a:cubicBezTo>
                      <a:pt x="0" y="20946"/>
                      <a:pt x="6041" y="26988"/>
                      <a:pt x="13494" y="26988"/>
                    </a:cubicBezTo>
                    <a:cubicBezTo>
                      <a:pt x="20946" y="26988"/>
                      <a:pt x="26988" y="20946"/>
                      <a:pt x="26988" y="13494"/>
                    </a:cubicBezTo>
                    <a:cubicBezTo>
                      <a:pt x="26988" y="6041"/>
                      <a:pt x="20946" y="0"/>
                      <a:pt x="13494" y="0"/>
                    </a:cubicBezTo>
                    <a:cubicBezTo>
                      <a:pt x="6041" y="0"/>
                      <a:pt x="0" y="6041"/>
                      <a:pt x="0" y="13494"/>
                    </a:cubicBezTo>
                  </a:path>
                </a:pathLst>
              </a:custGeom>
              <a:noFill/>
              <a:ln w="19050">
                <a:solidFill>
                  <a:srgbClr val="F7B955"/>
                </a:solidFill>
              </a:ln>
            </p:spPr>
          </p:sp>
        </p:grpSp>
        <p:sp>
          <p:nvSpPr>
            <p:cNvPr id="32" name="Freeform 32"/>
            <p:cNvSpPr/>
            <p:nvPr/>
          </p:nvSpPr>
          <p:spPr>
            <a:xfrm>
              <a:off x="4781550" y="2152650"/>
              <a:ext cx="1962150" cy="9525"/>
            </a:xfrm>
            <a:custGeom>
              <a:avLst/>
              <a:gdLst/>
              <a:ahLst/>
              <a:cxnLst/>
              <a:rect l="l" t="t" r="r" b="b"/>
              <a:pathLst>
                <a:path w="1962150" h="9525">
                  <a:moveTo>
                    <a:pt x="0" y="0"/>
                  </a:moveTo>
                  <a:lnTo>
                    <a:pt x="1962150" y="0"/>
                  </a:lnTo>
                </a:path>
              </a:pathLst>
            </a:custGeom>
            <a:solidFill>
              <a:srgbClr val="000000"/>
            </a:solidFill>
            <a:ln w="28575">
              <a:solidFill>
                <a:srgbClr val="F7B955"/>
              </a:solidFill>
              <a:prstDash val="lgDash"/>
            </a:ln>
          </p:spPr>
        </p:sp>
        <p:sp>
          <p:nvSpPr>
            <p:cNvPr id="33" name="TextBox 33"/>
            <p:cNvSpPr txBox="1"/>
            <p:nvPr/>
          </p:nvSpPr>
          <p:spPr>
            <a:xfrm>
              <a:off x="4752975" y="2328862"/>
              <a:ext cx="1821371" cy="457200"/>
            </a:xfrm>
            <a:prstGeom prst="rect">
              <a:avLst/>
            </a:prstGeom>
            <a:noFill/>
            <a:ln>
              <a:noFill/>
            </a:ln>
          </p:spPr>
          <p:txBody>
            <a:bodyPr wrap="none" lIns="0" tIns="0" rIns="0" bIns="0" anchor="t" anchorCtr="0">
              <a:spAutoFit/>
            </a:bodyPr>
            <a:lstStyle/>
            <a:p>
              <a:pPr algn="l"/>
              <a:r>
                <a:rPr lang="zh-CN" sz="2250" b="1" dirty="0">
                  <a:solidFill>
                    <a:srgbClr val="EAF1F7"/>
                  </a:solidFill>
                  <a:latin typeface="Aptos Display"/>
                  <a:ea typeface="Microsoft YaHei"/>
                  <a:cs typeface="Aptos Display"/>
                </a:rPr>
                <a:t>Agent killed</a:t>
              </a:r>
            </a:p>
          </p:txBody>
        </p:sp>
        <p:sp>
          <p:nvSpPr>
            <p:cNvPr id="34" name="TextBox 34"/>
            <p:cNvSpPr txBox="1"/>
            <p:nvPr/>
          </p:nvSpPr>
          <p:spPr>
            <a:xfrm>
              <a:off x="4764405" y="2883218"/>
              <a:ext cx="1582484" cy="274320"/>
            </a:xfrm>
            <a:prstGeom prst="rect">
              <a:avLst/>
            </a:prstGeom>
            <a:noFill/>
            <a:ln>
              <a:noFill/>
            </a:ln>
          </p:spPr>
          <p:txBody>
            <a:bodyPr wrap="none" lIns="0" tIns="0" rIns="0" bIns="0" anchor="t" anchorCtr="0">
              <a:spAutoFit/>
            </a:bodyPr>
            <a:lstStyle/>
            <a:p>
              <a:pPr algn="l"/>
              <a:r>
                <a:rPr lang="zh-CN" sz="1350" dirty="0">
                  <a:solidFill>
                    <a:srgbClr val="A8B6C6"/>
                  </a:solidFill>
                  <a:latin typeface="Aptos"/>
                  <a:ea typeface="Microsoft YaHei"/>
                  <a:cs typeface="Aptos"/>
                </a:rPr>
                <a:t>Checkpoint locks.</a:t>
              </a:r>
            </a:p>
          </p:txBody>
        </p:sp>
        <p:sp>
          <p:nvSpPr>
            <p:cNvPr id="35" name="TextBox 35"/>
            <p:cNvSpPr txBox="1"/>
            <p:nvPr/>
          </p:nvSpPr>
          <p:spPr>
            <a:xfrm>
              <a:off x="4764405" y="3149918"/>
              <a:ext cx="2419588" cy="274320"/>
            </a:xfrm>
            <a:prstGeom prst="rect">
              <a:avLst/>
            </a:prstGeom>
            <a:noFill/>
            <a:ln>
              <a:noFill/>
            </a:ln>
          </p:spPr>
          <p:txBody>
            <a:bodyPr wrap="none" lIns="0" tIns="0" rIns="0" bIns="0" anchor="t" anchorCtr="0">
              <a:spAutoFit/>
            </a:bodyPr>
            <a:lstStyle/>
            <a:p>
              <a:pPr algn="l"/>
              <a:r>
                <a:rPr lang="zh-CN" sz="1350" dirty="0">
                  <a:solidFill>
                    <a:srgbClr val="A8B6C6"/>
                  </a:solidFill>
                  <a:latin typeface="Aptos"/>
                  <a:ea typeface="Microsoft YaHei"/>
                  <a:cs typeface="Aptos"/>
                </a:rPr>
                <a:t>Local context drops to 0%.</a:t>
              </a:r>
            </a:p>
          </p:txBody>
        </p:sp>
        <p:sp>
          <p:nvSpPr>
            <p:cNvPr id="36" name="TextBox 36"/>
            <p:cNvSpPr txBox="1"/>
            <p:nvPr/>
          </p:nvSpPr>
          <p:spPr>
            <a:xfrm>
              <a:off x="4764405" y="3416618"/>
              <a:ext cx="2581608" cy="274320"/>
            </a:xfrm>
            <a:prstGeom prst="rect">
              <a:avLst/>
            </a:prstGeom>
            <a:noFill/>
            <a:ln>
              <a:noFill/>
            </a:ln>
          </p:spPr>
          <p:txBody>
            <a:bodyPr wrap="none" lIns="0" tIns="0" rIns="0" bIns="0" anchor="t" anchorCtr="0">
              <a:spAutoFit/>
            </a:bodyPr>
            <a:lstStyle/>
            <a:p>
              <a:pPr algn="l"/>
              <a:r>
                <a:rPr lang="zh-CN" sz="1350" dirty="0">
                  <a:solidFill>
                    <a:srgbClr val="A8B6C6"/>
                  </a:solidFill>
                  <a:latin typeface="Aptos"/>
                  <a:ea typeface="Microsoft YaHei"/>
                  <a:cs typeface="Aptos"/>
                </a:rPr>
                <a:t>The user scopes inheritance.</a:t>
              </a:r>
            </a:p>
          </p:txBody>
        </p:sp>
        <p:sp>
          <p:nvSpPr>
            <p:cNvPr id="37" name="Freeform 37"/>
            <p:cNvSpPr/>
            <p:nvPr/>
          </p:nvSpPr>
          <p:spPr>
            <a:xfrm>
              <a:off x="4781550" y="4000500"/>
              <a:ext cx="1809750" cy="323850"/>
            </a:xfrm>
            <a:custGeom>
              <a:avLst/>
              <a:gdLst/>
              <a:ahLst/>
              <a:cxnLst/>
              <a:rect l="l" t="t" r="r" b="b"/>
              <a:pathLst>
                <a:path w="1809750" h="323850">
                  <a:moveTo>
                    <a:pt x="161925" y="0"/>
                  </a:moveTo>
                  <a:lnTo>
                    <a:pt x="1647825" y="0"/>
                  </a:lnTo>
                  <a:cubicBezTo>
                    <a:pt x="1737254" y="0"/>
                    <a:pt x="1809750" y="72496"/>
                    <a:pt x="1809750" y="161925"/>
                  </a:cubicBezTo>
                  <a:lnTo>
                    <a:pt x="1809750" y="161925"/>
                  </a:lnTo>
                  <a:cubicBezTo>
                    <a:pt x="1809750" y="251354"/>
                    <a:pt x="1737254" y="323850"/>
                    <a:pt x="1647825" y="323850"/>
                  </a:cubicBezTo>
                  <a:lnTo>
                    <a:pt x="161925" y="323850"/>
                  </a:lnTo>
                  <a:cubicBezTo>
                    <a:pt x="72496" y="323850"/>
                    <a:pt x="0" y="251354"/>
                    <a:pt x="0" y="161925"/>
                  </a:cubicBezTo>
                  <a:lnTo>
                    <a:pt x="0" y="161925"/>
                  </a:lnTo>
                  <a:cubicBezTo>
                    <a:pt x="0" y="72496"/>
                    <a:pt x="72496" y="0"/>
                    <a:pt x="161925" y="0"/>
                  </a:cubicBezTo>
                  <a:close/>
                </a:path>
              </a:pathLst>
            </a:custGeom>
            <a:solidFill>
              <a:srgbClr val="F7B955">
                <a:alpha val="12000"/>
              </a:srgbClr>
            </a:solidFill>
            <a:ln w="14288">
              <a:solidFill>
                <a:srgbClr val="F7B955"/>
              </a:solidFill>
            </a:ln>
          </p:spPr>
        </p:sp>
        <p:sp>
          <p:nvSpPr>
            <p:cNvPr id="38" name="TextBox 38"/>
            <p:cNvSpPr txBox="1"/>
            <p:nvPr/>
          </p:nvSpPr>
          <p:spPr>
            <a:xfrm>
              <a:off x="5010960" y="4104799"/>
              <a:ext cx="1350931" cy="198120"/>
            </a:xfrm>
            <a:prstGeom prst="rect">
              <a:avLst/>
            </a:prstGeom>
            <a:noFill/>
            <a:ln>
              <a:noFill/>
            </a:ln>
          </p:spPr>
          <p:txBody>
            <a:bodyPr wrap="none" lIns="0" tIns="0" rIns="0" bIns="0" anchor="t" anchorCtr="0">
              <a:spAutoFit/>
            </a:bodyPr>
            <a:lstStyle/>
            <a:p>
              <a:pPr algn="ctr"/>
              <a:r>
                <a:rPr lang="zh-CN" sz="975" dirty="0">
                  <a:solidFill>
                    <a:srgbClr val="F7B955"/>
                  </a:solidFill>
                  <a:latin typeface="Consolas"/>
                  <a:ea typeface="Microsoft YaHei"/>
                  <a:cs typeface="Consolas"/>
                </a:rPr>
                <a:t>NO HIDDEN TRANSCRIPT</a:t>
              </a:r>
            </a:p>
          </p:txBody>
        </p:sp>
      </p:grpSp>
      <p:grpSp>
        <p:nvGrpSpPr>
          <p:cNvPr id="59" name="Group 59"/>
          <p:cNvGrpSpPr/>
          <p:nvPr/>
        </p:nvGrpSpPr>
        <p:grpSpPr>
          <a:xfrm>
            <a:off x="7620000" y="914400"/>
            <a:ext cx="4086154" cy="4572000"/>
            <a:chOff x="7620000" y="914400"/>
            <a:chExt cx="4086154" cy="4572000"/>
          </a:xfrm>
        </p:grpSpPr>
        <p:sp>
          <p:nvSpPr>
            <p:cNvPr id="40" name="Freeform 40"/>
            <p:cNvSpPr/>
            <p:nvPr/>
          </p:nvSpPr>
          <p:spPr>
            <a:xfrm>
              <a:off x="7620000" y="914400"/>
              <a:ext cx="3429000" cy="4572000"/>
            </a:xfrm>
            <a:custGeom>
              <a:avLst/>
              <a:gdLst/>
              <a:ahLst/>
              <a:cxnLst/>
              <a:rect l="l" t="t" r="r" b="b"/>
              <a:pathLst>
                <a:path w="3429000" h="4572000">
                  <a:moveTo>
                    <a:pt x="95250" y="0"/>
                  </a:moveTo>
                  <a:lnTo>
                    <a:pt x="3333750" y="0"/>
                  </a:lnTo>
                  <a:cubicBezTo>
                    <a:pt x="3386355" y="0"/>
                    <a:pt x="3429000" y="42645"/>
                    <a:pt x="3429000" y="95250"/>
                  </a:cubicBezTo>
                  <a:lnTo>
                    <a:pt x="3429000" y="4476750"/>
                  </a:lnTo>
                  <a:cubicBezTo>
                    <a:pt x="3429000" y="4529355"/>
                    <a:pt x="3386355" y="4572000"/>
                    <a:pt x="3333750" y="4572000"/>
                  </a:cubicBezTo>
                  <a:lnTo>
                    <a:pt x="95250" y="4572000"/>
                  </a:lnTo>
                  <a:cubicBezTo>
                    <a:pt x="42645" y="4572000"/>
                    <a:pt x="0" y="4529355"/>
                    <a:pt x="0" y="4476750"/>
                  </a:cubicBezTo>
                  <a:lnTo>
                    <a:pt x="0" y="95250"/>
                  </a:lnTo>
                  <a:cubicBezTo>
                    <a:pt x="0" y="42645"/>
                    <a:pt x="42645" y="0"/>
                    <a:pt x="95250" y="0"/>
                  </a:cubicBezTo>
                  <a:close/>
                </a:path>
              </a:pathLst>
            </a:custGeom>
            <a:solidFill>
              <a:srgbClr val="121A24"/>
            </a:solidFill>
            <a:ln w="19050">
              <a:solidFill>
                <a:srgbClr val="4EC5F1"/>
              </a:solidFill>
            </a:ln>
            <a:effectLst>
              <a:glow rad="47625">
                <a:srgbClr val="4EC5F1">
                  <a:alpha val="42000"/>
                </a:srgbClr>
              </a:glow>
            </a:effectLst>
          </p:spPr>
        </p:sp>
        <p:sp>
          <p:nvSpPr>
            <p:cNvPr id="41" name="TextBox 41"/>
            <p:cNvSpPr txBox="1"/>
            <p:nvPr/>
          </p:nvSpPr>
          <p:spPr>
            <a:xfrm>
              <a:off x="7912418" y="1190149"/>
              <a:ext cx="1357432" cy="198120"/>
            </a:xfrm>
            <a:prstGeom prst="rect">
              <a:avLst/>
            </a:prstGeom>
            <a:noFill/>
            <a:ln>
              <a:noFill/>
            </a:ln>
          </p:spPr>
          <p:txBody>
            <a:bodyPr wrap="none" lIns="0" tIns="0" rIns="0" bIns="0" anchor="t" anchorCtr="0">
              <a:spAutoFit/>
            </a:bodyPr>
            <a:lstStyle/>
            <a:p>
              <a:pPr algn="l"/>
              <a:r>
                <a:rPr lang="zh-CN" sz="975" dirty="0">
                  <a:solidFill>
                    <a:srgbClr val="A8B6C6"/>
                  </a:solidFill>
                  <a:latin typeface="Consolas"/>
                  <a:ea typeface="Microsoft YaHei"/>
                  <a:cs typeface="Consolas"/>
                </a:rPr>
                <a:t>MEMORY WILL RECEIPT</a:t>
              </a:r>
            </a:p>
          </p:txBody>
        </p:sp>
        <p:sp>
          <p:nvSpPr>
            <p:cNvPr id="42" name="Freeform 42"/>
            <p:cNvSpPr/>
            <p:nvPr/>
          </p:nvSpPr>
          <p:spPr>
            <a:xfrm>
              <a:off x="10468769" y="1107281"/>
              <a:ext cx="188913" cy="242888"/>
            </a:xfrm>
            <a:custGeom>
              <a:avLst/>
              <a:gdLst/>
              <a:ahLst/>
              <a:cxnLst/>
              <a:rect l="l" t="t" r="r" b="b"/>
              <a:pathLst>
                <a:path w="188913" h="242888">
                  <a:moveTo>
                    <a:pt x="0" y="242888"/>
                  </a:moveTo>
                  <a:lnTo>
                    <a:pt x="0" y="26988"/>
                  </a:lnTo>
                  <a:cubicBezTo>
                    <a:pt x="0" y="12083"/>
                    <a:pt x="12083" y="0"/>
                    <a:pt x="26988" y="0"/>
                  </a:cubicBezTo>
                  <a:lnTo>
                    <a:pt x="161925" y="0"/>
                  </a:lnTo>
                  <a:cubicBezTo>
                    <a:pt x="176830" y="0"/>
                    <a:pt x="188913" y="12083"/>
                    <a:pt x="188913" y="26988"/>
                  </a:cubicBezTo>
                  <a:lnTo>
                    <a:pt x="188913" y="242888"/>
                  </a:lnTo>
                  <a:lnTo>
                    <a:pt x="148432" y="215901"/>
                  </a:lnTo>
                  <a:lnTo>
                    <a:pt x="121444" y="242888"/>
                  </a:lnTo>
                  <a:lnTo>
                    <a:pt x="94456" y="215901"/>
                  </a:lnTo>
                  <a:lnTo>
                    <a:pt x="67469" y="242888"/>
                  </a:lnTo>
                  <a:lnTo>
                    <a:pt x="40481" y="215901"/>
                  </a:lnTo>
                  <a:lnTo>
                    <a:pt x="0" y="242888"/>
                  </a:lnTo>
                  <a:moveTo>
                    <a:pt x="53975" y="53975"/>
                  </a:moveTo>
                  <a:lnTo>
                    <a:pt x="134938" y="53975"/>
                  </a:lnTo>
                  <a:moveTo>
                    <a:pt x="53975" y="107950"/>
                  </a:moveTo>
                  <a:lnTo>
                    <a:pt x="134938" y="107950"/>
                  </a:lnTo>
                  <a:moveTo>
                    <a:pt x="107950" y="161925"/>
                  </a:moveTo>
                  <a:lnTo>
                    <a:pt x="134938" y="161925"/>
                  </a:lnTo>
                </a:path>
              </a:pathLst>
            </a:custGeom>
            <a:noFill/>
            <a:ln w="19050">
              <a:solidFill>
                <a:srgbClr val="73F0B8"/>
              </a:solidFill>
            </a:ln>
          </p:spPr>
        </p:sp>
        <p:sp>
          <p:nvSpPr>
            <p:cNvPr id="43" name="TextBox 43"/>
            <p:cNvSpPr txBox="1"/>
            <p:nvPr/>
          </p:nvSpPr>
          <p:spPr>
            <a:xfrm>
              <a:off x="7892415" y="1610678"/>
              <a:ext cx="3813739" cy="518160"/>
            </a:xfrm>
            <a:prstGeom prst="rect">
              <a:avLst/>
            </a:prstGeom>
            <a:noFill/>
            <a:ln>
              <a:noFill/>
            </a:ln>
          </p:spPr>
          <p:txBody>
            <a:bodyPr wrap="none" lIns="0" tIns="0" rIns="0" bIns="0" anchor="t" anchorCtr="0">
              <a:spAutoFit/>
            </a:bodyPr>
            <a:lstStyle/>
            <a:p>
              <a:pPr algn="l"/>
              <a:r>
                <a:rPr lang="zh-CN" sz="2550" b="1" dirty="0">
                  <a:solidFill>
                    <a:srgbClr val="EAF1F7"/>
                  </a:solidFill>
                  <a:latin typeface="Aptos Display"/>
                  <a:ea typeface="Microsoft YaHei"/>
                  <a:cs typeface="Aptos Display"/>
                </a:rPr>
                <a:t>Scoped restore ready</a:t>
              </a:r>
            </a:p>
          </p:txBody>
        </p:sp>
        <p:grpSp>
          <p:nvGrpSpPr>
            <p:cNvPr id="53" name="Group 53"/>
            <p:cNvGrpSpPr/>
            <p:nvPr/>
          </p:nvGrpSpPr>
          <p:grpSpPr>
            <a:xfrm>
              <a:off x="7924800" y="2266950"/>
              <a:ext cx="2819400" cy="1981200"/>
              <a:chOff x="7924800" y="2266950"/>
              <a:chExt cx="2819400" cy="1981200"/>
            </a:xfrm>
          </p:grpSpPr>
          <p:sp>
            <p:nvSpPr>
              <p:cNvPr id="44" name="Freeform 44"/>
              <p:cNvSpPr/>
              <p:nvPr/>
            </p:nvSpPr>
            <p:spPr>
              <a:xfrm>
                <a:off x="7924800" y="2266950"/>
                <a:ext cx="2819400" cy="533400"/>
              </a:xfrm>
              <a:custGeom>
                <a:avLst/>
                <a:gdLst/>
                <a:ahLst/>
                <a:cxnLst/>
                <a:rect l="l" t="t" r="r" b="b"/>
                <a:pathLst>
                  <a:path w="2819400" h="533400">
                    <a:moveTo>
                      <a:pt x="76200" y="0"/>
                    </a:moveTo>
                    <a:lnTo>
                      <a:pt x="2743200" y="0"/>
                    </a:lnTo>
                    <a:cubicBezTo>
                      <a:pt x="2785284" y="0"/>
                      <a:pt x="2819400" y="34116"/>
                      <a:pt x="2819400" y="76200"/>
                    </a:cubicBezTo>
                    <a:lnTo>
                      <a:pt x="2819400" y="457200"/>
                    </a:lnTo>
                    <a:cubicBezTo>
                      <a:pt x="2819400" y="499284"/>
                      <a:pt x="2785284" y="533400"/>
                      <a:pt x="2743200" y="533400"/>
                    </a:cubicBezTo>
                    <a:lnTo>
                      <a:pt x="76200" y="533400"/>
                    </a:lnTo>
                    <a:cubicBezTo>
                      <a:pt x="34116" y="533400"/>
                      <a:pt x="0" y="499284"/>
                      <a:pt x="0" y="457200"/>
                    </a:cubicBezTo>
                    <a:lnTo>
                      <a:pt x="0" y="76200"/>
                    </a:lnTo>
                    <a:cubicBezTo>
                      <a:pt x="0" y="34116"/>
                      <a:pt x="34116" y="0"/>
                      <a:pt x="76200" y="0"/>
                    </a:cubicBezTo>
                    <a:close/>
                  </a:path>
                </a:pathLst>
              </a:custGeom>
              <a:solidFill>
                <a:srgbClr val="0B0F14"/>
              </a:solidFill>
              <a:ln w="14288">
                <a:solidFill>
                  <a:srgbClr val="2B3A4B"/>
                </a:solidFill>
              </a:ln>
            </p:spPr>
          </p:sp>
          <p:sp>
            <p:nvSpPr>
              <p:cNvPr id="45" name="TextBox 45"/>
              <p:cNvSpPr txBox="1"/>
              <p:nvPr/>
            </p:nvSpPr>
            <p:spPr>
              <a:xfrm>
                <a:off x="8122920" y="2379345"/>
                <a:ext cx="766953" cy="182880"/>
              </a:xfrm>
              <a:prstGeom prst="rect">
                <a:avLst/>
              </a:prstGeom>
              <a:noFill/>
              <a:ln>
                <a:noFill/>
              </a:ln>
            </p:spPr>
            <p:txBody>
              <a:bodyPr wrap="none" lIns="0" tIns="0" rIns="0" bIns="0" anchor="t" anchorCtr="0">
                <a:spAutoFit/>
              </a:bodyPr>
              <a:lstStyle/>
              <a:p>
                <a:pPr algn="l"/>
                <a:r>
                  <a:rPr lang="zh-CN" sz="900" dirty="0">
                    <a:solidFill>
                      <a:srgbClr val="667789"/>
                    </a:solidFill>
                    <a:latin typeface="Consolas"/>
                    <a:ea typeface="Microsoft YaHei"/>
                    <a:cs typeface="Consolas"/>
                  </a:rPr>
                  <a:t>WALRUS BLOB</a:t>
                </a:r>
              </a:p>
            </p:txBody>
          </p:sp>
          <p:sp>
            <p:nvSpPr>
              <p:cNvPr id="46" name="TextBox 46"/>
              <p:cNvSpPr txBox="1"/>
              <p:nvPr/>
            </p:nvSpPr>
            <p:spPr>
              <a:xfrm>
                <a:off x="8120062" y="2564606"/>
                <a:ext cx="1281232" cy="228600"/>
              </a:xfrm>
              <a:prstGeom prst="rect">
                <a:avLst/>
              </a:prstGeom>
              <a:noFill/>
              <a:ln>
                <a:noFill/>
              </a:ln>
            </p:spPr>
            <p:txBody>
              <a:bodyPr wrap="none" lIns="0" tIns="0" rIns="0" bIns="0" anchor="t" anchorCtr="0">
                <a:spAutoFit/>
              </a:bodyPr>
              <a:lstStyle/>
              <a:p>
                <a:pPr algn="l"/>
                <a:r>
                  <a:rPr lang="zh-CN" sz="1125" dirty="0">
                    <a:solidFill>
                      <a:srgbClr val="4EC5F1"/>
                    </a:solidFill>
                    <a:latin typeface="Consolas"/>
                    <a:ea typeface="Microsoft YaHei"/>
                    <a:cs typeface="Consolas"/>
                  </a:rPr>
                  <a:t>certified pointer</a:t>
                </a:r>
              </a:p>
            </p:txBody>
          </p:sp>
          <p:sp>
            <p:nvSpPr>
              <p:cNvPr id="47" name="Freeform 47"/>
              <p:cNvSpPr/>
              <p:nvPr/>
            </p:nvSpPr>
            <p:spPr>
              <a:xfrm>
                <a:off x="7924800" y="2990850"/>
                <a:ext cx="2819400" cy="533400"/>
              </a:xfrm>
              <a:custGeom>
                <a:avLst/>
                <a:gdLst/>
                <a:ahLst/>
                <a:cxnLst/>
                <a:rect l="l" t="t" r="r" b="b"/>
                <a:pathLst>
                  <a:path w="2819400" h="533400">
                    <a:moveTo>
                      <a:pt x="76200" y="0"/>
                    </a:moveTo>
                    <a:lnTo>
                      <a:pt x="2743200" y="0"/>
                    </a:lnTo>
                    <a:cubicBezTo>
                      <a:pt x="2785284" y="0"/>
                      <a:pt x="2819400" y="34116"/>
                      <a:pt x="2819400" y="76200"/>
                    </a:cubicBezTo>
                    <a:lnTo>
                      <a:pt x="2819400" y="457200"/>
                    </a:lnTo>
                    <a:cubicBezTo>
                      <a:pt x="2819400" y="499284"/>
                      <a:pt x="2785284" y="533400"/>
                      <a:pt x="2743200" y="533400"/>
                    </a:cubicBezTo>
                    <a:lnTo>
                      <a:pt x="76200" y="533400"/>
                    </a:lnTo>
                    <a:cubicBezTo>
                      <a:pt x="34116" y="533400"/>
                      <a:pt x="0" y="499284"/>
                      <a:pt x="0" y="457200"/>
                    </a:cubicBezTo>
                    <a:lnTo>
                      <a:pt x="0" y="76200"/>
                    </a:lnTo>
                    <a:cubicBezTo>
                      <a:pt x="0" y="34116"/>
                      <a:pt x="34116" y="0"/>
                      <a:pt x="76200" y="0"/>
                    </a:cubicBezTo>
                    <a:close/>
                  </a:path>
                </a:pathLst>
              </a:custGeom>
              <a:solidFill>
                <a:srgbClr val="0B0F14"/>
              </a:solidFill>
              <a:ln w="14288">
                <a:solidFill>
                  <a:srgbClr val="2B3A4B"/>
                </a:solidFill>
              </a:ln>
            </p:spPr>
          </p:sp>
          <p:sp>
            <p:nvSpPr>
              <p:cNvPr id="48" name="TextBox 48"/>
              <p:cNvSpPr txBox="1"/>
              <p:nvPr/>
            </p:nvSpPr>
            <p:spPr>
              <a:xfrm>
                <a:off x="8122920" y="3103245"/>
                <a:ext cx="676942" cy="182880"/>
              </a:xfrm>
              <a:prstGeom prst="rect">
                <a:avLst/>
              </a:prstGeom>
              <a:noFill/>
              <a:ln>
                <a:noFill/>
              </a:ln>
            </p:spPr>
            <p:txBody>
              <a:bodyPr wrap="none" lIns="0" tIns="0" rIns="0" bIns="0" anchor="t" anchorCtr="0">
                <a:spAutoFit/>
              </a:bodyPr>
              <a:lstStyle/>
              <a:p>
                <a:pPr algn="l"/>
                <a:r>
                  <a:rPr lang="zh-CN" sz="900" dirty="0">
                    <a:solidFill>
                      <a:srgbClr val="667789"/>
                    </a:solidFill>
                    <a:latin typeface="Consolas"/>
                    <a:ea typeface="Microsoft YaHei"/>
                    <a:cs typeface="Consolas"/>
                  </a:rPr>
                  <a:t>REDUCTIONS</a:t>
                </a:r>
              </a:p>
            </p:txBody>
          </p:sp>
          <p:sp>
            <p:nvSpPr>
              <p:cNvPr id="49" name="TextBox 49"/>
              <p:cNvSpPr txBox="1"/>
              <p:nvPr/>
            </p:nvSpPr>
            <p:spPr>
              <a:xfrm>
                <a:off x="8120062" y="3288506"/>
                <a:ext cx="1693783" cy="228600"/>
              </a:xfrm>
              <a:prstGeom prst="rect">
                <a:avLst/>
              </a:prstGeom>
              <a:noFill/>
              <a:ln>
                <a:noFill/>
              </a:ln>
            </p:spPr>
            <p:txBody>
              <a:bodyPr wrap="none" lIns="0" tIns="0" rIns="0" bIns="0" anchor="t" anchorCtr="0">
                <a:spAutoFit/>
              </a:bodyPr>
              <a:lstStyle/>
              <a:p>
                <a:pPr algn="l"/>
                <a:r>
                  <a:rPr lang="zh-CN" sz="1125" dirty="0">
                    <a:solidFill>
                      <a:srgbClr val="F7B955"/>
                    </a:solidFill>
                    <a:latin typeface="Consolas"/>
                    <a:ea typeface="Microsoft YaHei"/>
                    <a:cs typeface="Consolas"/>
                  </a:rPr>
                  <a:t>private budget blocked</a:t>
                </a:r>
              </a:p>
            </p:txBody>
          </p:sp>
          <p:sp>
            <p:nvSpPr>
              <p:cNvPr id="50" name="Freeform 50"/>
              <p:cNvSpPr/>
              <p:nvPr/>
            </p:nvSpPr>
            <p:spPr>
              <a:xfrm>
                <a:off x="7924800" y="3714750"/>
                <a:ext cx="2819400" cy="533400"/>
              </a:xfrm>
              <a:custGeom>
                <a:avLst/>
                <a:gdLst/>
                <a:ahLst/>
                <a:cxnLst/>
                <a:rect l="l" t="t" r="r" b="b"/>
                <a:pathLst>
                  <a:path w="2819400" h="533400">
                    <a:moveTo>
                      <a:pt x="76200" y="0"/>
                    </a:moveTo>
                    <a:lnTo>
                      <a:pt x="2743200" y="0"/>
                    </a:lnTo>
                    <a:cubicBezTo>
                      <a:pt x="2785284" y="0"/>
                      <a:pt x="2819400" y="34116"/>
                      <a:pt x="2819400" y="76200"/>
                    </a:cubicBezTo>
                    <a:lnTo>
                      <a:pt x="2819400" y="457200"/>
                    </a:lnTo>
                    <a:cubicBezTo>
                      <a:pt x="2819400" y="499284"/>
                      <a:pt x="2785284" y="533400"/>
                      <a:pt x="2743200" y="533400"/>
                    </a:cubicBezTo>
                    <a:lnTo>
                      <a:pt x="76200" y="533400"/>
                    </a:lnTo>
                    <a:cubicBezTo>
                      <a:pt x="34116" y="533400"/>
                      <a:pt x="0" y="499284"/>
                      <a:pt x="0" y="457200"/>
                    </a:cubicBezTo>
                    <a:lnTo>
                      <a:pt x="0" y="76200"/>
                    </a:lnTo>
                    <a:cubicBezTo>
                      <a:pt x="0" y="34116"/>
                      <a:pt x="34116" y="0"/>
                      <a:pt x="76200" y="0"/>
                    </a:cubicBezTo>
                    <a:close/>
                  </a:path>
                </a:pathLst>
              </a:custGeom>
              <a:solidFill>
                <a:srgbClr val="0B0F14"/>
              </a:solidFill>
              <a:ln w="14288">
                <a:solidFill>
                  <a:srgbClr val="2B3A4B"/>
                </a:solidFill>
              </a:ln>
            </p:spPr>
          </p:sp>
          <p:sp>
            <p:nvSpPr>
              <p:cNvPr id="51" name="TextBox 51"/>
              <p:cNvSpPr txBox="1"/>
              <p:nvPr/>
            </p:nvSpPr>
            <p:spPr>
              <a:xfrm>
                <a:off x="8122920" y="3827145"/>
                <a:ext cx="640937" cy="182880"/>
              </a:xfrm>
              <a:prstGeom prst="rect">
                <a:avLst/>
              </a:prstGeom>
              <a:noFill/>
              <a:ln>
                <a:noFill/>
              </a:ln>
            </p:spPr>
            <p:txBody>
              <a:bodyPr wrap="none" lIns="0" tIns="0" rIns="0" bIns="0" anchor="t" anchorCtr="0">
                <a:spAutoFit/>
              </a:bodyPr>
              <a:lstStyle/>
              <a:p>
                <a:pPr algn="l"/>
                <a:r>
                  <a:rPr lang="zh-CN" sz="900" dirty="0">
                    <a:solidFill>
                      <a:srgbClr val="667789"/>
                    </a:solidFill>
                    <a:latin typeface="Consolas"/>
                    <a:ea typeface="Microsoft YaHei"/>
                    <a:cs typeface="Consolas"/>
                  </a:rPr>
                  <a:t>SUCCESSOR</a:t>
                </a:r>
              </a:p>
            </p:txBody>
          </p:sp>
          <p:sp>
            <p:nvSpPr>
              <p:cNvPr id="52" name="TextBox 52"/>
              <p:cNvSpPr txBox="1"/>
              <p:nvPr/>
            </p:nvSpPr>
            <p:spPr>
              <a:xfrm>
                <a:off x="8120062" y="4012406"/>
                <a:ext cx="1693783" cy="228600"/>
              </a:xfrm>
              <a:prstGeom prst="rect">
                <a:avLst/>
              </a:prstGeom>
              <a:noFill/>
              <a:ln>
                <a:noFill/>
              </a:ln>
            </p:spPr>
            <p:txBody>
              <a:bodyPr wrap="none" lIns="0" tIns="0" rIns="0" bIns="0" anchor="t" anchorCtr="0">
                <a:spAutoFit/>
              </a:bodyPr>
              <a:lstStyle/>
              <a:p>
                <a:pPr algn="l"/>
                <a:r>
                  <a:rPr lang="zh-CN" sz="1125" dirty="0">
                    <a:solidFill>
                      <a:srgbClr val="73F0B8"/>
                    </a:solidFill>
                    <a:latin typeface="Consolas"/>
                    <a:ea typeface="Microsoft YaHei"/>
                    <a:cs typeface="Consolas"/>
                  </a:rPr>
                  <a:t>cold agent output hash</a:t>
                </a:r>
              </a:p>
            </p:txBody>
          </p:sp>
        </p:grpSp>
        <p:sp>
          <p:nvSpPr>
            <p:cNvPr id="54" name="Freeform 54"/>
            <p:cNvSpPr/>
            <p:nvPr/>
          </p:nvSpPr>
          <p:spPr>
            <a:xfrm>
              <a:off x="7924800" y="4743450"/>
              <a:ext cx="2000250" cy="361950"/>
            </a:xfrm>
            <a:custGeom>
              <a:avLst/>
              <a:gdLst/>
              <a:ahLst/>
              <a:cxnLst/>
              <a:rect l="l" t="t" r="r" b="b"/>
              <a:pathLst>
                <a:path w="2000250" h="361950">
                  <a:moveTo>
                    <a:pt x="180975" y="0"/>
                  </a:moveTo>
                  <a:lnTo>
                    <a:pt x="1819275" y="0"/>
                  </a:lnTo>
                  <a:cubicBezTo>
                    <a:pt x="1919225" y="0"/>
                    <a:pt x="2000250" y="81025"/>
                    <a:pt x="2000250" y="180975"/>
                  </a:cubicBezTo>
                  <a:lnTo>
                    <a:pt x="2000250" y="180975"/>
                  </a:lnTo>
                  <a:cubicBezTo>
                    <a:pt x="2000250" y="280925"/>
                    <a:pt x="1919225" y="361950"/>
                    <a:pt x="1819275" y="361950"/>
                  </a:cubicBezTo>
                  <a:lnTo>
                    <a:pt x="180975" y="361950"/>
                  </a:lnTo>
                  <a:cubicBezTo>
                    <a:pt x="81025" y="361950"/>
                    <a:pt x="0" y="280925"/>
                    <a:pt x="0" y="180975"/>
                  </a:cubicBezTo>
                  <a:lnTo>
                    <a:pt x="0" y="180975"/>
                  </a:lnTo>
                  <a:cubicBezTo>
                    <a:pt x="0" y="81025"/>
                    <a:pt x="81025" y="0"/>
                    <a:pt x="180975" y="0"/>
                  </a:cubicBezTo>
                  <a:close/>
                </a:path>
              </a:pathLst>
            </a:custGeom>
            <a:solidFill>
              <a:srgbClr val="73F0B8">
                <a:alpha val="14000"/>
              </a:srgbClr>
            </a:solidFill>
            <a:ln w="14288">
              <a:solidFill>
                <a:srgbClr val="73F0B8"/>
              </a:solidFill>
            </a:ln>
          </p:spPr>
        </p:sp>
        <p:grpSp>
          <p:nvGrpSpPr>
            <p:cNvPr id="57" name="Group 57"/>
            <p:cNvGrpSpPr/>
            <p:nvPr/>
          </p:nvGrpSpPr>
          <p:grpSpPr>
            <a:xfrm>
              <a:off x="8129710" y="4845844"/>
              <a:ext cx="170506" cy="157162"/>
              <a:chOff x="8129710" y="4845844"/>
              <a:chExt cx="170506" cy="157162"/>
            </a:xfrm>
          </p:grpSpPr>
          <p:sp>
            <p:nvSpPr>
              <p:cNvPr id="55" name="Freeform 55"/>
              <p:cNvSpPr/>
              <p:nvPr/>
            </p:nvSpPr>
            <p:spPr>
              <a:xfrm>
                <a:off x="8129710" y="4845844"/>
                <a:ext cx="170506" cy="155818"/>
              </a:xfrm>
              <a:custGeom>
                <a:avLst/>
                <a:gdLst/>
                <a:ahLst/>
                <a:cxnLst/>
                <a:rect l="l" t="t" r="r" b="b"/>
                <a:pathLst>
                  <a:path w="170506" h="155818">
                    <a:moveTo>
                      <a:pt x="85650" y="155818"/>
                    </a:moveTo>
                    <a:cubicBezTo>
                      <a:pt x="30952" y="138863"/>
                      <a:pt x="0" y="81134"/>
                      <a:pt x="16149" y="26194"/>
                    </a:cubicBezTo>
                    <a:cubicBezTo>
                      <a:pt x="43351" y="27439"/>
                      <a:pt x="69970" y="18044"/>
                      <a:pt x="90365" y="0"/>
                    </a:cubicBezTo>
                    <a:cubicBezTo>
                      <a:pt x="110759" y="18044"/>
                      <a:pt x="137378" y="27439"/>
                      <a:pt x="164580" y="26194"/>
                    </a:cubicBezTo>
                    <a:cubicBezTo>
                      <a:pt x="170506" y="46355"/>
                      <a:pt x="170232" y="67833"/>
                      <a:pt x="163794" y="87836"/>
                    </a:cubicBezTo>
                  </a:path>
                </a:pathLst>
              </a:custGeom>
              <a:noFill/>
              <a:ln w="19050">
                <a:solidFill>
                  <a:srgbClr val="73F0B8"/>
                </a:solidFill>
              </a:ln>
            </p:spPr>
          </p:sp>
          <p:sp>
            <p:nvSpPr>
              <p:cNvPr id="56" name="Freeform 56"/>
              <p:cNvSpPr/>
              <p:nvPr/>
            </p:nvSpPr>
            <p:spPr>
              <a:xfrm>
                <a:off x="8246269" y="4968081"/>
                <a:ext cx="52388" cy="34925"/>
              </a:xfrm>
              <a:custGeom>
                <a:avLst/>
                <a:gdLst/>
                <a:ahLst/>
                <a:cxnLst/>
                <a:rect l="l" t="t" r="r" b="b"/>
                <a:pathLst>
                  <a:path w="52388" h="34925">
                    <a:moveTo>
                      <a:pt x="0" y="17463"/>
                    </a:moveTo>
                    <a:lnTo>
                      <a:pt x="17463" y="34925"/>
                    </a:lnTo>
                    <a:lnTo>
                      <a:pt x="52388" y="0"/>
                    </a:lnTo>
                  </a:path>
                </a:pathLst>
              </a:custGeom>
              <a:noFill/>
              <a:ln w="19050">
                <a:solidFill>
                  <a:srgbClr val="73F0B8"/>
                </a:solidFill>
              </a:ln>
            </p:spPr>
          </p:sp>
        </p:grpSp>
        <p:sp>
          <p:nvSpPr>
            <p:cNvPr id="58" name="TextBox 58"/>
            <p:cNvSpPr txBox="1"/>
            <p:nvPr/>
          </p:nvSpPr>
          <p:spPr>
            <a:xfrm>
              <a:off x="8423910" y="4852035"/>
              <a:ext cx="1475461" cy="243840"/>
            </a:xfrm>
            <a:prstGeom prst="rect">
              <a:avLst/>
            </a:prstGeom>
            <a:noFill/>
            <a:ln>
              <a:noFill/>
            </a:ln>
          </p:spPr>
          <p:txBody>
            <a:bodyPr wrap="none" lIns="0" tIns="0" rIns="0" bIns="0" anchor="t" anchorCtr="0">
              <a:spAutoFit/>
            </a:bodyPr>
            <a:lstStyle/>
            <a:p>
              <a:pPr algn="l"/>
              <a:r>
                <a:rPr lang="zh-CN" sz="1200" b="1" dirty="0">
                  <a:solidFill>
                    <a:srgbClr val="EAF1F7"/>
                  </a:solidFill>
                  <a:latin typeface="Aptos"/>
                  <a:ea typeface="Microsoft YaHei"/>
                  <a:cs typeface="Aptos"/>
                </a:rPr>
                <a:t>Inspectable proof</a:t>
              </a:r>
            </a:p>
          </p:txBody>
        </p:sp>
      </p:grpSp>
      <p:sp>
        <p:nvSpPr>
          <p:cNvPr id="60" name="TextBox 60"/>
          <p:cNvSpPr txBox="1"/>
          <p:nvPr/>
        </p:nvSpPr>
        <p:spPr>
          <a:xfrm>
            <a:off x="518160" y="6233160"/>
            <a:ext cx="7327392" cy="243840"/>
          </a:xfrm>
          <a:prstGeom prst="rect">
            <a:avLst/>
          </a:prstGeom>
          <a:noFill/>
          <a:ln>
            <a:noFill/>
          </a:ln>
        </p:spPr>
        <p:txBody>
          <a:bodyPr wrap="none" lIns="0" tIns="0" rIns="0" bIns="0" anchor="t" anchorCtr="0">
            <a:spAutoFit/>
          </a:bodyPr>
          <a:lstStyle/>
          <a:p>
            <a:pPr algn="l"/>
            <a:r>
              <a:rPr lang="zh-CN" sz="1200" dirty="0">
                <a:solidFill>
                  <a:srgbClr val="A8B6C6"/>
                </a:solidFill>
                <a:latin typeface="Aptos"/>
                <a:ea typeface="Microsoft YaHei"/>
                <a:cs typeface="Aptos"/>
              </a:rPr>
              <a:t>The first screen is a product consequence: agent death -&gt; scoped Walrus memory -&gt; receipt.</a:t>
            </a:r>
          </a:p>
        </p:txBody>
      </p:sp>
    </p:spTree>
  </p:cSld>
  <p:clrMapOvr>
    <a:masterClrMapping/>
  </p:clrMapOvr>
  <p:transition xmlns:p14="http://schemas.microsoft.com/office/powerpoint/2010/main" p14:dur="35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0F14"/>
            </a:solidFill>
            <a:ln>
              <a:noFill/>
            </a:ln>
          </p:spPr>
        </p:sp>
        <p:sp>
          <p:nvSpPr>
            <p:cNvPr id="3" name="Rectangle 3"/>
            <p:cNvSpPr/>
            <p:nvPr/>
          </p:nvSpPr>
          <p:spPr>
            <a:xfrm>
              <a:off x="0" y="0"/>
              <a:ext cx="12192000" cy="6858000"/>
            </a:xfrm>
            <a:prstGeom prst="rect">
              <a:avLst/>
            </a:prstGeom>
            <a:gradFill>
              <a:gsLst>
                <a:gs pos="0">
                  <a:srgbClr val="4EC5F1">
                    <a:alpha val="13000"/>
                  </a:srgbClr>
                </a:gs>
                <a:gs pos="100000">
                  <a:srgbClr val="4EC5F1">
                    <a:alpha val="0"/>
                  </a:srgbClr>
                </a:gs>
              </a:gsLst>
              <a:path path="circle">
                <a:fillToRect l="50000" t="50000" r="50000" b="50000"/>
              </a:path>
            </a:gradFill>
            <a:ln>
              <a:noFill/>
            </a:ln>
          </p:spPr>
        </p:sp>
        <p:sp>
          <p:nvSpPr>
            <p:cNvPr id="4" name="Freeform 4"/>
            <p:cNvSpPr/>
            <p:nvPr/>
          </p:nvSpPr>
          <p:spPr>
            <a:xfrm>
              <a:off x="533400" y="1066800"/>
              <a:ext cx="11125200" cy="4724400"/>
            </a:xfrm>
            <a:custGeom>
              <a:avLst/>
              <a:gdLst/>
              <a:ahLst/>
              <a:cxnLst/>
              <a:rect l="l" t="t" r="r" b="b"/>
              <a:pathLst>
                <a:path w="11125200" h="4724400">
                  <a:moveTo>
                    <a:pt x="0" y="0"/>
                  </a:moveTo>
                  <a:lnTo>
                    <a:pt x="11125200" y="0"/>
                  </a:lnTo>
                  <a:moveTo>
                    <a:pt x="0" y="4724400"/>
                  </a:moveTo>
                  <a:lnTo>
                    <a:pt x="11125200" y="4724400"/>
                  </a:lnTo>
                </a:path>
              </a:pathLst>
            </a:custGeom>
            <a:solidFill>
              <a:srgbClr val="000000"/>
            </a:solidFill>
            <a:ln w="14288">
              <a:solidFill>
                <a:srgbClr val="223143">
                  <a:alpha val="80000"/>
                </a:srgbClr>
              </a:solidFill>
            </a:ln>
          </p:spPr>
        </p:sp>
      </p:grpSp>
      <p:grpSp>
        <p:nvGrpSpPr>
          <p:cNvPr id="9" name="Group 9"/>
          <p:cNvGrpSpPr/>
          <p:nvPr/>
        </p:nvGrpSpPr>
        <p:grpSpPr>
          <a:xfrm>
            <a:off x="495300" y="439102"/>
            <a:ext cx="11176635" cy="1027748"/>
            <a:chOff x="495300" y="439102"/>
            <a:chExt cx="11176635" cy="1027748"/>
          </a:xfrm>
        </p:grpSpPr>
        <p:sp>
          <p:nvSpPr>
            <p:cNvPr id="6" name="TextBox 6"/>
            <p:cNvSpPr txBox="1"/>
            <p:nvPr/>
          </p:nvSpPr>
          <p:spPr>
            <a:xfrm>
              <a:off x="520065" y="439102"/>
              <a:ext cx="1776889" cy="213360"/>
            </a:xfrm>
            <a:prstGeom prst="rect">
              <a:avLst/>
            </a:prstGeom>
            <a:noFill/>
            <a:ln>
              <a:noFill/>
            </a:ln>
          </p:spPr>
          <p:txBody>
            <a:bodyPr wrap="none" lIns="0" tIns="0" rIns="0" bIns="0" anchor="t" anchorCtr="0">
              <a:spAutoFit/>
            </a:bodyPr>
            <a:lstStyle/>
            <a:p>
              <a:pPr algn="l"/>
              <a:r>
                <a:rPr lang="zh-CN" sz="1050" dirty="0">
                  <a:solidFill>
                    <a:srgbClr val="A8B6C6"/>
                  </a:solidFill>
                  <a:latin typeface="Consolas"/>
                  <a:ea typeface="Microsoft YaHei"/>
                  <a:cs typeface="Consolas"/>
                </a:rPr>
                <a:t>SCOPE BEFORE SUCCESSION</a:t>
              </a:r>
            </a:p>
          </p:txBody>
        </p:sp>
        <p:sp>
          <p:nvSpPr>
            <p:cNvPr id="7" name="TextBox 7"/>
            <p:cNvSpPr txBox="1"/>
            <p:nvPr/>
          </p:nvSpPr>
          <p:spPr>
            <a:xfrm>
              <a:off x="11176206" y="439102"/>
              <a:ext cx="495729" cy="213360"/>
            </a:xfrm>
            <a:prstGeom prst="rect">
              <a:avLst/>
            </a:prstGeom>
            <a:noFill/>
            <a:ln>
              <a:noFill/>
            </a:ln>
          </p:spPr>
          <p:txBody>
            <a:bodyPr wrap="none" lIns="0" tIns="0" rIns="0" bIns="0" anchor="t" anchorCtr="0">
              <a:spAutoFit/>
            </a:bodyPr>
            <a:lstStyle/>
            <a:p>
              <a:pPr algn="r"/>
              <a:r>
                <a:rPr lang="zh-CN" sz="1050" dirty="0">
                  <a:solidFill>
                    <a:srgbClr val="667789"/>
                  </a:solidFill>
                  <a:latin typeface="Consolas"/>
                  <a:ea typeface="Microsoft YaHei"/>
                  <a:cs typeface="Consolas"/>
                </a:rPr>
                <a:t>02 / 06</a:t>
              </a:r>
            </a:p>
          </p:txBody>
        </p:sp>
        <p:sp>
          <p:nvSpPr>
            <p:cNvPr id="8" name="TextBox 8"/>
            <p:cNvSpPr txBox="1"/>
            <p:nvPr/>
          </p:nvSpPr>
          <p:spPr>
            <a:xfrm>
              <a:off x="495300" y="857250"/>
              <a:ext cx="9086326" cy="609600"/>
            </a:xfrm>
            <a:prstGeom prst="rect">
              <a:avLst/>
            </a:prstGeom>
            <a:noFill/>
            <a:ln>
              <a:noFill/>
            </a:ln>
          </p:spPr>
          <p:txBody>
            <a:bodyPr wrap="none" lIns="0" tIns="0" rIns="0" bIns="0" anchor="t" anchorCtr="0">
              <a:spAutoFit/>
            </a:bodyPr>
            <a:lstStyle/>
            <a:p>
              <a:pPr algn="l"/>
              <a:r>
                <a:rPr lang="zh-CN" sz="3000" b="1" dirty="0">
                  <a:solidFill>
                    <a:srgbClr val="EAF1F7"/>
                  </a:solidFill>
                  <a:latin typeface="Aptos Display"/>
                  <a:ea typeface="Microsoft YaHei"/>
                  <a:cs typeface="Aptos Display"/>
                </a:rPr>
                <a:t>The successor needs memory and restraint.</a:t>
              </a:r>
            </a:p>
          </p:txBody>
        </p:sp>
      </p:grpSp>
      <p:grpSp>
        <p:nvGrpSpPr>
          <p:cNvPr id="19" name="Group 19"/>
          <p:cNvGrpSpPr/>
          <p:nvPr/>
        </p:nvGrpSpPr>
        <p:grpSpPr>
          <a:xfrm>
            <a:off x="685800" y="1695450"/>
            <a:ext cx="4953000" cy="3333750"/>
            <a:chOff x="685800" y="1695450"/>
            <a:chExt cx="4953000" cy="3333750"/>
          </a:xfrm>
        </p:grpSpPr>
        <p:sp>
          <p:nvSpPr>
            <p:cNvPr id="10" name="Freeform 10"/>
            <p:cNvSpPr/>
            <p:nvPr/>
          </p:nvSpPr>
          <p:spPr>
            <a:xfrm>
              <a:off x="685800" y="1695450"/>
              <a:ext cx="4953000" cy="3333750"/>
            </a:xfrm>
            <a:custGeom>
              <a:avLst/>
              <a:gdLst/>
              <a:ahLst/>
              <a:cxnLst/>
              <a:rect l="l" t="t" r="r" b="b"/>
              <a:pathLst>
                <a:path w="4953000" h="3333750">
                  <a:moveTo>
                    <a:pt x="95250" y="0"/>
                  </a:moveTo>
                  <a:lnTo>
                    <a:pt x="4857750" y="0"/>
                  </a:lnTo>
                  <a:cubicBezTo>
                    <a:pt x="4910355" y="0"/>
                    <a:pt x="4953000" y="42645"/>
                    <a:pt x="4953000" y="95250"/>
                  </a:cubicBezTo>
                  <a:lnTo>
                    <a:pt x="4953000" y="3238500"/>
                  </a:lnTo>
                  <a:cubicBezTo>
                    <a:pt x="4953000" y="3291105"/>
                    <a:pt x="4910355" y="3333750"/>
                    <a:pt x="4857750" y="3333750"/>
                  </a:cubicBezTo>
                  <a:lnTo>
                    <a:pt x="95250" y="3333750"/>
                  </a:lnTo>
                  <a:cubicBezTo>
                    <a:pt x="42645" y="3333750"/>
                    <a:pt x="0" y="3291105"/>
                    <a:pt x="0" y="3238500"/>
                  </a:cubicBezTo>
                  <a:lnTo>
                    <a:pt x="0" y="95250"/>
                  </a:lnTo>
                  <a:cubicBezTo>
                    <a:pt x="0" y="42645"/>
                    <a:pt x="42645" y="0"/>
                    <a:pt x="95250" y="0"/>
                  </a:cubicBezTo>
                  <a:close/>
                </a:path>
              </a:pathLst>
            </a:custGeom>
            <a:solidFill>
              <a:srgbClr val="121A24"/>
            </a:solidFill>
            <a:ln w="19050">
              <a:solidFill>
                <a:srgbClr val="73F0B8"/>
              </a:solidFill>
            </a:ln>
          </p:spPr>
        </p:sp>
        <p:sp>
          <p:nvSpPr>
            <p:cNvPr id="11" name="Freeform 11"/>
            <p:cNvSpPr/>
            <p:nvPr/>
          </p:nvSpPr>
          <p:spPr>
            <a:xfrm>
              <a:off x="1054100" y="2089150"/>
              <a:ext cx="190500" cy="127000"/>
            </a:xfrm>
            <a:custGeom>
              <a:avLst/>
              <a:gdLst/>
              <a:ahLst/>
              <a:cxnLst/>
              <a:rect l="l" t="t" r="r" b="b"/>
              <a:pathLst>
                <a:path w="190500" h="127000">
                  <a:moveTo>
                    <a:pt x="0" y="63500"/>
                  </a:moveTo>
                  <a:lnTo>
                    <a:pt x="63500" y="127000"/>
                  </a:lnTo>
                  <a:lnTo>
                    <a:pt x="190500" y="0"/>
                  </a:lnTo>
                </a:path>
              </a:pathLst>
            </a:custGeom>
            <a:noFill/>
            <a:ln w="19050">
              <a:solidFill>
                <a:srgbClr val="73F0B8"/>
              </a:solidFill>
            </a:ln>
          </p:spPr>
        </p:sp>
        <p:sp>
          <p:nvSpPr>
            <p:cNvPr id="12" name="TextBox 12"/>
            <p:cNvSpPr txBox="1"/>
            <p:nvPr/>
          </p:nvSpPr>
          <p:spPr>
            <a:xfrm>
              <a:off x="1402080" y="2021205"/>
              <a:ext cx="2273317" cy="426720"/>
            </a:xfrm>
            <a:prstGeom prst="rect">
              <a:avLst/>
            </a:prstGeom>
            <a:noFill/>
            <a:ln>
              <a:noFill/>
            </a:ln>
          </p:spPr>
          <p:txBody>
            <a:bodyPr wrap="none" lIns="0" tIns="0" rIns="0" bIns="0" anchor="t" anchorCtr="0">
              <a:spAutoFit/>
            </a:bodyPr>
            <a:lstStyle/>
            <a:p>
              <a:pPr algn="l"/>
              <a:r>
                <a:rPr lang="zh-CN" sz="2100" b="1" dirty="0">
                  <a:solidFill>
                    <a:srgbClr val="EAF1F7"/>
                  </a:solidFill>
                  <a:latin typeface="Aptos Display"/>
                  <a:ea typeface="Microsoft YaHei"/>
                  <a:cs typeface="Aptos Display"/>
                </a:rPr>
                <a:t>Allowed memory</a:t>
              </a:r>
            </a:p>
          </p:txBody>
        </p:sp>
        <p:sp>
          <p:nvSpPr>
            <p:cNvPr id="13" name="TextBox 13"/>
            <p:cNvSpPr txBox="1"/>
            <p:nvPr/>
          </p:nvSpPr>
          <p:spPr>
            <a:xfrm>
              <a:off x="972502" y="2551271"/>
              <a:ext cx="3618143" cy="289560"/>
            </a:xfrm>
            <a:prstGeom prst="rect">
              <a:avLst/>
            </a:prstGeom>
            <a:noFill/>
            <a:ln>
              <a:noFill/>
            </a:ln>
          </p:spPr>
          <p:txBody>
            <a:bodyPr wrap="none" lIns="0" tIns="0" rIns="0" bIns="0" anchor="t" anchorCtr="0">
              <a:spAutoFit/>
            </a:bodyPr>
            <a:lstStyle/>
            <a:p>
              <a:pPr algn="l"/>
              <a:r>
                <a:rPr lang="zh-CN" sz="1425" dirty="0">
                  <a:solidFill>
                    <a:srgbClr val="A8B6C6"/>
                  </a:solidFill>
                  <a:latin typeface="Aptos"/>
                  <a:ea typeface="Microsoft YaHei"/>
                  <a:cs typeface="Aptos"/>
                </a:rPr>
                <a:t>Vendor shortlist with sourced findings</a:t>
              </a:r>
            </a:p>
          </p:txBody>
        </p:sp>
        <p:sp>
          <p:nvSpPr>
            <p:cNvPr id="14" name="TextBox 14"/>
            <p:cNvSpPr txBox="1"/>
            <p:nvPr/>
          </p:nvSpPr>
          <p:spPr>
            <a:xfrm>
              <a:off x="972502" y="2951321"/>
              <a:ext cx="3238095" cy="289560"/>
            </a:xfrm>
            <a:prstGeom prst="rect">
              <a:avLst/>
            </a:prstGeom>
            <a:noFill/>
            <a:ln>
              <a:noFill/>
            </a:ln>
          </p:spPr>
          <p:txBody>
            <a:bodyPr wrap="none" lIns="0" tIns="0" rIns="0" bIns="0" anchor="t" anchorCtr="0">
              <a:spAutoFit/>
            </a:bodyPr>
            <a:lstStyle/>
            <a:p>
              <a:pPr algn="l"/>
              <a:r>
                <a:rPr lang="zh-CN" sz="1425" dirty="0">
                  <a:solidFill>
                    <a:srgbClr val="A8B6C6"/>
                  </a:solidFill>
                  <a:latin typeface="Aptos"/>
                  <a:ea typeface="Microsoft YaHei"/>
                  <a:cs typeface="Aptos"/>
                </a:rPr>
                <a:t>Open questions for the next agent</a:t>
              </a:r>
            </a:p>
          </p:txBody>
        </p:sp>
        <p:sp>
          <p:nvSpPr>
            <p:cNvPr id="15" name="TextBox 15"/>
            <p:cNvSpPr txBox="1"/>
            <p:nvPr/>
          </p:nvSpPr>
          <p:spPr>
            <a:xfrm>
              <a:off x="972502" y="3351371"/>
              <a:ext cx="3504128" cy="289560"/>
            </a:xfrm>
            <a:prstGeom prst="rect">
              <a:avLst/>
            </a:prstGeom>
            <a:noFill/>
            <a:ln>
              <a:noFill/>
            </a:ln>
          </p:spPr>
          <p:txBody>
            <a:bodyPr wrap="none" lIns="0" tIns="0" rIns="0" bIns="0" anchor="t" anchorCtr="0">
              <a:spAutoFit/>
            </a:bodyPr>
            <a:lstStyle/>
            <a:p>
              <a:pPr algn="l"/>
              <a:r>
                <a:rPr lang="zh-CN" sz="1425" dirty="0">
                  <a:solidFill>
                    <a:srgbClr val="A8B6C6"/>
                  </a:solidFill>
                  <a:latin typeface="Aptos"/>
                  <a:ea typeface="Microsoft YaHei"/>
                  <a:cs typeface="Aptos"/>
                </a:rPr>
                <a:t>Next step from the locked checkpoint</a:t>
              </a:r>
            </a:p>
          </p:txBody>
        </p:sp>
        <p:sp>
          <p:nvSpPr>
            <p:cNvPr id="16" name="TextBox 16"/>
            <p:cNvSpPr txBox="1"/>
            <p:nvPr/>
          </p:nvSpPr>
          <p:spPr>
            <a:xfrm>
              <a:off x="972502" y="3751421"/>
              <a:ext cx="3361611" cy="289560"/>
            </a:xfrm>
            <a:prstGeom prst="rect">
              <a:avLst/>
            </a:prstGeom>
            <a:noFill/>
            <a:ln>
              <a:noFill/>
            </a:ln>
          </p:spPr>
          <p:txBody>
            <a:bodyPr wrap="none" lIns="0" tIns="0" rIns="0" bIns="0" anchor="t" anchorCtr="0">
              <a:spAutoFit/>
            </a:bodyPr>
            <a:lstStyle/>
            <a:p>
              <a:pPr algn="l"/>
              <a:r>
                <a:rPr lang="zh-CN" sz="1425" dirty="0">
                  <a:solidFill>
                    <a:srgbClr val="A8B6C6"/>
                  </a:solidFill>
                  <a:latin typeface="Aptos"/>
                  <a:ea typeface="Microsoft YaHei"/>
                  <a:cs typeface="Aptos"/>
                </a:rPr>
                <a:t>Role-specific successor instruction</a:t>
              </a:r>
            </a:p>
          </p:txBody>
        </p:sp>
        <p:sp>
          <p:nvSpPr>
            <p:cNvPr id="17" name="Freeform 17"/>
            <p:cNvSpPr/>
            <p:nvPr/>
          </p:nvSpPr>
          <p:spPr>
            <a:xfrm>
              <a:off x="990600" y="4400550"/>
              <a:ext cx="3143250" cy="361950"/>
            </a:xfrm>
            <a:custGeom>
              <a:avLst/>
              <a:gdLst/>
              <a:ahLst/>
              <a:cxnLst/>
              <a:rect l="l" t="t" r="r" b="b"/>
              <a:pathLst>
                <a:path w="3143250" h="361950">
                  <a:moveTo>
                    <a:pt x="180975" y="0"/>
                  </a:moveTo>
                  <a:lnTo>
                    <a:pt x="2962275" y="0"/>
                  </a:lnTo>
                  <a:cubicBezTo>
                    <a:pt x="3062225" y="0"/>
                    <a:pt x="3143250" y="81025"/>
                    <a:pt x="3143250" y="180975"/>
                  </a:cubicBezTo>
                  <a:lnTo>
                    <a:pt x="3143250" y="180975"/>
                  </a:lnTo>
                  <a:cubicBezTo>
                    <a:pt x="3143250" y="280925"/>
                    <a:pt x="3062225" y="361950"/>
                    <a:pt x="2962275" y="361950"/>
                  </a:cubicBezTo>
                  <a:lnTo>
                    <a:pt x="180975" y="361950"/>
                  </a:lnTo>
                  <a:cubicBezTo>
                    <a:pt x="81025" y="361950"/>
                    <a:pt x="0" y="280925"/>
                    <a:pt x="0" y="180975"/>
                  </a:cubicBezTo>
                  <a:lnTo>
                    <a:pt x="0" y="180975"/>
                  </a:lnTo>
                  <a:cubicBezTo>
                    <a:pt x="0" y="81025"/>
                    <a:pt x="81025" y="0"/>
                    <a:pt x="180975" y="0"/>
                  </a:cubicBezTo>
                  <a:close/>
                </a:path>
              </a:pathLst>
            </a:custGeom>
            <a:solidFill>
              <a:srgbClr val="73F0B8">
                <a:alpha val="14000"/>
              </a:srgbClr>
            </a:solidFill>
            <a:ln w="14288">
              <a:solidFill>
                <a:srgbClr val="73F0B8"/>
              </a:solidFill>
            </a:ln>
          </p:spPr>
        </p:sp>
        <p:sp>
          <p:nvSpPr>
            <p:cNvPr id="18" name="TextBox 18"/>
            <p:cNvSpPr txBox="1"/>
            <p:nvPr/>
          </p:nvSpPr>
          <p:spPr>
            <a:xfrm>
              <a:off x="1167765" y="4515802"/>
              <a:ext cx="2385965" cy="213360"/>
            </a:xfrm>
            <a:prstGeom prst="rect">
              <a:avLst/>
            </a:prstGeom>
            <a:noFill/>
            <a:ln>
              <a:noFill/>
            </a:ln>
          </p:spPr>
          <p:txBody>
            <a:bodyPr wrap="none" lIns="0" tIns="0" rIns="0" bIns="0" anchor="t" anchorCtr="0">
              <a:spAutoFit/>
            </a:bodyPr>
            <a:lstStyle/>
            <a:p>
              <a:pPr algn="l"/>
              <a:r>
                <a:rPr lang="zh-CN" sz="1050" dirty="0">
                  <a:solidFill>
                    <a:srgbClr val="73F0B8"/>
                  </a:solidFill>
                  <a:latin typeface="Consolas"/>
                  <a:ea typeface="Microsoft YaHei"/>
                  <a:cs typeface="Consolas"/>
                </a:rPr>
                <a:t>safe to restore after Walrus read</a:t>
              </a:r>
            </a:p>
          </p:txBody>
        </p:sp>
      </p:grpSp>
      <p:grpSp>
        <p:nvGrpSpPr>
          <p:cNvPr id="32" name="Group 32"/>
          <p:cNvGrpSpPr/>
          <p:nvPr/>
        </p:nvGrpSpPr>
        <p:grpSpPr>
          <a:xfrm>
            <a:off x="6553200" y="1695450"/>
            <a:ext cx="4953000" cy="3333750"/>
            <a:chOff x="6553200" y="1695450"/>
            <a:chExt cx="4953000" cy="3333750"/>
          </a:xfrm>
        </p:grpSpPr>
        <p:sp>
          <p:nvSpPr>
            <p:cNvPr id="20" name="Freeform 20"/>
            <p:cNvSpPr/>
            <p:nvPr/>
          </p:nvSpPr>
          <p:spPr>
            <a:xfrm>
              <a:off x="6553200" y="1695450"/>
              <a:ext cx="4953000" cy="3333750"/>
            </a:xfrm>
            <a:custGeom>
              <a:avLst/>
              <a:gdLst/>
              <a:ahLst/>
              <a:cxnLst/>
              <a:rect l="l" t="t" r="r" b="b"/>
              <a:pathLst>
                <a:path w="4953000" h="3333750">
                  <a:moveTo>
                    <a:pt x="95250" y="0"/>
                  </a:moveTo>
                  <a:lnTo>
                    <a:pt x="4857750" y="0"/>
                  </a:lnTo>
                  <a:cubicBezTo>
                    <a:pt x="4910355" y="0"/>
                    <a:pt x="4953000" y="42645"/>
                    <a:pt x="4953000" y="95250"/>
                  </a:cubicBezTo>
                  <a:lnTo>
                    <a:pt x="4953000" y="3238500"/>
                  </a:lnTo>
                  <a:cubicBezTo>
                    <a:pt x="4953000" y="3291105"/>
                    <a:pt x="4910355" y="3333750"/>
                    <a:pt x="4857750" y="3333750"/>
                  </a:cubicBezTo>
                  <a:lnTo>
                    <a:pt x="95250" y="3333750"/>
                  </a:lnTo>
                  <a:cubicBezTo>
                    <a:pt x="42645" y="3333750"/>
                    <a:pt x="0" y="3291105"/>
                    <a:pt x="0" y="3238500"/>
                  </a:cubicBezTo>
                  <a:lnTo>
                    <a:pt x="0" y="95250"/>
                  </a:lnTo>
                  <a:cubicBezTo>
                    <a:pt x="0" y="42645"/>
                    <a:pt x="42645" y="0"/>
                    <a:pt x="95250" y="0"/>
                  </a:cubicBezTo>
                  <a:close/>
                </a:path>
              </a:pathLst>
            </a:custGeom>
            <a:solidFill>
              <a:srgbClr val="121A24"/>
            </a:solidFill>
            <a:ln w="19050">
              <a:solidFill>
                <a:srgbClr val="F7B955"/>
              </a:solidFill>
            </a:ln>
          </p:spPr>
        </p:sp>
        <p:grpSp>
          <p:nvGrpSpPr>
            <p:cNvPr id="24" name="Group 24"/>
            <p:cNvGrpSpPr/>
            <p:nvPr/>
          </p:nvGrpSpPr>
          <p:grpSpPr>
            <a:xfrm>
              <a:off x="6921500" y="2038350"/>
              <a:ext cx="177800" cy="228600"/>
              <a:chOff x="6921500" y="2038350"/>
              <a:chExt cx="177800" cy="228600"/>
            </a:xfrm>
          </p:grpSpPr>
          <p:sp>
            <p:nvSpPr>
              <p:cNvPr id="21" name="Freeform 21"/>
              <p:cNvSpPr/>
              <p:nvPr/>
            </p:nvSpPr>
            <p:spPr>
              <a:xfrm>
                <a:off x="6921500" y="2139950"/>
                <a:ext cx="177800" cy="127000"/>
              </a:xfrm>
              <a:custGeom>
                <a:avLst/>
                <a:gdLst/>
                <a:ahLst/>
                <a:cxnLst/>
                <a:rect l="l" t="t" r="r" b="b"/>
                <a:pathLst>
                  <a:path w="177800" h="127000">
                    <a:moveTo>
                      <a:pt x="0" y="25400"/>
                    </a:moveTo>
                    <a:cubicBezTo>
                      <a:pt x="0" y="11372"/>
                      <a:pt x="11372" y="0"/>
                      <a:pt x="25400" y="0"/>
                    </a:cubicBezTo>
                    <a:lnTo>
                      <a:pt x="152400" y="0"/>
                    </a:lnTo>
                    <a:cubicBezTo>
                      <a:pt x="166428" y="0"/>
                      <a:pt x="177800" y="11372"/>
                      <a:pt x="177800" y="25400"/>
                    </a:cubicBezTo>
                    <a:lnTo>
                      <a:pt x="177800" y="101600"/>
                    </a:lnTo>
                    <a:cubicBezTo>
                      <a:pt x="177800" y="115628"/>
                      <a:pt x="166428" y="127000"/>
                      <a:pt x="152400" y="127000"/>
                    </a:cubicBezTo>
                    <a:lnTo>
                      <a:pt x="25400" y="127000"/>
                    </a:lnTo>
                    <a:cubicBezTo>
                      <a:pt x="11372" y="127000"/>
                      <a:pt x="0" y="115628"/>
                      <a:pt x="0" y="101600"/>
                    </a:cubicBezTo>
                    <a:lnTo>
                      <a:pt x="0" y="25400"/>
                    </a:lnTo>
                  </a:path>
                </a:pathLst>
              </a:custGeom>
              <a:noFill/>
              <a:ln w="19050">
                <a:solidFill>
                  <a:srgbClr val="F7B955"/>
                </a:solidFill>
              </a:ln>
            </p:spPr>
          </p:sp>
          <p:sp>
            <p:nvSpPr>
              <p:cNvPr id="22" name="Freeform 22"/>
              <p:cNvSpPr/>
              <p:nvPr/>
            </p:nvSpPr>
            <p:spPr>
              <a:xfrm>
                <a:off x="6997700" y="2190750"/>
                <a:ext cx="25400" cy="25400"/>
              </a:xfrm>
              <a:custGeom>
                <a:avLst/>
                <a:gdLst/>
                <a:ahLst/>
                <a:cxnLst/>
                <a:rect l="l" t="t" r="r" b="b"/>
                <a:pathLst>
                  <a:path w="25400" h="25400">
                    <a:moveTo>
                      <a:pt x="0" y="12700"/>
                    </a:moveTo>
                    <a:cubicBezTo>
                      <a:pt x="0" y="19714"/>
                      <a:pt x="5686" y="25400"/>
                      <a:pt x="12700" y="25400"/>
                    </a:cubicBezTo>
                    <a:cubicBezTo>
                      <a:pt x="19714" y="25400"/>
                      <a:pt x="25400" y="19714"/>
                      <a:pt x="25400" y="12700"/>
                    </a:cubicBezTo>
                    <a:cubicBezTo>
                      <a:pt x="25400" y="5686"/>
                      <a:pt x="19714" y="0"/>
                      <a:pt x="12700" y="0"/>
                    </a:cubicBezTo>
                    <a:cubicBezTo>
                      <a:pt x="5686" y="0"/>
                      <a:pt x="0" y="5686"/>
                      <a:pt x="0" y="12700"/>
                    </a:cubicBezTo>
                  </a:path>
                </a:pathLst>
              </a:custGeom>
              <a:noFill/>
              <a:ln w="19050">
                <a:solidFill>
                  <a:srgbClr val="F7B955"/>
                </a:solidFill>
              </a:ln>
            </p:spPr>
          </p:sp>
          <p:sp>
            <p:nvSpPr>
              <p:cNvPr id="23" name="Freeform 23"/>
              <p:cNvSpPr/>
              <p:nvPr/>
            </p:nvSpPr>
            <p:spPr>
              <a:xfrm>
                <a:off x="6959600" y="2038350"/>
                <a:ext cx="101600" cy="101600"/>
              </a:xfrm>
              <a:custGeom>
                <a:avLst/>
                <a:gdLst/>
                <a:ahLst/>
                <a:cxnLst/>
                <a:rect l="l" t="t" r="r" b="b"/>
                <a:pathLst>
                  <a:path w="101600" h="101600">
                    <a:moveTo>
                      <a:pt x="0" y="101600"/>
                    </a:moveTo>
                    <a:lnTo>
                      <a:pt x="0" y="50800"/>
                    </a:lnTo>
                    <a:cubicBezTo>
                      <a:pt x="0" y="22744"/>
                      <a:pt x="22744" y="0"/>
                      <a:pt x="50800" y="0"/>
                    </a:cubicBezTo>
                    <a:cubicBezTo>
                      <a:pt x="78856" y="0"/>
                      <a:pt x="101600" y="22744"/>
                      <a:pt x="101600" y="50800"/>
                    </a:cubicBezTo>
                    <a:lnTo>
                      <a:pt x="101600" y="101600"/>
                    </a:lnTo>
                  </a:path>
                </a:pathLst>
              </a:custGeom>
              <a:noFill/>
              <a:ln w="19050">
                <a:solidFill>
                  <a:srgbClr val="F7B955"/>
                </a:solidFill>
              </a:ln>
            </p:spPr>
          </p:sp>
        </p:grpSp>
        <p:sp>
          <p:nvSpPr>
            <p:cNvPr id="25" name="TextBox 25"/>
            <p:cNvSpPr txBox="1"/>
            <p:nvPr/>
          </p:nvSpPr>
          <p:spPr>
            <a:xfrm>
              <a:off x="7269480" y="2021205"/>
              <a:ext cx="2787882" cy="426720"/>
            </a:xfrm>
            <a:prstGeom prst="rect">
              <a:avLst/>
            </a:prstGeom>
            <a:noFill/>
            <a:ln>
              <a:noFill/>
            </a:ln>
          </p:spPr>
          <p:txBody>
            <a:bodyPr wrap="none" lIns="0" tIns="0" rIns="0" bIns="0" anchor="t" anchorCtr="0">
              <a:spAutoFit/>
            </a:bodyPr>
            <a:lstStyle/>
            <a:p>
              <a:pPr algn="l"/>
              <a:r>
                <a:rPr lang="zh-CN" sz="2100" b="1" dirty="0">
                  <a:solidFill>
                    <a:srgbClr val="EAF1F7"/>
                  </a:solidFill>
                  <a:latin typeface="Aptos Display"/>
                  <a:ea typeface="Microsoft YaHei"/>
                  <a:cs typeface="Aptos Display"/>
                </a:rPr>
                <a:t>Unavailable memory</a:t>
              </a:r>
            </a:p>
          </p:txBody>
        </p:sp>
        <p:sp>
          <p:nvSpPr>
            <p:cNvPr id="26" name="TextBox 26"/>
            <p:cNvSpPr txBox="1"/>
            <p:nvPr/>
          </p:nvSpPr>
          <p:spPr>
            <a:xfrm>
              <a:off x="6839902" y="2551271"/>
              <a:ext cx="2050447" cy="289560"/>
            </a:xfrm>
            <a:prstGeom prst="rect">
              <a:avLst/>
            </a:prstGeom>
            <a:noFill/>
            <a:ln>
              <a:noFill/>
            </a:ln>
          </p:spPr>
          <p:txBody>
            <a:bodyPr wrap="none" lIns="0" tIns="0" rIns="0" bIns="0" anchor="t" anchorCtr="0">
              <a:spAutoFit/>
            </a:bodyPr>
            <a:lstStyle/>
            <a:p>
              <a:pPr algn="l"/>
              <a:r>
                <a:rPr lang="zh-CN" sz="1425" dirty="0">
                  <a:solidFill>
                    <a:srgbClr val="A8B6C6"/>
                  </a:solidFill>
                  <a:latin typeface="Aptos"/>
                  <a:ea typeface="Microsoft YaHei"/>
                  <a:cs typeface="Aptos"/>
                </a:rPr>
                <a:t>Private budget ceiling</a:t>
              </a:r>
            </a:p>
          </p:txBody>
        </p:sp>
        <p:sp>
          <p:nvSpPr>
            <p:cNvPr id="27" name="TextBox 27"/>
            <p:cNvSpPr txBox="1"/>
            <p:nvPr/>
          </p:nvSpPr>
          <p:spPr>
            <a:xfrm>
              <a:off x="6839902" y="2951321"/>
              <a:ext cx="2430494" cy="289560"/>
            </a:xfrm>
            <a:prstGeom prst="rect">
              <a:avLst/>
            </a:prstGeom>
            <a:noFill/>
            <a:ln>
              <a:noFill/>
            </a:ln>
          </p:spPr>
          <p:txBody>
            <a:bodyPr wrap="none" lIns="0" tIns="0" rIns="0" bIns="0" anchor="t" anchorCtr="0">
              <a:spAutoFit/>
            </a:bodyPr>
            <a:lstStyle/>
            <a:p>
              <a:pPr algn="l"/>
              <a:r>
                <a:rPr lang="zh-CN" sz="1425" dirty="0">
                  <a:solidFill>
                    <a:srgbClr val="A8B6C6"/>
                  </a:solidFill>
                  <a:latin typeface="Aptos"/>
                  <a:ea typeface="Microsoft YaHei"/>
                  <a:cs typeface="Aptos"/>
                </a:rPr>
                <a:t>Procurement timing notes</a:t>
              </a:r>
            </a:p>
          </p:txBody>
        </p:sp>
        <p:sp>
          <p:nvSpPr>
            <p:cNvPr id="28" name="TextBox 28"/>
            <p:cNvSpPr txBox="1"/>
            <p:nvPr/>
          </p:nvSpPr>
          <p:spPr>
            <a:xfrm>
              <a:off x="6839902" y="3351371"/>
              <a:ext cx="2772537" cy="289560"/>
            </a:xfrm>
            <a:prstGeom prst="rect">
              <a:avLst/>
            </a:prstGeom>
            <a:noFill/>
            <a:ln>
              <a:noFill/>
            </a:ln>
          </p:spPr>
          <p:txBody>
            <a:bodyPr wrap="none" lIns="0" tIns="0" rIns="0" bIns="0" anchor="t" anchorCtr="0">
              <a:spAutoFit/>
            </a:bodyPr>
            <a:lstStyle/>
            <a:p>
              <a:pPr algn="l"/>
              <a:r>
                <a:rPr lang="zh-CN" sz="1425" dirty="0">
                  <a:solidFill>
                    <a:srgbClr val="A8B6C6"/>
                  </a:solidFill>
                  <a:latin typeface="Aptos"/>
                  <a:ea typeface="Microsoft YaHei"/>
                  <a:cs typeface="Aptos"/>
                </a:rPr>
                <a:t>Unverified vendor preference</a:t>
              </a:r>
            </a:p>
          </p:txBody>
        </p:sp>
        <p:sp>
          <p:nvSpPr>
            <p:cNvPr id="29" name="TextBox 29"/>
            <p:cNvSpPr txBox="1"/>
            <p:nvPr/>
          </p:nvSpPr>
          <p:spPr>
            <a:xfrm>
              <a:off x="6839902" y="3751421"/>
              <a:ext cx="3314105" cy="289560"/>
            </a:xfrm>
            <a:prstGeom prst="rect">
              <a:avLst/>
            </a:prstGeom>
            <a:noFill/>
            <a:ln>
              <a:noFill/>
            </a:ln>
          </p:spPr>
          <p:txBody>
            <a:bodyPr wrap="none" lIns="0" tIns="0" rIns="0" bIns="0" anchor="t" anchorCtr="0">
              <a:spAutoFit/>
            </a:bodyPr>
            <a:lstStyle/>
            <a:p>
              <a:pPr algn="l"/>
              <a:r>
                <a:rPr lang="zh-CN" sz="1425" dirty="0">
                  <a:solidFill>
                    <a:srgbClr val="A8B6C6"/>
                  </a:solidFill>
                  <a:latin typeface="Aptos"/>
                  <a:ea typeface="Microsoft YaHei"/>
                  <a:cs typeface="Aptos"/>
                </a:rPr>
                <a:t>Any blocked scope the judge toggles</a:t>
              </a:r>
            </a:p>
          </p:txBody>
        </p:sp>
        <p:sp>
          <p:nvSpPr>
            <p:cNvPr id="30" name="Freeform 30"/>
            <p:cNvSpPr/>
            <p:nvPr/>
          </p:nvSpPr>
          <p:spPr>
            <a:xfrm>
              <a:off x="6858000" y="4400550"/>
              <a:ext cx="3238500" cy="361950"/>
            </a:xfrm>
            <a:custGeom>
              <a:avLst/>
              <a:gdLst/>
              <a:ahLst/>
              <a:cxnLst/>
              <a:rect l="l" t="t" r="r" b="b"/>
              <a:pathLst>
                <a:path w="3238500" h="361950">
                  <a:moveTo>
                    <a:pt x="180975" y="0"/>
                  </a:moveTo>
                  <a:lnTo>
                    <a:pt x="3057525" y="0"/>
                  </a:lnTo>
                  <a:cubicBezTo>
                    <a:pt x="3157475" y="0"/>
                    <a:pt x="3238500" y="81025"/>
                    <a:pt x="3238500" y="180975"/>
                  </a:cubicBezTo>
                  <a:lnTo>
                    <a:pt x="3238500" y="180975"/>
                  </a:lnTo>
                  <a:cubicBezTo>
                    <a:pt x="3238500" y="280925"/>
                    <a:pt x="3157475" y="361950"/>
                    <a:pt x="3057525" y="361950"/>
                  </a:cubicBezTo>
                  <a:lnTo>
                    <a:pt x="180975" y="361950"/>
                  </a:lnTo>
                  <a:cubicBezTo>
                    <a:pt x="81025" y="361950"/>
                    <a:pt x="0" y="280925"/>
                    <a:pt x="0" y="180975"/>
                  </a:cubicBezTo>
                  <a:lnTo>
                    <a:pt x="0" y="180975"/>
                  </a:lnTo>
                  <a:cubicBezTo>
                    <a:pt x="0" y="81025"/>
                    <a:pt x="81025" y="0"/>
                    <a:pt x="180975" y="0"/>
                  </a:cubicBezTo>
                  <a:close/>
                </a:path>
              </a:pathLst>
            </a:custGeom>
            <a:solidFill>
              <a:srgbClr val="F7B955">
                <a:alpha val="14000"/>
              </a:srgbClr>
            </a:solidFill>
            <a:ln w="14288">
              <a:solidFill>
                <a:srgbClr val="F7B955"/>
              </a:solidFill>
            </a:ln>
          </p:spPr>
        </p:sp>
        <p:sp>
          <p:nvSpPr>
            <p:cNvPr id="31" name="TextBox 31"/>
            <p:cNvSpPr txBox="1"/>
            <p:nvPr/>
          </p:nvSpPr>
          <p:spPr>
            <a:xfrm>
              <a:off x="7035165" y="4515802"/>
              <a:ext cx="1832896" cy="213360"/>
            </a:xfrm>
            <a:prstGeom prst="rect">
              <a:avLst/>
            </a:prstGeom>
            <a:noFill/>
            <a:ln>
              <a:noFill/>
            </a:ln>
          </p:spPr>
          <p:txBody>
            <a:bodyPr wrap="none" lIns="0" tIns="0" rIns="0" bIns="0" anchor="t" anchorCtr="0">
              <a:spAutoFit/>
            </a:bodyPr>
            <a:lstStyle/>
            <a:p>
              <a:pPr algn="l"/>
              <a:r>
                <a:rPr lang="zh-CN" sz="1050" dirty="0">
                  <a:solidFill>
                    <a:srgbClr val="F7B955"/>
                  </a:solidFill>
                  <a:latin typeface="Consolas"/>
                  <a:ea typeface="Microsoft YaHei"/>
                  <a:cs typeface="Consolas"/>
                </a:rPr>
                <a:t>must be named, not leaked</a:t>
              </a:r>
            </a:p>
          </p:txBody>
        </p:sp>
      </p:grpSp>
      <p:grpSp>
        <p:nvGrpSpPr>
          <p:cNvPr id="38" name="Group 38"/>
          <p:cNvGrpSpPr/>
          <p:nvPr/>
        </p:nvGrpSpPr>
        <p:grpSpPr>
          <a:xfrm>
            <a:off x="5695950" y="1733550"/>
            <a:ext cx="800100" cy="3295650"/>
            <a:chOff x="5695950" y="1733550"/>
            <a:chExt cx="800100" cy="3295650"/>
          </a:xfrm>
        </p:grpSpPr>
        <p:sp>
          <p:nvSpPr>
            <p:cNvPr id="33" name="Line 33"/>
            <p:cNvSpPr/>
            <p:nvPr/>
          </p:nvSpPr>
          <p:spPr>
            <a:xfrm>
              <a:off x="6096000" y="1733550"/>
              <a:ext cx="9525" cy="3295650"/>
            </a:xfrm>
            <a:custGeom>
              <a:avLst/>
              <a:gdLst/>
              <a:ahLst/>
              <a:cxnLst/>
              <a:rect l="l" t="t" r="r" b="b"/>
              <a:pathLst>
                <a:path w="9525" h="3295650">
                  <a:moveTo>
                    <a:pt x="0" y="0"/>
                  </a:moveTo>
                  <a:lnTo>
                    <a:pt x="0" y="3295650"/>
                  </a:lnTo>
                </a:path>
              </a:pathLst>
            </a:custGeom>
            <a:noFill/>
            <a:ln w="19050">
              <a:solidFill>
                <a:srgbClr val="2B3A4B"/>
              </a:solidFill>
              <a:custDash>
                <a:ds d="400000" sp="400000"/>
              </a:custDash>
            </a:ln>
          </p:spPr>
        </p:sp>
        <p:sp>
          <p:nvSpPr>
            <p:cNvPr id="34" name="Ellipse 34"/>
            <p:cNvSpPr/>
            <p:nvPr/>
          </p:nvSpPr>
          <p:spPr>
            <a:xfrm>
              <a:off x="5695950" y="2952750"/>
              <a:ext cx="800100" cy="800100"/>
            </a:xfrm>
            <a:prstGeom prst="ellipse">
              <a:avLst/>
            </a:prstGeom>
            <a:solidFill>
              <a:srgbClr val="0B0F14"/>
            </a:solidFill>
            <a:ln w="19050">
              <a:solidFill>
                <a:srgbClr val="4EC5F1"/>
              </a:solidFill>
            </a:ln>
          </p:spPr>
        </p:sp>
        <p:grpSp>
          <p:nvGrpSpPr>
            <p:cNvPr id="37" name="Group 37"/>
            <p:cNvGrpSpPr/>
            <p:nvPr/>
          </p:nvGrpSpPr>
          <p:grpSpPr>
            <a:xfrm>
              <a:off x="5931701" y="3209925"/>
              <a:ext cx="310011" cy="285751"/>
              <a:chOff x="5931701" y="3209925"/>
              <a:chExt cx="310011" cy="285751"/>
            </a:xfrm>
          </p:grpSpPr>
          <p:sp>
            <p:nvSpPr>
              <p:cNvPr id="35" name="Freeform 35"/>
              <p:cNvSpPr/>
              <p:nvPr/>
            </p:nvSpPr>
            <p:spPr>
              <a:xfrm>
                <a:off x="5931701" y="3209925"/>
                <a:ext cx="310011" cy="283306"/>
              </a:xfrm>
              <a:custGeom>
                <a:avLst/>
                <a:gdLst/>
                <a:ahLst/>
                <a:cxnLst/>
                <a:rect l="l" t="t" r="r" b="b"/>
                <a:pathLst>
                  <a:path w="310011" h="283306">
                    <a:moveTo>
                      <a:pt x="155727" y="283306"/>
                    </a:moveTo>
                    <a:cubicBezTo>
                      <a:pt x="56277" y="252479"/>
                      <a:pt x="0" y="147517"/>
                      <a:pt x="29362" y="47625"/>
                    </a:cubicBezTo>
                    <a:cubicBezTo>
                      <a:pt x="78821" y="49888"/>
                      <a:pt x="127218" y="32807"/>
                      <a:pt x="164299" y="0"/>
                    </a:cubicBezTo>
                    <a:cubicBezTo>
                      <a:pt x="201381" y="32807"/>
                      <a:pt x="249778" y="49888"/>
                      <a:pt x="299237" y="47625"/>
                    </a:cubicBezTo>
                    <a:cubicBezTo>
                      <a:pt x="310011" y="84282"/>
                      <a:pt x="309513" y="123332"/>
                      <a:pt x="297808" y="159703"/>
                    </a:cubicBezTo>
                  </a:path>
                </a:pathLst>
              </a:custGeom>
              <a:noFill/>
              <a:ln w="19050">
                <a:solidFill>
                  <a:srgbClr val="4EC5F1"/>
                </a:solidFill>
              </a:ln>
            </p:spPr>
          </p:sp>
          <p:sp>
            <p:nvSpPr>
              <p:cNvPr id="36" name="Freeform 36"/>
              <p:cNvSpPr/>
              <p:nvPr/>
            </p:nvSpPr>
            <p:spPr>
              <a:xfrm>
                <a:off x="6143625" y="3432176"/>
                <a:ext cx="95250" cy="63500"/>
              </a:xfrm>
              <a:custGeom>
                <a:avLst/>
                <a:gdLst/>
                <a:ahLst/>
                <a:cxnLst/>
                <a:rect l="l" t="t" r="r" b="b"/>
                <a:pathLst>
                  <a:path w="95250" h="63500">
                    <a:moveTo>
                      <a:pt x="0" y="31750"/>
                    </a:moveTo>
                    <a:lnTo>
                      <a:pt x="31750" y="63500"/>
                    </a:lnTo>
                    <a:lnTo>
                      <a:pt x="95250" y="0"/>
                    </a:lnTo>
                  </a:path>
                </a:pathLst>
              </a:custGeom>
              <a:noFill/>
              <a:ln w="19050">
                <a:solidFill>
                  <a:srgbClr val="4EC5F1"/>
                </a:solidFill>
              </a:ln>
            </p:spPr>
          </p:sp>
        </p:grpSp>
      </p:grpSp>
      <p:grpSp>
        <p:nvGrpSpPr>
          <p:cNvPr id="42" name="Group 42"/>
          <p:cNvGrpSpPr/>
          <p:nvPr/>
        </p:nvGrpSpPr>
        <p:grpSpPr>
          <a:xfrm>
            <a:off x="1752600" y="5467350"/>
            <a:ext cx="8686800" cy="685800"/>
            <a:chOff x="1752600" y="5467350"/>
            <a:chExt cx="8686800" cy="685800"/>
          </a:xfrm>
        </p:grpSpPr>
        <p:sp>
          <p:nvSpPr>
            <p:cNvPr id="39" name="Freeform 39"/>
            <p:cNvSpPr/>
            <p:nvPr/>
          </p:nvSpPr>
          <p:spPr>
            <a:xfrm>
              <a:off x="1752600" y="5467350"/>
              <a:ext cx="8686800" cy="685800"/>
            </a:xfrm>
            <a:custGeom>
              <a:avLst/>
              <a:gdLst/>
              <a:ahLst/>
              <a:cxnLst/>
              <a:rect l="l" t="t" r="r" b="b"/>
              <a:pathLst>
                <a:path w="8686800" h="685800">
                  <a:moveTo>
                    <a:pt x="95250" y="0"/>
                  </a:moveTo>
                  <a:lnTo>
                    <a:pt x="8591550" y="0"/>
                  </a:lnTo>
                  <a:cubicBezTo>
                    <a:pt x="8644155" y="0"/>
                    <a:pt x="8686800" y="42645"/>
                    <a:pt x="8686800" y="95250"/>
                  </a:cubicBezTo>
                  <a:lnTo>
                    <a:pt x="8686800" y="590550"/>
                  </a:lnTo>
                  <a:cubicBezTo>
                    <a:pt x="8686800" y="643155"/>
                    <a:pt x="8644155" y="685800"/>
                    <a:pt x="8591550" y="685800"/>
                  </a:cubicBezTo>
                  <a:lnTo>
                    <a:pt x="95250" y="685800"/>
                  </a:lnTo>
                  <a:cubicBezTo>
                    <a:pt x="42645" y="685800"/>
                    <a:pt x="0" y="643155"/>
                    <a:pt x="0" y="590550"/>
                  </a:cubicBezTo>
                  <a:lnTo>
                    <a:pt x="0" y="95250"/>
                  </a:lnTo>
                  <a:cubicBezTo>
                    <a:pt x="0" y="42645"/>
                    <a:pt x="42645" y="0"/>
                    <a:pt x="95250" y="0"/>
                  </a:cubicBezTo>
                  <a:close/>
                </a:path>
              </a:pathLst>
            </a:custGeom>
            <a:solidFill>
              <a:srgbClr val="071018"/>
            </a:solidFill>
            <a:ln w="14288">
              <a:solidFill>
                <a:srgbClr val="2B3A4B"/>
              </a:solidFill>
            </a:ln>
          </p:spPr>
        </p:sp>
        <p:sp>
          <p:nvSpPr>
            <p:cNvPr id="40" name="TextBox 40"/>
            <p:cNvSpPr txBox="1"/>
            <p:nvPr/>
          </p:nvSpPr>
          <p:spPr>
            <a:xfrm>
              <a:off x="2076450" y="5610225"/>
              <a:ext cx="6139363" cy="304800"/>
            </a:xfrm>
            <a:prstGeom prst="rect">
              <a:avLst/>
            </a:prstGeom>
            <a:noFill/>
            <a:ln>
              <a:noFill/>
            </a:ln>
          </p:spPr>
          <p:txBody>
            <a:bodyPr wrap="none" lIns="0" tIns="0" rIns="0" bIns="0" anchor="t" anchorCtr="0">
              <a:spAutoFit/>
            </a:bodyPr>
            <a:lstStyle/>
            <a:p>
              <a:pPr algn="l"/>
              <a:r>
                <a:rPr lang="zh-CN" sz="1500" b="1" dirty="0">
                  <a:solidFill>
                    <a:srgbClr val="EAF1F7"/>
                  </a:solidFill>
                  <a:latin typeface="Aptos"/>
                  <a:ea typeface="Microsoft YaHei"/>
                  <a:cs typeface="Aptos"/>
                </a:rPr>
                <a:t>The user decides what survives before any successor runs.</a:t>
              </a:r>
            </a:p>
          </p:txBody>
        </p:sp>
        <p:sp>
          <p:nvSpPr>
            <p:cNvPr id="41" name="TextBox 41"/>
            <p:cNvSpPr txBox="1"/>
            <p:nvPr/>
          </p:nvSpPr>
          <p:spPr>
            <a:xfrm>
              <a:off x="2080260" y="5890260"/>
              <a:ext cx="4703064" cy="243840"/>
            </a:xfrm>
            <a:prstGeom prst="rect">
              <a:avLst/>
            </a:prstGeom>
            <a:noFill/>
            <a:ln>
              <a:noFill/>
            </a:ln>
          </p:spPr>
          <p:txBody>
            <a:bodyPr wrap="none" lIns="0" tIns="0" rIns="0" bIns="0" anchor="t" anchorCtr="0">
              <a:spAutoFit/>
            </a:bodyPr>
            <a:lstStyle/>
            <a:p>
              <a:pPr algn="l"/>
              <a:r>
                <a:rPr lang="zh-CN" sz="1200" dirty="0">
                  <a:solidFill>
                    <a:srgbClr val="A8B6C6"/>
                  </a:solidFill>
                  <a:latin typeface="Aptos"/>
                  <a:ea typeface="Microsoft YaHei"/>
                  <a:cs typeface="Aptos"/>
                </a:rPr>
                <a:t>That is the product difference from a saved chat summary.</a:t>
              </a:r>
            </a:p>
          </p:txBody>
        </p:sp>
      </p:grpSp>
    </p:spTree>
  </p:cSld>
  <p:clrMapOvr>
    <a:masterClrMapping/>
  </p:clrMapOvr>
  <p:transition xmlns:p14="http://schemas.microsoft.com/office/powerpoint/2010/main" p14:dur="35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0F14"/>
            </a:solidFill>
            <a:ln>
              <a:noFill/>
            </a:ln>
          </p:spPr>
        </p:sp>
        <p:sp>
          <p:nvSpPr>
            <p:cNvPr id="3" name="Rectangle 3"/>
            <p:cNvSpPr/>
            <p:nvPr/>
          </p:nvSpPr>
          <p:spPr>
            <a:xfrm>
              <a:off x="0" y="0"/>
              <a:ext cx="12192000" cy="6858000"/>
            </a:xfrm>
            <a:prstGeom prst="rect">
              <a:avLst/>
            </a:prstGeom>
            <a:gradFill>
              <a:gsLst>
                <a:gs pos="0">
                  <a:srgbClr val="4EC5F1">
                    <a:alpha val="18000"/>
                  </a:srgbClr>
                </a:gs>
                <a:gs pos="54000">
                  <a:srgbClr val="73F0B8">
                    <a:alpha val="9000"/>
                  </a:srgbClr>
                </a:gs>
                <a:gs pos="100000">
                  <a:srgbClr val="F7B955">
                    <a:alpha val="8000"/>
                  </a:srgbClr>
                </a:gs>
              </a:gsLst>
              <a:lin ang="2700000" scaled="1"/>
            </a:gradFill>
            <a:ln>
              <a:noFill/>
            </a:ln>
          </p:spPr>
        </p:sp>
        <p:sp>
          <p:nvSpPr>
            <p:cNvPr id="4" name="Freeform 4"/>
            <p:cNvSpPr/>
            <p:nvPr/>
          </p:nvSpPr>
          <p:spPr>
            <a:xfrm>
              <a:off x="533400" y="1047750"/>
              <a:ext cx="11125200" cy="4800600"/>
            </a:xfrm>
            <a:custGeom>
              <a:avLst/>
              <a:gdLst/>
              <a:ahLst/>
              <a:cxnLst/>
              <a:rect l="l" t="t" r="r" b="b"/>
              <a:pathLst>
                <a:path w="11125200" h="4800600">
                  <a:moveTo>
                    <a:pt x="0" y="0"/>
                  </a:moveTo>
                  <a:lnTo>
                    <a:pt x="11125200" y="0"/>
                  </a:lnTo>
                  <a:moveTo>
                    <a:pt x="0" y="4800600"/>
                  </a:moveTo>
                  <a:lnTo>
                    <a:pt x="11125200" y="4800600"/>
                  </a:lnTo>
                </a:path>
              </a:pathLst>
            </a:custGeom>
            <a:solidFill>
              <a:srgbClr val="000000"/>
            </a:solidFill>
            <a:ln w="14288">
              <a:solidFill>
                <a:srgbClr val="223143">
                  <a:alpha val="82000"/>
                </a:srgbClr>
              </a:solidFill>
            </a:ln>
          </p:spPr>
        </p:sp>
        <p:sp>
          <p:nvSpPr>
            <p:cNvPr id="5" name="Freeform 5"/>
            <p:cNvSpPr/>
            <p:nvPr/>
          </p:nvSpPr>
          <p:spPr>
            <a:xfrm>
              <a:off x="1219200" y="1524000"/>
              <a:ext cx="8229600" cy="3943350"/>
            </a:xfrm>
            <a:custGeom>
              <a:avLst/>
              <a:gdLst/>
              <a:ahLst/>
              <a:cxnLst/>
              <a:rect l="l" t="t" r="r" b="b"/>
              <a:pathLst>
                <a:path w="8229600" h="3943350">
                  <a:moveTo>
                    <a:pt x="0" y="0"/>
                  </a:moveTo>
                  <a:lnTo>
                    <a:pt x="0" y="3943350"/>
                  </a:lnTo>
                  <a:moveTo>
                    <a:pt x="2743200" y="0"/>
                  </a:moveTo>
                  <a:lnTo>
                    <a:pt x="2743200" y="3943350"/>
                  </a:lnTo>
                  <a:moveTo>
                    <a:pt x="5486400" y="0"/>
                  </a:moveTo>
                  <a:lnTo>
                    <a:pt x="5486400" y="3943350"/>
                  </a:lnTo>
                  <a:moveTo>
                    <a:pt x="8229600" y="0"/>
                  </a:moveTo>
                  <a:lnTo>
                    <a:pt x="8229600" y="3943350"/>
                  </a:lnTo>
                </a:path>
              </a:pathLst>
            </a:custGeom>
            <a:solidFill>
              <a:srgbClr val="000000"/>
            </a:solidFill>
            <a:ln w="9525">
              <a:solidFill>
                <a:srgbClr val="223143">
                  <a:alpha val="28000"/>
                </a:srgbClr>
              </a:solidFill>
            </a:ln>
          </p:spPr>
        </p:sp>
      </p:grpSp>
      <p:grpSp>
        <p:nvGrpSpPr>
          <p:cNvPr id="10" name="Group 10"/>
          <p:cNvGrpSpPr/>
          <p:nvPr/>
        </p:nvGrpSpPr>
        <p:grpSpPr>
          <a:xfrm>
            <a:off x="495300" y="439102"/>
            <a:ext cx="11176635" cy="1027748"/>
            <a:chOff x="495300" y="439102"/>
            <a:chExt cx="11176635" cy="1027748"/>
          </a:xfrm>
        </p:grpSpPr>
        <p:sp>
          <p:nvSpPr>
            <p:cNvPr id="7" name="TextBox 7"/>
            <p:cNvSpPr txBox="1"/>
            <p:nvPr/>
          </p:nvSpPr>
          <p:spPr>
            <a:xfrm>
              <a:off x="520065" y="439102"/>
              <a:ext cx="1258824" cy="213360"/>
            </a:xfrm>
            <a:prstGeom prst="rect">
              <a:avLst/>
            </a:prstGeom>
            <a:noFill/>
            <a:ln>
              <a:noFill/>
            </a:ln>
          </p:spPr>
          <p:txBody>
            <a:bodyPr wrap="none" lIns="0" tIns="0" rIns="0" bIns="0" anchor="t" anchorCtr="0">
              <a:spAutoFit/>
            </a:bodyPr>
            <a:lstStyle/>
            <a:p>
              <a:pPr algn="l"/>
              <a:r>
                <a:rPr lang="zh-CN" sz="1050" dirty="0">
                  <a:solidFill>
                    <a:srgbClr val="A8B6C6"/>
                  </a:solidFill>
                  <a:latin typeface="Consolas"/>
                  <a:ea typeface="Microsoft YaHei"/>
                  <a:cs typeface="Consolas"/>
                </a:rPr>
                <a:t>LIVE RUN SEQUENCE</a:t>
              </a:r>
            </a:p>
          </p:txBody>
        </p:sp>
        <p:sp>
          <p:nvSpPr>
            <p:cNvPr id="8" name="TextBox 8"/>
            <p:cNvSpPr txBox="1"/>
            <p:nvPr/>
          </p:nvSpPr>
          <p:spPr>
            <a:xfrm>
              <a:off x="11176206" y="439102"/>
              <a:ext cx="495729" cy="213360"/>
            </a:xfrm>
            <a:prstGeom prst="rect">
              <a:avLst/>
            </a:prstGeom>
            <a:noFill/>
            <a:ln>
              <a:noFill/>
            </a:ln>
          </p:spPr>
          <p:txBody>
            <a:bodyPr wrap="none" lIns="0" tIns="0" rIns="0" bIns="0" anchor="t" anchorCtr="0">
              <a:spAutoFit/>
            </a:bodyPr>
            <a:lstStyle/>
            <a:p>
              <a:pPr algn="r"/>
              <a:r>
                <a:rPr lang="zh-CN" sz="1050" dirty="0">
                  <a:solidFill>
                    <a:srgbClr val="667789"/>
                  </a:solidFill>
                  <a:latin typeface="Consolas"/>
                  <a:ea typeface="Microsoft YaHei"/>
                  <a:cs typeface="Consolas"/>
                </a:rPr>
                <a:t>03 / 06</a:t>
              </a:r>
            </a:p>
          </p:txBody>
        </p:sp>
        <p:sp>
          <p:nvSpPr>
            <p:cNvPr id="9" name="TextBox 9"/>
            <p:cNvSpPr txBox="1"/>
            <p:nvPr/>
          </p:nvSpPr>
          <p:spPr>
            <a:xfrm>
              <a:off x="495300" y="857250"/>
              <a:ext cx="8687276" cy="609600"/>
            </a:xfrm>
            <a:prstGeom prst="rect">
              <a:avLst/>
            </a:prstGeom>
            <a:noFill/>
            <a:ln>
              <a:noFill/>
            </a:ln>
          </p:spPr>
          <p:txBody>
            <a:bodyPr wrap="none" lIns="0" tIns="0" rIns="0" bIns="0" anchor="t" anchorCtr="0">
              <a:spAutoFit/>
            </a:bodyPr>
            <a:lstStyle/>
            <a:p>
              <a:pPr algn="l"/>
              <a:r>
                <a:rPr lang="zh-CN" sz="3000" b="1" dirty="0">
                  <a:solidFill>
                    <a:srgbClr val="EAF1F7"/>
                  </a:solidFill>
                  <a:latin typeface="Aptos Display"/>
                  <a:ea typeface="Microsoft YaHei"/>
                  <a:cs typeface="Aptos Display"/>
                </a:rPr>
                <a:t>The demo is one recoverable product loop.</a:t>
              </a:r>
            </a:p>
          </p:txBody>
        </p:sp>
      </p:grpSp>
      <p:grpSp>
        <p:nvGrpSpPr>
          <p:cNvPr id="27" name="Group 27"/>
          <p:cNvGrpSpPr/>
          <p:nvPr/>
        </p:nvGrpSpPr>
        <p:grpSpPr>
          <a:xfrm>
            <a:off x="1543050" y="3181350"/>
            <a:ext cx="8229600" cy="342900"/>
            <a:chOff x="1543050" y="3181350"/>
            <a:chExt cx="8229600" cy="342900"/>
          </a:xfrm>
        </p:grpSpPr>
        <p:sp>
          <p:nvSpPr>
            <p:cNvPr id="11" name="Freeform 11"/>
            <p:cNvSpPr/>
            <p:nvPr/>
          </p:nvSpPr>
          <p:spPr>
            <a:xfrm>
              <a:off x="1543050" y="3352800"/>
              <a:ext cx="8229600" cy="9525"/>
            </a:xfrm>
            <a:custGeom>
              <a:avLst/>
              <a:gdLst/>
              <a:ahLst/>
              <a:cxnLst/>
              <a:rect l="l" t="t" r="r" b="b"/>
              <a:pathLst>
                <a:path w="8229600" h="9525">
                  <a:moveTo>
                    <a:pt x="0" y="0"/>
                  </a:moveTo>
                  <a:lnTo>
                    <a:pt x="1828800" y="0"/>
                  </a:lnTo>
                  <a:moveTo>
                    <a:pt x="2133600" y="0"/>
                  </a:moveTo>
                  <a:lnTo>
                    <a:pt x="3962400" y="0"/>
                  </a:lnTo>
                  <a:moveTo>
                    <a:pt x="4267200" y="0"/>
                  </a:moveTo>
                  <a:lnTo>
                    <a:pt x="6096000" y="0"/>
                  </a:lnTo>
                  <a:moveTo>
                    <a:pt x="6400800" y="0"/>
                  </a:moveTo>
                  <a:lnTo>
                    <a:pt x="8229600" y="0"/>
                  </a:lnTo>
                </a:path>
              </a:pathLst>
            </a:custGeom>
            <a:solidFill>
              <a:srgbClr val="000000"/>
            </a:solidFill>
            <a:ln w="47625" cap="rnd">
              <a:solidFill>
                <a:srgbClr val="4EC5F1"/>
              </a:solidFill>
            </a:ln>
          </p:spPr>
        </p:sp>
        <p:sp>
          <p:nvSpPr>
            <p:cNvPr id="12" name="Ellipse 12"/>
            <p:cNvSpPr/>
            <p:nvPr/>
          </p:nvSpPr>
          <p:spPr>
            <a:xfrm>
              <a:off x="3352800" y="3181350"/>
              <a:ext cx="342900" cy="342900"/>
            </a:xfrm>
            <a:prstGeom prst="ellipse">
              <a:avLst/>
            </a:prstGeom>
            <a:solidFill>
              <a:srgbClr val="0B0F14"/>
            </a:solidFill>
            <a:ln w="28575">
              <a:solidFill>
                <a:srgbClr val="4EC5F1"/>
              </a:solidFill>
            </a:ln>
          </p:spPr>
        </p:sp>
        <p:grpSp>
          <p:nvGrpSpPr>
            <p:cNvPr id="16" name="Group 16"/>
            <p:cNvGrpSpPr/>
            <p:nvPr/>
          </p:nvGrpSpPr>
          <p:grpSpPr>
            <a:xfrm>
              <a:off x="3457575" y="3295650"/>
              <a:ext cx="133350" cy="114300"/>
              <a:chOff x="3457575" y="3295650"/>
              <a:chExt cx="133350" cy="114300"/>
            </a:xfrm>
          </p:grpSpPr>
          <p:sp>
            <p:nvSpPr>
              <p:cNvPr id="13" name="Freeform 13"/>
              <p:cNvSpPr/>
              <p:nvPr/>
            </p:nvSpPr>
            <p:spPr>
              <a:xfrm>
                <a:off x="3457575" y="3352800"/>
                <a:ext cx="133350" cy="9525"/>
              </a:xfrm>
              <a:custGeom>
                <a:avLst/>
                <a:gdLst/>
                <a:ahLst/>
                <a:cxnLst/>
                <a:rect l="l" t="t" r="r" b="b"/>
                <a:pathLst>
                  <a:path w="133350" h="9525">
                    <a:moveTo>
                      <a:pt x="0" y="0"/>
                    </a:moveTo>
                    <a:lnTo>
                      <a:pt x="133350" y="0"/>
                    </a:lnTo>
                  </a:path>
                </a:pathLst>
              </a:custGeom>
              <a:noFill/>
              <a:ln w="19050">
                <a:solidFill>
                  <a:srgbClr val="4EC5F1"/>
                </a:solidFill>
              </a:ln>
            </p:spPr>
          </p:sp>
          <p:sp>
            <p:nvSpPr>
              <p:cNvPr id="14" name="Freeform 14"/>
              <p:cNvSpPr/>
              <p:nvPr/>
            </p:nvSpPr>
            <p:spPr>
              <a:xfrm>
                <a:off x="3533775" y="3352800"/>
                <a:ext cx="57150" cy="57150"/>
              </a:xfrm>
              <a:custGeom>
                <a:avLst/>
                <a:gdLst/>
                <a:ahLst/>
                <a:cxnLst/>
                <a:rect l="l" t="t" r="r" b="b"/>
                <a:pathLst>
                  <a:path w="57150" h="57150">
                    <a:moveTo>
                      <a:pt x="0" y="57150"/>
                    </a:moveTo>
                    <a:lnTo>
                      <a:pt x="57150" y="0"/>
                    </a:lnTo>
                  </a:path>
                </a:pathLst>
              </a:custGeom>
              <a:noFill/>
              <a:ln w="19050">
                <a:solidFill>
                  <a:srgbClr val="4EC5F1"/>
                </a:solidFill>
              </a:ln>
            </p:spPr>
          </p:sp>
          <p:sp>
            <p:nvSpPr>
              <p:cNvPr id="15" name="Freeform 15"/>
              <p:cNvSpPr/>
              <p:nvPr/>
            </p:nvSpPr>
            <p:spPr>
              <a:xfrm>
                <a:off x="3533775" y="3295650"/>
                <a:ext cx="57150" cy="57150"/>
              </a:xfrm>
              <a:custGeom>
                <a:avLst/>
                <a:gdLst/>
                <a:ahLst/>
                <a:cxnLst/>
                <a:rect l="l" t="t" r="r" b="b"/>
                <a:pathLst>
                  <a:path w="57150" h="57150">
                    <a:moveTo>
                      <a:pt x="0" y="0"/>
                    </a:moveTo>
                    <a:lnTo>
                      <a:pt x="57150" y="57150"/>
                    </a:lnTo>
                  </a:path>
                </a:pathLst>
              </a:custGeom>
              <a:noFill/>
              <a:ln w="19050">
                <a:solidFill>
                  <a:srgbClr val="4EC5F1"/>
                </a:solidFill>
              </a:ln>
            </p:spPr>
          </p:sp>
        </p:grpSp>
        <p:sp>
          <p:nvSpPr>
            <p:cNvPr id="17" name="Ellipse 17"/>
            <p:cNvSpPr/>
            <p:nvPr/>
          </p:nvSpPr>
          <p:spPr>
            <a:xfrm>
              <a:off x="5486400" y="3181350"/>
              <a:ext cx="342900" cy="342900"/>
            </a:xfrm>
            <a:prstGeom prst="ellipse">
              <a:avLst/>
            </a:prstGeom>
            <a:solidFill>
              <a:srgbClr val="0B0F14"/>
            </a:solidFill>
            <a:ln w="28575">
              <a:solidFill>
                <a:srgbClr val="4EC5F1"/>
              </a:solidFill>
            </a:ln>
          </p:spPr>
        </p:sp>
        <p:grpSp>
          <p:nvGrpSpPr>
            <p:cNvPr id="21" name="Group 21"/>
            <p:cNvGrpSpPr/>
            <p:nvPr/>
          </p:nvGrpSpPr>
          <p:grpSpPr>
            <a:xfrm>
              <a:off x="5591175" y="3295650"/>
              <a:ext cx="133350" cy="114300"/>
              <a:chOff x="5591175" y="3295650"/>
              <a:chExt cx="133350" cy="114300"/>
            </a:xfrm>
          </p:grpSpPr>
          <p:sp>
            <p:nvSpPr>
              <p:cNvPr id="18" name="Freeform 18"/>
              <p:cNvSpPr/>
              <p:nvPr/>
            </p:nvSpPr>
            <p:spPr>
              <a:xfrm>
                <a:off x="5591175" y="3352800"/>
                <a:ext cx="133350" cy="9525"/>
              </a:xfrm>
              <a:custGeom>
                <a:avLst/>
                <a:gdLst/>
                <a:ahLst/>
                <a:cxnLst/>
                <a:rect l="l" t="t" r="r" b="b"/>
                <a:pathLst>
                  <a:path w="133350" h="9525">
                    <a:moveTo>
                      <a:pt x="0" y="0"/>
                    </a:moveTo>
                    <a:lnTo>
                      <a:pt x="133350" y="0"/>
                    </a:lnTo>
                  </a:path>
                </a:pathLst>
              </a:custGeom>
              <a:noFill/>
              <a:ln w="19050">
                <a:solidFill>
                  <a:srgbClr val="4EC5F1"/>
                </a:solidFill>
              </a:ln>
            </p:spPr>
          </p:sp>
          <p:sp>
            <p:nvSpPr>
              <p:cNvPr id="19" name="Freeform 19"/>
              <p:cNvSpPr/>
              <p:nvPr/>
            </p:nvSpPr>
            <p:spPr>
              <a:xfrm>
                <a:off x="5667375" y="3352800"/>
                <a:ext cx="57150" cy="57150"/>
              </a:xfrm>
              <a:custGeom>
                <a:avLst/>
                <a:gdLst/>
                <a:ahLst/>
                <a:cxnLst/>
                <a:rect l="l" t="t" r="r" b="b"/>
                <a:pathLst>
                  <a:path w="57150" h="57150">
                    <a:moveTo>
                      <a:pt x="0" y="57150"/>
                    </a:moveTo>
                    <a:lnTo>
                      <a:pt x="57150" y="0"/>
                    </a:lnTo>
                  </a:path>
                </a:pathLst>
              </a:custGeom>
              <a:noFill/>
              <a:ln w="19050">
                <a:solidFill>
                  <a:srgbClr val="4EC5F1"/>
                </a:solidFill>
              </a:ln>
            </p:spPr>
          </p:sp>
          <p:sp>
            <p:nvSpPr>
              <p:cNvPr id="20" name="Freeform 20"/>
              <p:cNvSpPr/>
              <p:nvPr/>
            </p:nvSpPr>
            <p:spPr>
              <a:xfrm>
                <a:off x="5667375" y="3295650"/>
                <a:ext cx="57150" cy="57150"/>
              </a:xfrm>
              <a:custGeom>
                <a:avLst/>
                <a:gdLst/>
                <a:ahLst/>
                <a:cxnLst/>
                <a:rect l="l" t="t" r="r" b="b"/>
                <a:pathLst>
                  <a:path w="57150" h="57150">
                    <a:moveTo>
                      <a:pt x="0" y="0"/>
                    </a:moveTo>
                    <a:lnTo>
                      <a:pt x="57150" y="57150"/>
                    </a:lnTo>
                  </a:path>
                </a:pathLst>
              </a:custGeom>
              <a:noFill/>
              <a:ln w="19050">
                <a:solidFill>
                  <a:srgbClr val="4EC5F1"/>
                </a:solidFill>
              </a:ln>
            </p:spPr>
          </p:sp>
        </p:grpSp>
        <p:sp>
          <p:nvSpPr>
            <p:cNvPr id="22" name="Ellipse 22"/>
            <p:cNvSpPr/>
            <p:nvPr/>
          </p:nvSpPr>
          <p:spPr>
            <a:xfrm>
              <a:off x="7620000" y="3181350"/>
              <a:ext cx="342900" cy="342900"/>
            </a:xfrm>
            <a:prstGeom prst="ellipse">
              <a:avLst/>
            </a:prstGeom>
            <a:solidFill>
              <a:srgbClr val="0B0F14"/>
            </a:solidFill>
            <a:ln w="28575">
              <a:solidFill>
                <a:srgbClr val="4EC5F1"/>
              </a:solidFill>
            </a:ln>
          </p:spPr>
        </p:sp>
        <p:grpSp>
          <p:nvGrpSpPr>
            <p:cNvPr id="26" name="Group 26"/>
            <p:cNvGrpSpPr/>
            <p:nvPr/>
          </p:nvGrpSpPr>
          <p:grpSpPr>
            <a:xfrm>
              <a:off x="7724775" y="3295650"/>
              <a:ext cx="133350" cy="114300"/>
              <a:chOff x="7724775" y="3295650"/>
              <a:chExt cx="133350" cy="114300"/>
            </a:xfrm>
          </p:grpSpPr>
          <p:sp>
            <p:nvSpPr>
              <p:cNvPr id="23" name="Freeform 23"/>
              <p:cNvSpPr/>
              <p:nvPr/>
            </p:nvSpPr>
            <p:spPr>
              <a:xfrm>
                <a:off x="7724775" y="3352800"/>
                <a:ext cx="133350" cy="9525"/>
              </a:xfrm>
              <a:custGeom>
                <a:avLst/>
                <a:gdLst/>
                <a:ahLst/>
                <a:cxnLst/>
                <a:rect l="l" t="t" r="r" b="b"/>
                <a:pathLst>
                  <a:path w="133350" h="9525">
                    <a:moveTo>
                      <a:pt x="0" y="0"/>
                    </a:moveTo>
                    <a:lnTo>
                      <a:pt x="133350" y="0"/>
                    </a:lnTo>
                  </a:path>
                </a:pathLst>
              </a:custGeom>
              <a:noFill/>
              <a:ln w="19050">
                <a:solidFill>
                  <a:srgbClr val="4EC5F1"/>
                </a:solidFill>
              </a:ln>
            </p:spPr>
          </p:sp>
          <p:sp>
            <p:nvSpPr>
              <p:cNvPr id="24" name="Freeform 24"/>
              <p:cNvSpPr/>
              <p:nvPr/>
            </p:nvSpPr>
            <p:spPr>
              <a:xfrm>
                <a:off x="7800975" y="3352800"/>
                <a:ext cx="57150" cy="57150"/>
              </a:xfrm>
              <a:custGeom>
                <a:avLst/>
                <a:gdLst/>
                <a:ahLst/>
                <a:cxnLst/>
                <a:rect l="l" t="t" r="r" b="b"/>
                <a:pathLst>
                  <a:path w="57150" h="57150">
                    <a:moveTo>
                      <a:pt x="0" y="57150"/>
                    </a:moveTo>
                    <a:lnTo>
                      <a:pt x="57150" y="0"/>
                    </a:lnTo>
                  </a:path>
                </a:pathLst>
              </a:custGeom>
              <a:noFill/>
              <a:ln w="19050">
                <a:solidFill>
                  <a:srgbClr val="4EC5F1"/>
                </a:solidFill>
              </a:ln>
            </p:spPr>
          </p:sp>
          <p:sp>
            <p:nvSpPr>
              <p:cNvPr id="25" name="Freeform 25"/>
              <p:cNvSpPr/>
              <p:nvPr/>
            </p:nvSpPr>
            <p:spPr>
              <a:xfrm>
                <a:off x="7800975" y="3295650"/>
                <a:ext cx="57150" cy="57150"/>
              </a:xfrm>
              <a:custGeom>
                <a:avLst/>
                <a:gdLst/>
                <a:ahLst/>
                <a:cxnLst/>
                <a:rect l="l" t="t" r="r" b="b"/>
                <a:pathLst>
                  <a:path w="57150" h="57150">
                    <a:moveTo>
                      <a:pt x="0" y="0"/>
                    </a:moveTo>
                    <a:lnTo>
                      <a:pt x="57150" y="57150"/>
                    </a:lnTo>
                  </a:path>
                </a:pathLst>
              </a:custGeom>
              <a:noFill/>
              <a:ln w="19050">
                <a:solidFill>
                  <a:srgbClr val="4EC5F1"/>
                </a:solidFill>
              </a:ln>
            </p:spPr>
          </p:sp>
        </p:grpSp>
      </p:grpSp>
      <p:grpSp>
        <p:nvGrpSpPr>
          <p:cNvPr id="41" name="Group 41"/>
          <p:cNvGrpSpPr/>
          <p:nvPr/>
        </p:nvGrpSpPr>
        <p:grpSpPr>
          <a:xfrm>
            <a:off x="685800" y="1885950"/>
            <a:ext cx="2324100" cy="2724150"/>
            <a:chOff x="685800" y="1885950"/>
            <a:chExt cx="2324100" cy="2724150"/>
          </a:xfrm>
        </p:grpSpPr>
        <p:sp>
          <p:nvSpPr>
            <p:cNvPr id="28" name="Freeform 28"/>
            <p:cNvSpPr/>
            <p:nvPr/>
          </p:nvSpPr>
          <p:spPr>
            <a:xfrm>
              <a:off x="685800" y="1885950"/>
              <a:ext cx="2324100" cy="2724150"/>
            </a:xfrm>
            <a:custGeom>
              <a:avLst/>
              <a:gdLst/>
              <a:ahLst/>
              <a:cxnLst/>
              <a:rect l="l" t="t" r="r" b="b"/>
              <a:pathLst>
                <a:path w="2324100" h="2724150">
                  <a:moveTo>
                    <a:pt x="95250" y="0"/>
                  </a:moveTo>
                  <a:lnTo>
                    <a:pt x="2228850" y="0"/>
                  </a:lnTo>
                  <a:cubicBezTo>
                    <a:pt x="2281455" y="0"/>
                    <a:pt x="2324100" y="42645"/>
                    <a:pt x="2324100" y="95250"/>
                  </a:cubicBezTo>
                  <a:lnTo>
                    <a:pt x="2324100" y="2628900"/>
                  </a:lnTo>
                  <a:cubicBezTo>
                    <a:pt x="2324100" y="2681505"/>
                    <a:pt x="2281455" y="2724150"/>
                    <a:pt x="2228850" y="2724150"/>
                  </a:cubicBezTo>
                  <a:lnTo>
                    <a:pt x="95250" y="2724150"/>
                  </a:lnTo>
                  <a:cubicBezTo>
                    <a:pt x="42645" y="2724150"/>
                    <a:pt x="0" y="2681505"/>
                    <a:pt x="0" y="2628900"/>
                  </a:cubicBezTo>
                  <a:lnTo>
                    <a:pt x="0" y="95250"/>
                  </a:lnTo>
                  <a:cubicBezTo>
                    <a:pt x="0" y="42645"/>
                    <a:pt x="42645" y="0"/>
                    <a:pt x="95250" y="0"/>
                  </a:cubicBezTo>
                  <a:close/>
                </a:path>
              </a:pathLst>
            </a:custGeom>
            <a:solidFill>
              <a:srgbClr val="121A24"/>
            </a:solidFill>
            <a:ln w="19050">
              <a:solidFill>
                <a:srgbClr val="2B3A4B"/>
              </a:solidFill>
            </a:ln>
          </p:spPr>
        </p:sp>
        <p:sp>
          <p:nvSpPr>
            <p:cNvPr id="29" name="Ellipse 29"/>
            <p:cNvSpPr/>
            <p:nvPr/>
          </p:nvSpPr>
          <p:spPr>
            <a:xfrm>
              <a:off x="933450" y="2133600"/>
              <a:ext cx="647700" cy="647700"/>
            </a:xfrm>
            <a:prstGeom prst="ellipse">
              <a:avLst/>
            </a:prstGeom>
            <a:solidFill>
              <a:srgbClr val="F7B955">
                <a:alpha val="12000"/>
              </a:srgbClr>
            </a:solidFill>
            <a:ln w="19050">
              <a:solidFill>
                <a:srgbClr val="F7B955"/>
              </a:solidFill>
            </a:ln>
          </p:spPr>
        </p:sp>
        <p:grpSp>
          <p:nvGrpSpPr>
            <p:cNvPr id="35" name="Group 35"/>
            <p:cNvGrpSpPr/>
            <p:nvPr/>
          </p:nvGrpSpPr>
          <p:grpSpPr>
            <a:xfrm>
              <a:off x="1130300" y="2330450"/>
              <a:ext cx="254001" cy="254001"/>
              <a:chOff x="1130300" y="2330450"/>
              <a:chExt cx="254001" cy="254001"/>
            </a:xfrm>
          </p:grpSpPr>
          <p:sp>
            <p:nvSpPr>
              <p:cNvPr id="30" name="Freeform 30"/>
              <p:cNvSpPr/>
              <p:nvPr/>
            </p:nvSpPr>
            <p:spPr>
              <a:xfrm>
                <a:off x="1130300" y="2330450"/>
                <a:ext cx="254001" cy="254001"/>
              </a:xfrm>
              <a:custGeom>
                <a:avLst/>
                <a:gdLst/>
                <a:ahLst/>
                <a:cxnLst/>
                <a:rect l="l" t="t" r="r" b="b"/>
                <a:pathLst>
                  <a:path w="254001" h="254001">
                    <a:moveTo>
                      <a:pt x="127000" y="0"/>
                    </a:moveTo>
                    <a:cubicBezTo>
                      <a:pt x="197136" y="0"/>
                      <a:pt x="254001" y="53308"/>
                      <a:pt x="254001" y="119063"/>
                    </a:cubicBezTo>
                    <a:cubicBezTo>
                      <a:pt x="254001" y="149241"/>
                      <a:pt x="242015" y="176800"/>
                      <a:pt x="222250" y="197803"/>
                    </a:cubicBezTo>
                    <a:lnTo>
                      <a:pt x="222250" y="238125"/>
                    </a:lnTo>
                    <a:cubicBezTo>
                      <a:pt x="222250" y="246893"/>
                      <a:pt x="215143" y="254001"/>
                      <a:pt x="206375" y="254001"/>
                    </a:cubicBezTo>
                    <a:lnTo>
                      <a:pt x="47625" y="254001"/>
                    </a:lnTo>
                    <a:cubicBezTo>
                      <a:pt x="38858" y="254001"/>
                      <a:pt x="31750" y="246893"/>
                      <a:pt x="31750" y="238125"/>
                    </a:cubicBezTo>
                    <a:lnTo>
                      <a:pt x="31750" y="197803"/>
                    </a:lnTo>
                    <a:cubicBezTo>
                      <a:pt x="11986" y="176816"/>
                      <a:pt x="0" y="149257"/>
                      <a:pt x="0" y="119063"/>
                    </a:cubicBezTo>
                    <a:cubicBezTo>
                      <a:pt x="0" y="53308"/>
                      <a:pt x="56864" y="0"/>
                      <a:pt x="127000" y="0"/>
                    </a:cubicBezTo>
                  </a:path>
                </a:pathLst>
              </a:custGeom>
              <a:noFill/>
              <a:ln w="19050">
                <a:solidFill>
                  <a:srgbClr val="F7B955"/>
                </a:solidFill>
              </a:ln>
            </p:spPr>
          </p:sp>
          <p:sp>
            <p:nvSpPr>
              <p:cNvPr id="31" name="Freeform 31"/>
              <p:cNvSpPr/>
              <p:nvPr/>
            </p:nvSpPr>
            <p:spPr>
              <a:xfrm>
                <a:off x="1225550" y="2536826"/>
                <a:ext cx="9525" cy="47625"/>
              </a:xfrm>
              <a:custGeom>
                <a:avLst/>
                <a:gdLst/>
                <a:ahLst/>
                <a:cxnLst/>
                <a:rect l="l" t="t" r="r" b="b"/>
                <a:pathLst>
                  <a:path w="9525" h="47625">
                    <a:moveTo>
                      <a:pt x="0" y="0"/>
                    </a:moveTo>
                    <a:lnTo>
                      <a:pt x="0" y="47625"/>
                    </a:lnTo>
                  </a:path>
                </a:pathLst>
              </a:custGeom>
              <a:noFill/>
              <a:ln w="19050">
                <a:solidFill>
                  <a:srgbClr val="F7B955"/>
                </a:solidFill>
              </a:ln>
            </p:spPr>
          </p:sp>
          <p:sp>
            <p:nvSpPr>
              <p:cNvPr id="32" name="Freeform 32"/>
              <p:cNvSpPr/>
              <p:nvPr/>
            </p:nvSpPr>
            <p:spPr>
              <a:xfrm>
                <a:off x="1289050" y="2536826"/>
                <a:ext cx="9525" cy="47625"/>
              </a:xfrm>
              <a:custGeom>
                <a:avLst/>
                <a:gdLst/>
                <a:ahLst/>
                <a:cxnLst/>
                <a:rect l="l" t="t" r="r" b="b"/>
                <a:pathLst>
                  <a:path w="9525" h="47625">
                    <a:moveTo>
                      <a:pt x="0" y="0"/>
                    </a:moveTo>
                    <a:lnTo>
                      <a:pt x="0" y="47625"/>
                    </a:lnTo>
                  </a:path>
                </a:pathLst>
              </a:custGeom>
              <a:noFill/>
              <a:ln w="19050">
                <a:solidFill>
                  <a:srgbClr val="F7B955"/>
                </a:solidFill>
              </a:ln>
            </p:spPr>
          </p:sp>
          <p:sp>
            <p:nvSpPr>
              <p:cNvPr id="33" name="Freeform 33"/>
              <p:cNvSpPr/>
              <p:nvPr/>
            </p:nvSpPr>
            <p:spPr>
              <a:xfrm>
                <a:off x="1193800" y="2425700"/>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19050">
                <a:solidFill>
                  <a:srgbClr val="F7B955"/>
                </a:solidFill>
              </a:ln>
            </p:spPr>
          </p:sp>
          <p:sp>
            <p:nvSpPr>
              <p:cNvPr id="34" name="Freeform 34"/>
              <p:cNvSpPr/>
              <p:nvPr/>
            </p:nvSpPr>
            <p:spPr>
              <a:xfrm>
                <a:off x="1289050" y="2425700"/>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19050">
                <a:solidFill>
                  <a:srgbClr val="F7B955"/>
                </a:solidFill>
              </a:ln>
            </p:spPr>
          </p:sp>
        </p:grpSp>
        <p:sp>
          <p:nvSpPr>
            <p:cNvPr id="36" name="TextBox 36"/>
            <p:cNvSpPr txBox="1"/>
            <p:nvPr/>
          </p:nvSpPr>
          <p:spPr>
            <a:xfrm>
              <a:off x="978218" y="2999899"/>
              <a:ext cx="629341" cy="198120"/>
            </a:xfrm>
            <a:prstGeom prst="rect">
              <a:avLst/>
            </a:prstGeom>
            <a:noFill/>
            <a:ln>
              <a:noFill/>
            </a:ln>
          </p:spPr>
          <p:txBody>
            <a:bodyPr wrap="none" lIns="0" tIns="0" rIns="0" bIns="0" anchor="t" anchorCtr="0">
              <a:spAutoFit/>
            </a:bodyPr>
            <a:lstStyle/>
            <a:p>
              <a:pPr algn="l"/>
              <a:r>
                <a:rPr lang="zh-CN" sz="975" dirty="0">
                  <a:solidFill>
                    <a:srgbClr val="667789"/>
                  </a:solidFill>
                  <a:latin typeface="Consolas"/>
                  <a:ea typeface="Microsoft YaHei"/>
                  <a:cs typeface="Consolas"/>
                </a:rPr>
                <a:t>01 ACTION</a:t>
              </a:r>
            </a:p>
          </p:txBody>
        </p:sp>
        <p:sp>
          <p:nvSpPr>
            <p:cNvPr id="37" name="TextBox 37"/>
            <p:cNvSpPr txBox="1"/>
            <p:nvPr/>
          </p:nvSpPr>
          <p:spPr>
            <a:xfrm>
              <a:off x="964882" y="3210401"/>
              <a:ext cx="1327344" cy="411480"/>
            </a:xfrm>
            <a:prstGeom prst="rect">
              <a:avLst/>
            </a:prstGeom>
            <a:noFill/>
            <a:ln>
              <a:noFill/>
            </a:ln>
          </p:spPr>
          <p:txBody>
            <a:bodyPr wrap="none" lIns="0" tIns="0" rIns="0" bIns="0" anchor="t" anchorCtr="0">
              <a:spAutoFit/>
            </a:bodyPr>
            <a:lstStyle/>
            <a:p>
              <a:pPr algn="l"/>
              <a:r>
                <a:rPr lang="zh-CN" sz="2025" b="1" dirty="0">
                  <a:solidFill>
                    <a:srgbClr val="EAF1F7"/>
                  </a:solidFill>
                  <a:latin typeface="Aptos Display"/>
                  <a:ea typeface="Microsoft YaHei"/>
                  <a:cs typeface="Aptos Display"/>
                </a:rPr>
                <a:t>Kill Agent</a:t>
              </a:r>
            </a:p>
          </p:txBody>
        </p:sp>
        <p:sp>
          <p:nvSpPr>
            <p:cNvPr id="38" name="TextBox 38"/>
            <p:cNvSpPr txBox="1"/>
            <p:nvPr/>
          </p:nvSpPr>
          <p:spPr>
            <a:xfrm>
              <a:off x="974408" y="3691414"/>
              <a:ext cx="2004631" cy="259080"/>
            </a:xfrm>
            <a:prstGeom prst="rect">
              <a:avLst/>
            </a:prstGeom>
            <a:noFill/>
            <a:ln>
              <a:noFill/>
            </a:ln>
          </p:spPr>
          <p:txBody>
            <a:bodyPr wrap="none" lIns="0" tIns="0" rIns="0" bIns="0" anchor="t" anchorCtr="0">
              <a:spAutoFit/>
            </a:bodyPr>
            <a:lstStyle/>
            <a:p>
              <a:pPr algn="l"/>
              <a:r>
                <a:rPr lang="zh-CN" sz="1275" dirty="0">
                  <a:solidFill>
                    <a:srgbClr val="A8B6C6"/>
                  </a:solidFill>
                  <a:latin typeface="Aptos"/>
                  <a:ea typeface="Microsoft YaHei"/>
                  <a:cs typeface="Aptos"/>
                </a:rPr>
                <a:t>The predecessor stops.</a:t>
              </a:r>
            </a:p>
          </p:txBody>
        </p:sp>
        <p:sp>
          <p:nvSpPr>
            <p:cNvPr id="39" name="TextBox 39"/>
            <p:cNvSpPr txBox="1"/>
            <p:nvPr/>
          </p:nvSpPr>
          <p:spPr>
            <a:xfrm>
              <a:off x="974408" y="3939064"/>
              <a:ext cx="1953625" cy="259080"/>
            </a:xfrm>
            <a:prstGeom prst="rect">
              <a:avLst/>
            </a:prstGeom>
            <a:noFill/>
            <a:ln>
              <a:noFill/>
            </a:ln>
          </p:spPr>
          <p:txBody>
            <a:bodyPr wrap="none" lIns="0" tIns="0" rIns="0" bIns="0" anchor="t" anchorCtr="0">
              <a:spAutoFit/>
            </a:bodyPr>
            <a:lstStyle/>
            <a:p>
              <a:pPr algn="l"/>
              <a:r>
                <a:rPr lang="zh-CN" sz="1275" dirty="0">
                  <a:solidFill>
                    <a:srgbClr val="A8B6C6"/>
                  </a:solidFill>
                  <a:latin typeface="Aptos"/>
                  <a:ea typeface="Microsoft YaHei"/>
                  <a:cs typeface="Aptos"/>
                </a:rPr>
                <a:t>The judge chooses what</a:t>
              </a:r>
            </a:p>
          </p:txBody>
        </p:sp>
        <p:sp>
          <p:nvSpPr>
            <p:cNvPr id="40" name="TextBox 40"/>
            <p:cNvSpPr txBox="1"/>
            <p:nvPr/>
          </p:nvSpPr>
          <p:spPr>
            <a:xfrm>
              <a:off x="974408" y="4186714"/>
              <a:ext cx="1069515" cy="259080"/>
            </a:xfrm>
            <a:prstGeom prst="rect">
              <a:avLst/>
            </a:prstGeom>
            <a:noFill/>
            <a:ln>
              <a:noFill/>
            </a:ln>
          </p:spPr>
          <p:txBody>
            <a:bodyPr wrap="none" lIns="0" tIns="0" rIns="0" bIns="0" anchor="t" anchorCtr="0">
              <a:spAutoFit/>
            </a:bodyPr>
            <a:lstStyle/>
            <a:p>
              <a:pPr algn="l"/>
              <a:r>
                <a:rPr lang="zh-CN" sz="1275" dirty="0">
                  <a:solidFill>
                    <a:srgbClr val="A8B6C6"/>
                  </a:solidFill>
                  <a:latin typeface="Aptos"/>
                  <a:ea typeface="Microsoft YaHei"/>
                  <a:cs typeface="Aptos"/>
                </a:rPr>
                <a:t>can survive.</a:t>
              </a:r>
            </a:p>
          </p:txBody>
        </p:sp>
      </p:grpSp>
      <p:grpSp>
        <p:nvGrpSpPr>
          <p:cNvPr id="50" name="Group 50"/>
          <p:cNvGrpSpPr/>
          <p:nvPr/>
        </p:nvGrpSpPr>
        <p:grpSpPr>
          <a:xfrm>
            <a:off x="3429000" y="1885950"/>
            <a:ext cx="2633282" cy="2724150"/>
            <a:chOff x="3429000" y="1885950"/>
            <a:chExt cx="2633282" cy="2724150"/>
          </a:xfrm>
        </p:grpSpPr>
        <p:sp>
          <p:nvSpPr>
            <p:cNvPr id="42" name="Freeform 42"/>
            <p:cNvSpPr/>
            <p:nvPr/>
          </p:nvSpPr>
          <p:spPr>
            <a:xfrm>
              <a:off x="3429000" y="1885950"/>
              <a:ext cx="2324100" cy="2724150"/>
            </a:xfrm>
            <a:custGeom>
              <a:avLst/>
              <a:gdLst/>
              <a:ahLst/>
              <a:cxnLst/>
              <a:rect l="l" t="t" r="r" b="b"/>
              <a:pathLst>
                <a:path w="2324100" h="2724150">
                  <a:moveTo>
                    <a:pt x="95250" y="0"/>
                  </a:moveTo>
                  <a:lnTo>
                    <a:pt x="2228850" y="0"/>
                  </a:lnTo>
                  <a:cubicBezTo>
                    <a:pt x="2281455" y="0"/>
                    <a:pt x="2324100" y="42645"/>
                    <a:pt x="2324100" y="95250"/>
                  </a:cubicBezTo>
                  <a:lnTo>
                    <a:pt x="2324100" y="2628900"/>
                  </a:lnTo>
                  <a:cubicBezTo>
                    <a:pt x="2324100" y="2681505"/>
                    <a:pt x="2281455" y="2724150"/>
                    <a:pt x="2228850" y="2724150"/>
                  </a:cubicBezTo>
                  <a:lnTo>
                    <a:pt x="95250" y="2724150"/>
                  </a:lnTo>
                  <a:cubicBezTo>
                    <a:pt x="42645" y="2724150"/>
                    <a:pt x="0" y="2681505"/>
                    <a:pt x="0" y="2628900"/>
                  </a:cubicBezTo>
                  <a:lnTo>
                    <a:pt x="0" y="95250"/>
                  </a:lnTo>
                  <a:cubicBezTo>
                    <a:pt x="0" y="42645"/>
                    <a:pt x="42645" y="0"/>
                    <a:pt x="95250" y="0"/>
                  </a:cubicBezTo>
                  <a:close/>
                </a:path>
              </a:pathLst>
            </a:custGeom>
            <a:solidFill>
              <a:srgbClr val="121A24"/>
            </a:solidFill>
            <a:ln w="19050">
              <a:solidFill>
                <a:srgbClr val="4EC5F1"/>
              </a:solidFill>
            </a:ln>
          </p:spPr>
        </p:sp>
        <p:sp>
          <p:nvSpPr>
            <p:cNvPr id="43" name="Ellipse 43"/>
            <p:cNvSpPr/>
            <p:nvPr/>
          </p:nvSpPr>
          <p:spPr>
            <a:xfrm>
              <a:off x="3676650" y="2133600"/>
              <a:ext cx="647700" cy="647700"/>
            </a:xfrm>
            <a:prstGeom prst="ellipse">
              <a:avLst/>
            </a:prstGeom>
            <a:solidFill>
              <a:srgbClr val="4EC5F1">
                <a:alpha val="12000"/>
              </a:srgbClr>
            </a:solidFill>
            <a:ln w="19050">
              <a:solidFill>
                <a:srgbClr val="4EC5F1"/>
              </a:solidFill>
            </a:ln>
          </p:spPr>
        </p:sp>
        <p:sp>
          <p:nvSpPr>
            <p:cNvPr id="44" name="Freeform 44"/>
            <p:cNvSpPr/>
            <p:nvPr/>
          </p:nvSpPr>
          <p:spPr>
            <a:xfrm>
              <a:off x="3841750" y="2341404"/>
              <a:ext cx="317501" cy="211360"/>
            </a:xfrm>
            <a:custGeom>
              <a:avLst/>
              <a:gdLst/>
              <a:ahLst/>
              <a:cxnLst/>
              <a:rect l="l" t="t" r="r" b="b"/>
              <a:pathLst>
                <a:path w="317501" h="211360">
                  <a:moveTo>
                    <a:pt x="73930" y="211297"/>
                  </a:moveTo>
                  <a:cubicBezTo>
                    <a:pt x="33099" y="211297"/>
                    <a:pt x="0" y="179435"/>
                    <a:pt x="0" y="140129"/>
                  </a:cubicBezTo>
                  <a:cubicBezTo>
                    <a:pt x="0" y="100838"/>
                    <a:pt x="33099" y="68977"/>
                    <a:pt x="73930" y="68977"/>
                  </a:cubicBezTo>
                  <a:cubicBezTo>
                    <a:pt x="80169" y="41005"/>
                    <a:pt x="102410" y="18177"/>
                    <a:pt x="132271" y="9081"/>
                  </a:cubicBezTo>
                  <a:cubicBezTo>
                    <a:pt x="162116" y="0"/>
                    <a:pt x="195072" y="6017"/>
                    <a:pt x="218694" y="24956"/>
                  </a:cubicBezTo>
                  <a:cubicBezTo>
                    <a:pt x="242316" y="43847"/>
                    <a:pt x="253016" y="72692"/>
                    <a:pt x="246793" y="100664"/>
                  </a:cubicBezTo>
                  <a:lnTo>
                    <a:pt x="262510" y="100664"/>
                  </a:lnTo>
                  <a:cubicBezTo>
                    <a:pt x="292878" y="100664"/>
                    <a:pt x="317501" y="125429"/>
                    <a:pt x="317501" y="156004"/>
                  </a:cubicBezTo>
                  <a:cubicBezTo>
                    <a:pt x="317501" y="186595"/>
                    <a:pt x="292878" y="211360"/>
                    <a:pt x="262494" y="211360"/>
                  </a:cubicBezTo>
                  <a:lnTo>
                    <a:pt x="73930" y="211360"/>
                  </a:lnTo>
                </a:path>
              </a:pathLst>
            </a:custGeom>
            <a:noFill/>
            <a:ln w="19050">
              <a:solidFill>
                <a:srgbClr val="4EC5F1"/>
              </a:solidFill>
            </a:ln>
          </p:spPr>
        </p:sp>
        <p:sp>
          <p:nvSpPr>
            <p:cNvPr id="45" name="TextBox 45"/>
            <p:cNvSpPr txBox="1"/>
            <p:nvPr/>
          </p:nvSpPr>
          <p:spPr>
            <a:xfrm>
              <a:off x="3721418" y="2999899"/>
              <a:ext cx="1051893" cy="198120"/>
            </a:xfrm>
            <a:prstGeom prst="rect">
              <a:avLst/>
            </a:prstGeom>
            <a:noFill/>
            <a:ln>
              <a:noFill/>
            </a:ln>
          </p:spPr>
          <p:txBody>
            <a:bodyPr wrap="none" lIns="0" tIns="0" rIns="0" bIns="0" anchor="t" anchorCtr="0">
              <a:spAutoFit/>
            </a:bodyPr>
            <a:lstStyle/>
            <a:p>
              <a:pPr algn="l"/>
              <a:r>
                <a:rPr lang="zh-CN" sz="975" dirty="0">
                  <a:solidFill>
                    <a:srgbClr val="667789"/>
                  </a:solidFill>
                  <a:latin typeface="Consolas"/>
                  <a:ea typeface="Microsoft YaHei"/>
                  <a:cs typeface="Consolas"/>
                </a:rPr>
                <a:t>02 WALRUS WRITE</a:t>
              </a:r>
            </a:p>
          </p:txBody>
        </p:sp>
        <p:sp>
          <p:nvSpPr>
            <p:cNvPr id="46" name="TextBox 46"/>
            <p:cNvSpPr txBox="1"/>
            <p:nvPr/>
          </p:nvSpPr>
          <p:spPr>
            <a:xfrm>
              <a:off x="3708082" y="3210401"/>
              <a:ext cx="1384052" cy="411480"/>
            </a:xfrm>
            <a:prstGeom prst="rect">
              <a:avLst/>
            </a:prstGeom>
            <a:noFill/>
            <a:ln>
              <a:noFill/>
            </a:ln>
          </p:spPr>
          <p:txBody>
            <a:bodyPr wrap="none" lIns="0" tIns="0" rIns="0" bIns="0" anchor="t" anchorCtr="0">
              <a:spAutoFit/>
            </a:bodyPr>
            <a:lstStyle/>
            <a:p>
              <a:pPr algn="l"/>
              <a:r>
                <a:rPr lang="zh-CN" sz="2025" b="1" dirty="0">
                  <a:solidFill>
                    <a:srgbClr val="EAF1F7"/>
                  </a:solidFill>
                  <a:latin typeface="Aptos Display"/>
                  <a:ea typeface="Microsoft YaHei"/>
                  <a:cs typeface="Aptos Display"/>
                </a:rPr>
                <a:t>Store will</a:t>
              </a:r>
            </a:p>
          </p:txBody>
        </p:sp>
        <p:sp>
          <p:nvSpPr>
            <p:cNvPr id="47" name="TextBox 47"/>
            <p:cNvSpPr txBox="1"/>
            <p:nvPr/>
          </p:nvSpPr>
          <p:spPr>
            <a:xfrm>
              <a:off x="3717608" y="3691414"/>
              <a:ext cx="2344674" cy="259080"/>
            </a:xfrm>
            <a:prstGeom prst="rect">
              <a:avLst/>
            </a:prstGeom>
            <a:noFill/>
            <a:ln>
              <a:noFill/>
            </a:ln>
          </p:spPr>
          <p:txBody>
            <a:bodyPr wrap="none" lIns="0" tIns="0" rIns="0" bIns="0" anchor="t" anchorCtr="0">
              <a:spAutoFit/>
            </a:bodyPr>
            <a:lstStyle/>
            <a:p>
              <a:pPr algn="l"/>
              <a:r>
                <a:rPr lang="zh-CN" sz="1275" dirty="0">
                  <a:solidFill>
                    <a:srgbClr val="A8B6C6"/>
                  </a:solidFill>
                  <a:latin typeface="Aptos"/>
                  <a:ea typeface="Microsoft YaHei"/>
                  <a:cs typeface="Aptos"/>
                </a:rPr>
                <a:t>`/api/memory-wills` writes</a:t>
              </a:r>
            </a:p>
          </p:txBody>
        </p:sp>
        <p:sp>
          <p:nvSpPr>
            <p:cNvPr id="48" name="TextBox 48"/>
            <p:cNvSpPr txBox="1"/>
            <p:nvPr/>
          </p:nvSpPr>
          <p:spPr>
            <a:xfrm>
              <a:off x="3717608" y="3939064"/>
              <a:ext cx="1996130" cy="259080"/>
            </a:xfrm>
            <a:prstGeom prst="rect">
              <a:avLst/>
            </a:prstGeom>
            <a:noFill/>
            <a:ln>
              <a:noFill/>
            </a:ln>
          </p:spPr>
          <p:txBody>
            <a:bodyPr wrap="none" lIns="0" tIns="0" rIns="0" bIns="0" anchor="t" anchorCtr="0">
              <a:spAutoFit/>
            </a:bodyPr>
            <a:lstStyle/>
            <a:p>
              <a:pPr algn="l"/>
              <a:r>
                <a:rPr lang="zh-CN" sz="1275" dirty="0">
                  <a:solidFill>
                    <a:srgbClr val="A8B6C6"/>
                  </a:solidFill>
                  <a:latin typeface="Aptos"/>
                  <a:ea typeface="Microsoft YaHei"/>
                  <a:cs typeface="Aptos"/>
                </a:rPr>
                <a:t>the scoped JSON before</a:t>
              </a:r>
            </a:p>
          </p:txBody>
        </p:sp>
        <p:sp>
          <p:nvSpPr>
            <p:cNvPr id="49" name="TextBox 49"/>
            <p:cNvSpPr txBox="1"/>
            <p:nvPr/>
          </p:nvSpPr>
          <p:spPr>
            <a:xfrm>
              <a:off x="3717608" y="4186714"/>
              <a:ext cx="1639086" cy="259080"/>
            </a:xfrm>
            <a:prstGeom prst="rect">
              <a:avLst/>
            </a:prstGeom>
            <a:noFill/>
            <a:ln>
              <a:noFill/>
            </a:ln>
          </p:spPr>
          <p:txBody>
            <a:bodyPr wrap="none" lIns="0" tIns="0" rIns="0" bIns="0" anchor="t" anchorCtr="0">
              <a:spAutoFit/>
            </a:bodyPr>
            <a:lstStyle/>
            <a:p>
              <a:pPr algn="l"/>
              <a:r>
                <a:rPr lang="zh-CN" sz="1275" dirty="0">
                  <a:solidFill>
                    <a:srgbClr val="A8B6C6"/>
                  </a:solidFill>
                  <a:latin typeface="Aptos"/>
                  <a:ea typeface="Microsoft YaHei"/>
                  <a:cs typeface="Aptos"/>
                </a:rPr>
                <a:t>restore is enabled.</a:t>
              </a:r>
            </a:p>
          </p:txBody>
        </p:sp>
      </p:grpSp>
      <p:grpSp>
        <p:nvGrpSpPr>
          <p:cNvPr id="62" name="Group 62"/>
          <p:cNvGrpSpPr/>
          <p:nvPr/>
        </p:nvGrpSpPr>
        <p:grpSpPr>
          <a:xfrm>
            <a:off x="6172200" y="1885950"/>
            <a:ext cx="2499563" cy="2724150"/>
            <a:chOff x="6172200" y="1885950"/>
            <a:chExt cx="2499563" cy="2724150"/>
          </a:xfrm>
        </p:grpSpPr>
        <p:sp>
          <p:nvSpPr>
            <p:cNvPr id="51" name="Freeform 51"/>
            <p:cNvSpPr/>
            <p:nvPr/>
          </p:nvSpPr>
          <p:spPr>
            <a:xfrm>
              <a:off x="6172200" y="1885950"/>
              <a:ext cx="2324100" cy="2724150"/>
            </a:xfrm>
            <a:custGeom>
              <a:avLst/>
              <a:gdLst/>
              <a:ahLst/>
              <a:cxnLst/>
              <a:rect l="l" t="t" r="r" b="b"/>
              <a:pathLst>
                <a:path w="2324100" h="2724150">
                  <a:moveTo>
                    <a:pt x="95250" y="0"/>
                  </a:moveTo>
                  <a:lnTo>
                    <a:pt x="2228850" y="0"/>
                  </a:lnTo>
                  <a:cubicBezTo>
                    <a:pt x="2281455" y="0"/>
                    <a:pt x="2324100" y="42645"/>
                    <a:pt x="2324100" y="95250"/>
                  </a:cubicBezTo>
                  <a:lnTo>
                    <a:pt x="2324100" y="2628900"/>
                  </a:lnTo>
                  <a:cubicBezTo>
                    <a:pt x="2324100" y="2681505"/>
                    <a:pt x="2281455" y="2724150"/>
                    <a:pt x="2228850" y="2724150"/>
                  </a:cubicBezTo>
                  <a:lnTo>
                    <a:pt x="95250" y="2724150"/>
                  </a:lnTo>
                  <a:cubicBezTo>
                    <a:pt x="42645" y="2724150"/>
                    <a:pt x="0" y="2681505"/>
                    <a:pt x="0" y="2628900"/>
                  </a:cubicBezTo>
                  <a:lnTo>
                    <a:pt x="0" y="95250"/>
                  </a:lnTo>
                  <a:cubicBezTo>
                    <a:pt x="0" y="42645"/>
                    <a:pt x="42645" y="0"/>
                    <a:pt x="95250" y="0"/>
                  </a:cubicBezTo>
                  <a:close/>
                </a:path>
              </a:pathLst>
            </a:custGeom>
            <a:solidFill>
              <a:srgbClr val="121A24"/>
            </a:solidFill>
            <a:ln w="19050">
              <a:solidFill>
                <a:srgbClr val="73F0B8"/>
              </a:solidFill>
            </a:ln>
            <a:effectLst>
              <a:glow rad="38100">
                <a:srgbClr val="73F0B8">
                  <a:alpha val="28000"/>
                </a:srgbClr>
              </a:glow>
            </a:effectLst>
          </p:spPr>
        </p:sp>
        <p:sp>
          <p:nvSpPr>
            <p:cNvPr id="52" name="Ellipse 52"/>
            <p:cNvSpPr/>
            <p:nvPr/>
          </p:nvSpPr>
          <p:spPr>
            <a:xfrm>
              <a:off x="6419850" y="2133600"/>
              <a:ext cx="647700" cy="647700"/>
            </a:xfrm>
            <a:prstGeom prst="ellipse">
              <a:avLst/>
            </a:prstGeom>
            <a:solidFill>
              <a:srgbClr val="73F0B8">
                <a:alpha val="12000"/>
              </a:srgbClr>
            </a:solidFill>
            <a:ln w="19050">
              <a:solidFill>
                <a:srgbClr val="73F0B8"/>
              </a:solidFill>
            </a:ln>
          </p:spPr>
        </p:sp>
        <p:grpSp>
          <p:nvGrpSpPr>
            <p:cNvPr id="56" name="Group 56"/>
            <p:cNvGrpSpPr/>
            <p:nvPr/>
          </p:nvGrpSpPr>
          <p:grpSpPr>
            <a:xfrm>
              <a:off x="6600825" y="2314575"/>
              <a:ext cx="285751" cy="285751"/>
              <a:chOff x="6600825" y="2314575"/>
              <a:chExt cx="285751" cy="285751"/>
            </a:xfrm>
          </p:grpSpPr>
          <p:sp>
            <p:nvSpPr>
              <p:cNvPr id="53" name="Freeform 53"/>
              <p:cNvSpPr/>
              <p:nvPr/>
            </p:nvSpPr>
            <p:spPr>
              <a:xfrm>
                <a:off x="6600825" y="2536826"/>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19050">
                <a:solidFill>
                  <a:srgbClr val="73F0B8"/>
                </a:solidFill>
              </a:ln>
            </p:spPr>
          </p:sp>
          <p:sp>
            <p:nvSpPr>
              <p:cNvPr id="54" name="Freeform 54"/>
              <p:cNvSpPr/>
              <p:nvPr/>
            </p:nvSpPr>
            <p:spPr>
              <a:xfrm>
                <a:off x="6823076" y="2314575"/>
                <a:ext cx="63500" cy="63500"/>
              </a:xfrm>
              <a:custGeom>
                <a:avLst/>
                <a:gdLst/>
                <a:ahLst/>
                <a:cxnLst/>
                <a:rect l="l" t="t" r="r" b="b"/>
                <a:pathLst>
                  <a:path w="63500" h="63500">
                    <a:moveTo>
                      <a:pt x="31750" y="63500"/>
                    </a:moveTo>
                    <a:cubicBezTo>
                      <a:pt x="49285" y="63500"/>
                      <a:pt x="63500" y="49285"/>
                      <a:pt x="63500" y="31750"/>
                    </a:cubicBezTo>
                    <a:cubicBezTo>
                      <a:pt x="63500" y="14215"/>
                      <a:pt x="49285" y="0"/>
                      <a:pt x="31750" y="0"/>
                    </a:cubicBezTo>
                    <a:cubicBezTo>
                      <a:pt x="14215" y="0"/>
                      <a:pt x="0" y="14215"/>
                      <a:pt x="0" y="31750"/>
                    </a:cubicBezTo>
                    <a:cubicBezTo>
                      <a:pt x="0" y="49285"/>
                      <a:pt x="14215" y="63500"/>
                      <a:pt x="31750" y="63500"/>
                    </a:cubicBezTo>
                  </a:path>
                </a:pathLst>
              </a:custGeom>
              <a:noFill/>
              <a:ln w="19050">
                <a:solidFill>
                  <a:srgbClr val="73F0B8"/>
                </a:solidFill>
              </a:ln>
            </p:spPr>
          </p:sp>
          <p:sp>
            <p:nvSpPr>
              <p:cNvPr id="55" name="Freeform 55"/>
              <p:cNvSpPr/>
              <p:nvPr/>
            </p:nvSpPr>
            <p:spPr>
              <a:xfrm>
                <a:off x="6632575" y="2346325"/>
                <a:ext cx="238125" cy="222250"/>
              </a:xfrm>
              <a:custGeom>
                <a:avLst/>
                <a:gdLst/>
                <a:ahLst/>
                <a:cxnLst/>
                <a:rect l="l" t="t" r="r" b="b"/>
                <a:pathLst>
                  <a:path w="238125" h="222250">
                    <a:moveTo>
                      <a:pt x="95250" y="222250"/>
                    </a:moveTo>
                    <a:lnTo>
                      <a:pt x="182563" y="222250"/>
                    </a:lnTo>
                    <a:cubicBezTo>
                      <a:pt x="213249" y="222250"/>
                      <a:pt x="238125" y="197374"/>
                      <a:pt x="238125" y="166688"/>
                    </a:cubicBezTo>
                    <a:cubicBezTo>
                      <a:pt x="238125" y="136001"/>
                      <a:pt x="213249" y="111125"/>
                      <a:pt x="182563" y="111125"/>
                    </a:cubicBezTo>
                    <a:lnTo>
                      <a:pt x="55563" y="111125"/>
                    </a:lnTo>
                    <a:cubicBezTo>
                      <a:pt x="24876" y="111125"/>
                      <a:pt x="0" y="86249"/>
                      <a:pt x="0" y="55563"/>
                    </a:cubicBezTo>
                    <a:cubicBezTo>
                      <a:pt x="0" y="24876"/>
                      <a:pt x="24876" y="0"/>
                      <a:pt x="55563" y="0"/>
                    </a:cubicBezTo>
                    <a:lnTo>
                      <a:pt x="127000" y="0"/>
                    </a:lnTo>
                  </a:path>
                </a:pathLst>
              </a:custGeom>
              <a:noFill/>
              <a:ln w="19050">
                <a:solidFill>
                  <a:srgbClr val="73F0B8"/>
                </a:solidFill>
              </a:ln>
            </p:spPr>
          </p:sp>
        </p:grpSp>
        <p:sp>
          <p:nvSpPr>
            <p:cNvPr id="57" name="TextBox 57"/>
            <p:cNvSpPr txBox="1"/>
            <p:nvPr/>
          </p:nvSpPr>
          <p:spPr>
            <a:xfrm>
              <a:off x="6464618" y="2999899"/>
              <a:ext cx="986885" cy="198120"/>
            </a:xfrm>
            <a:prstGeom prst="rect">
              <a:avLst/>
            </a:prstGeom>
            <a:noFill/>
            <a:ln>
              <a:noFill/>
            </a:ln>
          </p:spPr>
          <p:txBody>
            <a:bodyPr wrap="none" lIns="0" tIns="0" rIns="0" bIns="0" anchor="t" anchorCtr="0">
              <a:spAutoFit/>
            </a:bodyPr>
            <a:lstStyle/>
            <a:p>
              <a:pPr algn="l"/>
              <a:r>
                <a:rPr lang="zh-CN" sz="975" dirty="0">
                  <a:solidFill>
                    <a:srgbClr val="667789"/>
                  </a:solidFill>
                  <a:latin typeface="Consolas"/>
                  <a:ea typeface="Microsoft YaHei"/>
                  <a:cs typeface="Consolas"/>
                </a:rPr>
                <a:t>03 WALRUS READ</a:t>
              </a:r>
            </a:p>
          </p:txBody>
        </p:sp>
        <p:sp>
          <p:nvSpPr>
            <p:cNvPr id="58" name="TextBox 58"/>
            <p:cNvSpPr txBox="1"/>
            <p:nvPr/>
          </p:nvSpPr>
          <p:spPr>
            <a:xfrm>
              <a:off x="6451282" y="3210401"/>
              <a:ext cx="2220481" cy="411480"/>
            </a:xfrm>
            <a:prstGeom prst="rect">
              <a:avLst/>
            </a:prstGeom>
            <a:noFill/>
            <a:ln>
              <a:noFill/>
            </a:ln>
          </p:spPr>
          <p:txBody>
            <a:bodyPr wrap="none" lIns="0" tIns="0" rIns="0" bIns="0" anchor="t" anchorCtr="0">
              <a:spAutoFit/>
            </a:bodyPr>
            <a:lstStyle/>
            <a:p>
              <a:pPr algn="l"/>
              <a:r>
                <a:rPr lang="zh-CN" sz="2025" b="1" dirty="0">
                  <a:solidFill>
                    <a:srgbClr val="EAF1F7"/>
                  </a:solidFill>
                  <a:latin typeface="Aptos Display"/>
                  <a:ea typeface="Microsoft YaHei"/>
                  <a:cs typeface="Aptos Display"/>
                </a:rPr>
                <a:t>Open successor</a:t>
              </a:r>
            </a:p>
          </p:txBody>
        </p:sp>
        <p:sp>
          <p:nvSpPr>
            <p:cNvPr id="59" name="TextBox 59"/>
            <p:cNvSpPr txBox="1"/>
            <p:nvPr/>
          </p:nvSpPr>
          <p:spPr>
            <a:xfrm>
              <a:off x="6460808" y="3691414"/>
              <a:ext cx="1919621" cy="259080"/>
            </a:xfrm>
            <a:prstGeom prst="rect">
              <a:avLst/>
            </a:prstGeom>
            <a:noFill/>
            <a:ln>
              <a:noFill/>
            </a:ln>
          </p:spPr>
          <p:txBody>
            <a:bodyPr wrap="none" lIns="0" tIns="0" rIns="0" bIns="0" anchor="t" anchorCtr="0">
              <a:spAutoFit/>
            </a:bodyPr>
            <a:lstStyle/>
            <a:p>
              <a:pPr algn="l"/>
              <a:r>
                <a:rPr lang="zh-CN" sz="1275" dirty="0">
                  <a:solidFill>
                    <a:srgbClr val="A8B6C6"/>
                  </a:solidFill>
                  <a:latin typeface="Aptos"/>
                  <a:ea typeface="Microsoft YaHei"/>
                  <a:cs typeface="Aptos"/>
                </a:rPr>
                <a:t>A cold successor reads</a:t>
              </a:r>
            </a:p>
          </p:txBody>
        </p:sp>
        <p:sp>
          <p:nvSpPr>
            <p:cNvPr id="60" name="TextBox 60"/>
            <p:cNvSpPr txBox="1"/>
            <p:nvPr/>
          </p:nvSpPr>
          <p:spPr>
            <a:xfrm>
              <a:off x="6460808" y="3939064"/>
              <a:ext cx="1911120" cy="259080"/>
            </a:xfrm>
            <a:prstGeom prst="rect">
              <a:avLst/>
            </a:prstGeom>
            <a:noFill/>
            <a:ln>
              <a:noFill/>
            </a:ln>
          </p:spPr>
          <p:txBody>
            <a:bodyPr wrap="none" lIns="0" tIns="0" rIns="0" bIns="0" anchor="t" anchorCtr="0">
              <a:spAutoFit/>
            </a:bodyPr>
            <a:lstStyle/>
            <a:p>
              <a:pPr algn="l"/>
              <a:r>
                <a:rPr lang="zh-CN" sz="1275" dirty="0">
                  <a:solidFill>
                    <a:srgbClr val="A8B6C6"/>
                  </a:solidFill>
                  <a:latin typeface="Aptos"/>
                  <a:ea typeface="Microsoft YaHei"/>
                  <a:cs typeface="Aptos"/>
                </a:rPr>
                <a:t>the Walrus blob before</a:t>
              </a:r>
            </a:p>
          </p:txBody>
        </p:sp>
        <p:sp>
          <p:nvSpPr>
            <p:cNvPr id="61" name="TextBox 61"/>
            <p:cNvSpPr txBox="1"/>
            <p:nvPr/>
          </p:nvSpPr>
          <p:spPr>
            <a:xfrm>
              <a:off x="6460808" y="4186714"/>
              <a:ext cx="1537073" cy="259080"/>
            </a:xfrm>
            <a:prstGeom prst="rect">
              <a:avLst/>
            </a:prstGeom>
            <a:noFill/>
            <a:ln>
              <a:noFill/>
            </a:ln>
          </p:spPr>
          <p:txBody>
            <a:bodyPr wrap="none" lIns="0" tIns="0" rIns="0" bIns="0" anchor="t" anchorCtr="0">
              <a:spAutoFit/>
            </a:bodyPr>
            <a:lstStyle/>
            <a:p>
              <a:pPr algn="l"/>
              <a:r>
                <a:rPr lang="zh-CN" sz="1275" dirty="0">
                  <a:solidFill>
                    <a:srgbClr val="A8B6C6"/>
                  </a:solidFill>
                  <a:latin typeface="Aptos"/>
                  <a:ea typeface="Microsoft YaHei"/>
                  <a:cs typeface="Aptos"/>
                </a:rPr>
                <a:t>producing output.</a:t>
              </a:r>
            </a:p>
          </p:txBody>
        </p:sp>
      </p:grpSp>
      <p:grpSp>
        <p:nvGrpSpPr>
          <p:cNvPr id="75" name="Group 75"/>
          <p:cNvGrpSpPr/>
          <p:nvPr/>
        </p:nvGrpSpPr>
        <p:grpSpPr>
          <a:xfrm>
            <a:off x="8915400" y="1885950"/>
            <a:ext cx="2497265" cy="2724150"/>
            <a:chOff x="8915400" y="1885950"/>
            <a:chExt cx="2497265" cy="2724150"/>
          </a:xfrm>
        </p:grpSpPr>
        <p:sp>
          <p:nvSpPr>
            <p:cNvPr id="63" name="Freeform 63"/>
            <p:cNvSpPr/>
            <p:nvPr/>
          </p:nvSpPr>
          <p:spPr>
            <a:xfrm>
              <a:off x="8915400" y="1885950"/>
              <a:ext cx="2324100" cy="2724150"/>
            </a:xfrm>
            <a:custGeom>
              <a:avLst/>
              <a:gdLst/>
              <a:ahLst/>
              <a:cxnLst/>
              <a:rect l="l" t="t" r="r" b="b"/>
              <a:pathLst>
                <a:path w="2324100" h="2724150">
                  <a:moveTo>
                    <a:pt x="95250" y="0"/>
                  </a:moveTo>
                  <a:lnTo>
                    <a:pt x="2228850" y="0"/>
                  </a:lnTo>
                  <a:cubicBezTo>
                    <a:pt x="2281455" y="0"/>
                    <a:pt x="2324100" y="42645"/>
                    <a:pt x="2324100" y="95250"/>
                  </a:cubicBezTo>
                  <a:lnTo>
                    <a:pt x="2324100" y="2628900"/>
                  </a:lnTo>
                  <a:cubicBezTo>
                    <a:pt x="2324100" y="2681505"/>
                    <a:pt x="2281455" y="2724150"/>
                    <a:pt x="2228850" y="2724150"/>
                  </a:cubicBezTo>
                  <a:lnTo>
                    <a:pt x="95250" y="2724150"/>
                  </a:lnTo>
                  <a:cubicBezTo>
                    <a:pt x="42645" y="2724150"/>
                    <a:pt x="0" y="2681505"/>
                    <a:pt x="0" y="2628900"/>
                  </a:cubicBezTo>
                  <a:lnTo>
                    <a:pt x="0" y="95250"/>
                  </a:lnTo>
                  <a:cubicBezTo>
                    <a:pt x="0" y="42645"/>
                    <a:pt x="42645" y="0"/>
                    <a:pt x="95250" y="0"/>
                  </a:cubicBezTo>
                  <a:close/>
                </a:path>
              </a:pathLst>
            </a:custGeom>
            <a:solidFill>
              <a:srgbClr val="121A24"/>
            </a:solidFill>
            <a:ln w="19050">
              <a:solidFill>
                <a:srgbClr val="2B3A4B"/>
              </a:solidFill>
            </a:ln>
          </p:spPr>
        </p:sp>
        <p:sp>
          <p:nvSpPr>
            <p:cNvPr id="64" name="Ellipse 64"/>
            <p:cNvSpPr/>
            <p:nvPr/>
          </p:nvSpPr>
          <p:spPr>
            <a:xfrm>
              <a:off x="9163050" y="2133600"/>
              <a:ext cx="647700" cy="647700"/>
            </a:xfrm>
            <a:prstGeom prst="ellipse">
              <a:avLst/>
            </a:prstGeom>
            <a:solidFill>
              <a:srgbClr val="4EC5F1">
                <a:alpha val="12000"/>
              </a:srgbClr>
            </a:solidFill>
            <a:ln w="19050">
              <a:solidFill>
                <a:srgbClr val="4EC5F1"/>
              </a:solidFill>
            </a:ln>
          </p:spPr>
        </p:sp>
        <p:grpSp>
          <p:nvGrpSpPr>
            <p:cNvPr id="69" name="Group 69"/>
            <p:cNvGrpSpPr/>
            <p:nvPr/>
          </p:nvGrpSpPr>
          <p:grpSpPr>
            <a:xfrm>
              <a:off x="9344025" y="2314575"/>
              <a:ext cx="254000" cy="301626"/>
              <a:chOff x="9344025" y="2314575"/>
              <a:chExt cx="254000" cy="301626"/>
            </a:xfrm>
          </p:grpSpPr>
          <p:sp>
            <p:nvSpPr>
              <p:cNvPr id="65" name="Freeform 65"/>
              <p:cNvSpPr/>
              <p:nvPr/>
            </p:nvSpPr>
            <p:spPr>
              <a:xfrm>
                <a:off x="9518650" y="2314575"/>
                <a:ext cx="79375" cy="79375"/>
              </a:xfrm>
              <a:custGeom>
                <a:avLst/>
                <a:gdLst/>
                <a:ahLst/>
                <a:cxnLst/>
                <a:rect l="l" t="t" r="r" b="b"/>
                <a:pathLst>
                  <a:path w="79375" h="79375">
                    <a:moveTo>
                      <a:pt x="0" y="0"/>
                    </a:moveTo>
                    <a:lnTo>
                      <a:pt x="0" y="63500"/>
                    </a:lnTo>
                    <a:cubicBezTo>
                      <a:pt x="0" y="72268"/>
                      <a:pt x="7107" y="79375"/>
                      <a:pt x="15875" y="79375"/>
                    </a:cubicBezTo>
                    <a:lnTo>
                      <a:pt x="79375" y="79375"/>
                    </a:lnTo>
                  </a:path>
                </a:pathLst>
              </a:custGeom>
              <a:noFill/>
              <a:ln w="19050">
                <a:solidFill>
                  <a:srgbClr val="4EC5F1"/>
                </a:solidFill>
              </a:ln>
            </p:spPr>
          </p:sp>
          <p:sp>
            <p:nvSpPr>
              <p:cNvPr id="66" name="Freeform 66"/>
              <p:cNvSpPr/>
              <p:nvPr/>
            </p:nvSpPr>
            <p:spPr>
              <a:xfrm>
                <a:off x="9375775" y="2314575"/>
                <a:ext cx="222250" cy="285751"/>
              </a:xfrm>
              <a:custGeom>
                <a:avLst/>
                <a:gdLst/>
                <a:ahLst/>
                <a:cxnLst/>
                <a:rect l="l" t="t" r="r" b="b"/>
                <a:pathLst>
                  <a:path w="222250" h="285751">
                    <a:moveTo>
                      <a:pt x="0" y="79375"/>
                    </a:moveTo>
                    <a:lnTo>
                      <a:pt x="0" y="31750"/>
                    </a:lnTo>
                    <a:cubicBezTo>
                      <a:pt x="0" y="14215"/>
                      <a:pt x="14215" y="0"/>
                      <a:pt x="31750" y="0"/>
                    </a:cubicBezTo>
                    <a:lnTo>
                      <a:pt x="142875" y="0"/>
                    </a:lnTo>
                    <a:lnTo>
                      <a:pt x="222250" y="79375"/>
                    </a:lnTo>
                    <a:lnTo>
                      <a:pt x="222250" y="254001"/>
                    </a:lnTo>
                    <a:cubicBezTo>
                      <a:pt x="222250" y="271536"/>
                      <a:pt x="208035" y="285751"/>
                      <a:pt x="190500" y="285751"/>
                    </a:cubicBezTo>
                    <a:lnTo>
                      <a:pt x="111125" y="285751"/>
                    </a:lnTo>
                  </a:path>
                </a:pathLst>
              </a:custGeom>
              <a:noFill/>
              <a:ln w="19050">
                <a:solidFill>
                  <a:srgbClr val="4EC5F1"/>
                </a:solidFill>
              </a:ln>
            </p:spPr>
          </p:sp>
          <p:sp>
            <p:nvSpPr>
              <p:cNvPr id="67" name="Freeform 67"/>
              <p:cNvSpPr/>
              <p:nvPr/>
            </p:nvSpPr>
            <p:spPr>
              <a:xfrm>
                <a:off x="9344025" y="2441575"/>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19050">
                <a:solidFill>
                  <a:srgbClr val="4EC5F1"/>
                </a:solidFill>
              </a:ln>
            </p:spPr>
          </p:sp>
          <p:sp>
            <p:nvSpPr>
              <p:cNvPr id="68" name="Freeform 68"/>
              <p:cNvSpPr/>
              <p:nvPr/>
            </p:nvSpPr>
            <p:spPr>
              <a:xfrm>
                <a:off x="9344025" y="2536826"/>
                <a:ext cx="95250" cy="79375"/>
              </a:xfrm>
              <a:custGeom>
                <a:avLst/>
                <a:gdLst/>
                <a:ahLst/>
                <a:cxnLst/>
                <a:rect l="l" t="t" r="r" b="b"/>
                <a:pathLst>
                  <a:path w="95250" h="79375">
                    <a:moveTo>
                      <a:pt x="23813" y="0"/>
                    </a:moveTo>
                    <a:lnTo>
                      <a:pt x="0" y="79375"/>
                    </a:lnTo>
                    <a:lnTo>
                      <a:pt x="47625" y="55563"/>
                    </a:lnTo>
                    <a:lnTo>
                      <a:pt x="95250" y="79375"/>
                    </a:lnTo>
                    <a:lnTo>
                      <a:pt x="71438" y="0"/>
                    </a:lnTo>
                  </a:path>
                </a:pathLst>
              </a:custGeom>
              <a:noFill/>
              <a:ln w="19050">
                <a:solidFill>
                  <a:srgbClr val="4EC5F1"/>
                </a:solidFill>
              </a:ln>
            </p:spPr>
          </p:sp>
        </p:grpSp>
        <p:sp>
          <p:nvSpPr>
            <p:cNvPr id="70" name="TextBox 70"/>
            <p:cNvSpPr txBox="1"/>
            <p:nvPr/>
          </p:nvSpPr>
          <p:spPr>
            <a:xfrm>
              <a:off x="9207818" y="2999899"/>
              <a:ext cx="674846" cy="198120"/>
            </a:xfrm>
            <a:prstGeom prst="rect">
              <a:avLst/>
            </a:prstGeom>
            <a:noFill/>
            <a:ln>
              <a:noFill/>
            </a:ln>
          </p:spPr>
          <p:txBody>
            <a:bodyPr wrap="none" lIns="0" tIns="0" rIns="0" bIns="0" anchor="t" anchorCtr="0">
              <a:spAutoFit/>
            </a:bodyPr>
            <a:lstStyle/>
            <a:p>
              <a:pPr algn="l"/>
              <a:r>
                <a:rPr lang="zh-CN" sz="975" dirty="0">
                  <a:solidFill>
                    <a:srgbClr val="667789"/>
                  </a:solidFill>
                  <a:latin typeface="Consolas"/>
                  <a:ea typeface="Microsoft YaHei"/>
                  <a:cs typeface="Consolas"/>
                </a:rPr>
                <a:t>04 INSPECT</a:t>
              </a:r>
            </a:p>
          </p:txBody>
        </p:sp>
        <p:sp>
          <p:nvSpPr>
            <p:cNvPr id="71" name="TextBox 71"/>
            <p:cNvSpPr txBox="1"/>
            <p:nvPr/>
          </p:nvSpPr>
          <p:spPr>
            <a:xfrm>
              <a:off x="9194482" y="3210401"/>
              <a:ext cx="1539996" cy="411480"/>
            </a:xfrm>
            <a:prstGeom prst="rect">
              <a:avLst/>
            </a:prstGeom>
            <a:noFill/>
            <a:ln>
              <a:noFill/>
            </a:ln>
          </p:spPr>
          <p:txBody>
            <a:bodyPr wrap="none" lIns="0" tIns="0" rIns="0" bIns="0" anchor="t" anchorCtr="0">
              <a:spAutoFit/>
            </a:bodyPr>
            <a:lstStyle/>
            <a:p>
              <a:pPr algn="l"/>
              <a:r>
                <a:rPr lang="zh-CN" sz="2025" b="1" dirty="0">
                  <a:solidFill>
                    <a:srgbClr val="EAF1F7"/>
                  </a:solidFill>
                  <a:latin typeface="Aptos Display"/>
                  <a:ea typeface="Microsoft YaHei"/>
                  <a:cs typeface="Aptos Display"/>
                </a:rPr>
                <a:t>Read proof</a:t>
              </a:r>
            </a:p>
          </p:txBody>
        </p:sp>
        <p:sp>
          <p:nvSpPr>
            <p:cNvPr id="72" name="TextBox 72"/>
            <p:cNvSpPr txBox="1"/>
            <p:nvPr/>
          </p:nvSpPr>
          <p:spPr>
            <a:xfrm>
              <a:off x="9204008" y="3691414"/>
              <a:ext cx="2208657" cy="259080"/>
            </a:xfrm>
            <a:prstGeom prst="rect">
              <a:avLst/>
            </a:prstGeom>
            <a:noFill/>
            <a:ln>
              <a:noFill/>
            </a:ln>
          </p:spPr>
          <p:txBody>
            <a:bodyPr wrap="none" lIns="0" tIns="0" rIns="0" bIns="0" anchor="t" anchorCtr="0">
              <a:spAutoFit/>
            </a:bodyPr>
            <a:lstStyle/>
            <a:p>
              <a:pPr algn="l"/>
              <a:r>
                <a:rPr lang="zh-CN" sz="1275" dirty="0">
                  <a:solidFill>
                    <a:srgbClr val="A8B6C6"/>
                  </a:solidFill>
                  <a:latin typeface="Aptos"/>
                  <a:ea typeface="Microsoft YaHei"/>
                  <a:cs typeface="Aptos"/>
                </a:rPr>
                <a:t>Receipt exposes object id,</a:t>
              </a:r>
            </a:p>
          </p:txBody>
        </p:sp>
        <p:sp>
          <p:nvSpPr>
            <p:cNvPr id="73" name="TextBox 73"/>
            <p:cNvSpPr txBox="1"/>
            <p:nvPr/>
          </p:nvSpPr>
          <p:spPr>
            <a:xfrm>
              <a:off x="9204008" y="3939064"/>
              <a:ext cx="2208657" cy="259080"/>
            </a:xfrm>
            <a:prstGeom prst="rect">
              <a:avLst/>
            </a:prstGeom>
            <a:noFill/>
            <a:ln>
              <a:noFill/>
            </a:ln>
          </p:spPr>
          <p:txBody>
            <a:bodyPr wrap="none" lIns="0" tIns="0" rIns="0" bIns="0" anchor="t" anchorCtr="0">
              <a:spAutoFit/>
            </a:bodyPr>
            <a:lstStyle/>
            <a:p>
              <a:pPr algn="l"/>
              <a:r>
                <a:rPr lang="zh-CN" sz="1275" dirty="0">
                  <a:solidFill>
                    <a:srgbClr val="A8B6C6"/>
                  </a:solidFill>
                  <a:latin typeface="Aptos"/>
                  <a:ea typeface="Microsoft YaHei"/>
                  <a:cs typeface="Aptos"/>
                </a:rPr>
                <a:t>policy hash, and redaction</a:t>
              </a:r>
            </a:p>
          </p:txBody>
        </p:sp>
        <p:sp>
          <p:nvSpPr>
            <p:cNvPr id="74" name="TextBox 74"/>
            <p:cNvSpPr txBox="1"/>
            <p:nvPr/>
          </p:nvSpPr>
          <p:spPr>
            <a:xfrm>
              <a:off x="9204008" y="4186714"/>
              <a:ext cx="1435060" cy="259080"/>
            </a:xfrm>
            <a:prstGeom prst="rect">
              <a:avLst/>
            </a:prstGeom>
            <a:noFill/>
            <a:ln>
              <a:noFill/>
            </a:ln>
          </p:spPr>
          <p:txBody>
            <a:bodyPr wrap="none" lIns="0" tIns="0" rIns="0" bIns="0" anchor="t" anchorCtr="0">
              <a:spAutoFit/>
            </a:bodyPr>
            <a:lstStyle/>
            <a:p>
              <a:pPr algn="l"/>
              <a:r>
                <a:rPr lang="zh-CN" sz="1275" dirty="0">
                  <a:solidFill>
                    <a:srgbClr val="A8B6C6"/>
                  </a:solidFill>
                  <a:latin typeface="Aptos"/>
                  <a:ea typeface="Microsoft YaHei"/>
                  <a:cs typeface="Aptos"/>
                </a:rPr>
                <a:t>hash for review.</a:t>
              </a:r>
            </a:p>
          </p:txBody>
        </p:sp>
      </p:grpSp>
      <p:grpSp>
        <p:nvGrpSpPr>
          <p:cNvPr id="82" name="Group 82"/>
          <p:cNvGrpSpPr/>
          <p:nvPr/>
        </p:nvGrpSpPr>
        <p:grpSpPr>
          <a:xfrm>
            <a:off x="781050" y="5257800"/>
            <a:ext cx="10458450" cy="578644"/>
            <a:chOff x="781050" y="5257800"/>
            <a:chExt cx="10458450" cy="578644"/>
          </a:xfrm>
        </p:grpSpPr>
        <p:sp>
          <p:nvSpPr>
            <p:cNvPr id="76" name="Freeform 76"/>
            <p:cNvSpPr/>
            <p:nvPr/>
          </p:nvSpPr>
          <p:spPr>
            <a:xfrm>
              <a:off x="781050" y="5257800"/>
              <a:ext cx="10458450" cy="552450"/>
            </a:xfrm>
            <a:custGeom>
              <a:avLst/>
              <a:gdLst/>
              <a:ahLst/>
              <a:cxnLst/>
              <a:rect l="l" t="t" r="r" b="b"/>
              <a:pathLst>
                <a:path w="10458450" h="552450">
                  <a:moveTo>
                    <a:pt x="95250" y="0"/>
                  </a:moveTo>
                  <a:lnTo>
                    <a:pt x="10363200" y="0"/>
                  </a:lnTo>
                  <a:cubicBezTo>
                    <a:pt x="10415805" y="0"/>
                    <a:pt x="10458450" y="42645"/>
                    <a:pt x="10458450" y="95250"/>
                  </a:cubicBezTo>
                  <a:lnTo>
                    <a:pt x="10458450" y="457200"/>
                  </a:lnTo>
                  <a:cubicBezTo>
                    <a:pt x="10458450" y="509805"/>
                    <a:pt x="10415805" y="552450"/>
                    <a:pt x="10363200" y="552450"/>
                  </a:cubicBezTo>
                  <a:lnTo>
                    <a:pt x="95250" y="552450"/>
                  </a:lnTo>
                  <a:cubicBezTo>
                    <a:pt x="42645" y="552450"/>
                    <a:pt x="0" y="509805"/>
                    <a:pt x="0" y="457200"/>
                  </a:cubicBezTo>
                  <a:lnTo>
                    <a:pt x="0" y="95250"/>
                  </a:lnTo>
                  <a:cubicBezTo>
                    <a:pt x="0" y="42645"/>
                    <a:pt x="42645" y="0"/>
                    <a:pt x="95250" y="0"/>
                  </a:cubicBezTo>
                  <a:close/>
                </a:path>
              </a:pathLst>
            </a:custGeom>
            <a:solidFill>
              <a:srgbClr val="071018"/>
            </a:solidFill>
            <a:ln w="14288">
              <a:solidFill>
                <a:srgbClr val="2B3A4B"/>
              </a:solidFill>
            </a:ln>
          </p:spPr>
        </p:sp>
        <p:grpSp>
          <p:nvGrpSpPr>
            <p:cNvPr id="79" name="Group 79"/>
            <p:cNvGrpSpPr/>
            <p:nvPr/>
          </p:nvGrpSpPr>
          <p:grpSpPr>
            <a:xfrm>
              <a:off x="1118394" y="5482431"/>
              <a:ext cx="144462" cy="133350"/>
              <a:chOff x="1118394" y="5482431"/>
              <a:chExt cx="144462" cy="133350"/>
            </a:xfrm>
          </p:grpSpPr>
          <p:sp>
            <p:nvSpPr>
              <p:cNvPr id="77" name="Freeform 77"/>
              <p:cNvSpPr/>
              <p:nvPr/>
            </p:nvSpPr>
            <p:spPr>
              <a:xfrm>
                <a:off x="1118394" y="5482431"/>
                <a:ext cx="51594" cy="103187"/>
              </a:xfrm>
              <a:custGeom>
                <a:avLst/>
                <a:gdLst/>
                <a:ahLst/>
                <a:cxnLst/>
                <a:rect l="l" t="t" r="r" b="b"/>
                <a:pathLst>
                  <a:path w="51594" h="103187">
                    <a:moveTo>
                      <a:pt x="0" y="0"/>
                    </a:moveTo>
                    <a:lnTo>
                      <a:pt x="51594" y="51594"/>
                    </a:lnTo>
                    <a:lnTo>
                      <a:pt x="0" y="103187"/>
                    </a:lnTo>
                  </a:path>
                </a:pathLst>
              </a:custGeom>
              <a:noFill/>
              <a:ln w="19050">
                <a:solidFill>
                  <a:srgbClr val="73F0B8"/>
                </a:solidFill>
              </a:ln>
            </p:spPr>
          </p:sp>
          <p:sp>
            <p:nvSpPr>
              <p:cNvPr id="78" name="Freeform 78"/>
              <p:cNvSpPr/>
              <p:nvPr/>
            </p:nvSpPr>
            <p:spPr>
              <a:xfrm>
                <a:off x="1190625" y="5606256"/>
                <a:ext cx="72231" cy="9525"/>
              </a:xfrm>
              <a:custGeom>
                <a:avLst/>
                <a:gdLst/>
                <a:ahLst/>
                <a:cxnLst/>
                <a:rect l="l" t="t" r="r" b="b"/>
                <a:pathLst>
                  <a:path w="72231" h="9525">
                    <a:moveTo>
                      <a:pt x="0" y="0"/>
                    </a:moveTo>
                    <a:lnTo>
                      <a:pt x="72231" y="0"/>
                    </a:lnTo>
                  </a:path>
                </a:pathLst>
              </a:custGeom>
              <a:noFill/>
              <a:ln w="19050">
                <a:solidFill>
                  <a:srgbClr val="73F0B8"/>
                </a:solidFill>
              </a:ln>
            </p:spPr>
          </p:sp>
        </p:grpSp>
        <p:sp>
          <p:nvSpPr>
            <p:cNvPr id="80" name="TextBox 80"/>
            <p:cNvSpPr txBox="1"/>
            <p:nvPr/>
          </p:nvSpPr>
          <p:spPr>
            <a:xfrm>
              <a:off x="1434465" y="5373052"/>
              <a:ext cx="1286828" cy="213360"/>
            </a:xfrm>
            <a:prstGeom prst="rect">
              <a:avLst/>
            </a:prstGeom>
            <a:noFill/>
            <a:ln>
              <a:noFill/>
            </a:ln>
          </p:spPr>
          <p:txBody>
            <a:bodyPr wrap="none" lIns="0" tIns="0" rIns="0" bIns="0" anchor="t" anchorCtr="0">
              <a:spAutoFit/>
            </a:bodyPr>
            <a:lstStyle/>
            <a:p>
              <a:pPr algn="l"/>
              <a:r>
                <a:rPr lang="zh-CN" sz="1050" dirty="0">
                  <a:solidFill>
                    <a:srgbClr val="73F0B8"/>
                  </a:solidFill>
                  <a:latin typeface="Consolas"/>
                  <a:ea typeface="Microsoft YaHei"/>
                  <a:cs typeface="Consolas"/>
                </a:rPr>
                <a:t>verified commands</a:t>
              </a:r>
            </a:p>
          </p:txBody>
        </p:sp>
        <p:sp>
          <p:nvSpPr>
            <p:cNvPr id="81" name="TextBox 81"/>
            <p:cNvSpPr txBox="1"/>
            <p:nvPr/>
          </p:nvSpPr>
          <p:spPr>
            <a:xfrm>
              <a:off x="1431608" y="5577364"/>
              <a:ext cx="7657838" cy="259080"/>
            </a:xfrm>
            <a:prstGeom prst="rect">
              <a:avLst/>
            </a:prstGeom>
            <a:noFill/>
            <a:ln>
              <a:noFill/>
            </a:ln>
          </p:spPr>
          <p:txBody>
            <a:bodyPr wrap="none" lIns="0" tIns="0" rIns="0" bIns="0" anchor="t" anchorCtr="0">
              <a:spAutoFit/>
            </a:bodyPr>
            <a:lstStyle/>
            <a:p>
              <a:pPr algn="l"/>
              <a:r>
                <a:rPr lang="zh-CN" sz="1275" dirty="0">
                  <a:solidFill>
                    <a:srgbClr val="A8B6C6"/>
                  </a:solidFill>
                  <a:latin typeface="Aptos"/>
                  <a:ea typeface="Microsoft YaHei"/>
                  <a:cs typeface="Aptos"/>
                </a:rPr>
                <a:t>`pnpm build` · `pnpm typecheck` · `pnpm sui:build` · `pnpm sui:test` all pass sequentially.</a:t>
              </a:r>
            </a:p>
          </p:txBody>
        </p:sp>
      </p:grpSp>
    </p:spTree>
  </p:cSld>
  <p:clrMapOvr>
    <a:masterClrMapping/>
  </p:clrMapOvr>
  <p:transition xmlns:p14="http://schemas.microsoft.com/office/powerpoint/2010/main" p14:dur="35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0F14"/>
            </a:solidFill>
            <a:ln>
              <a:noFill/>
            </a:ln>
          </p:spPr>
        </p:sp>
        <p:sp>
          <p:nvSpPr>
            <p:cNvPr id="3" name="Rectangle 3"/>
            <p:cNvSpPr/>
            <p:nvPr/>
          </p:nvSpPr>
          <p:spPr>
            <a:xfrm>
              <a:off x="0" y="0"/>
              <a:ext cx="12192000" cy="6858000"/>
            </a:xfrm>
            <a:prstGeom prst="rect">
              <a:avLst/>
            </a:prstGeom>
            <a:gradFill>
              <a:gsLst>
                <a:gs pos="0">
                  <a:srgbClr val="73F0B8">
                    <a:alpha val="18000"/>
                  </a:srgbClr>
                </a:gs>
                <a:gs pos="100000">
                  <a:srgbClr val="73F0B8">
                    <a:alpha val="0"/>
                  </a:srgbClr>
                </a:gs>
              </a:gsLst>
              <a:path path="circle">
                <a:fillToRect l="50000" t="50000" r="50000" b="50000"/>
              </a:path>
            </a:gradFill>
            <a:ln>
              <a:noFill/>
            </a:ln>
          </p:spPr>
        </p:sp>
        <p:sp>
          <p:nvSpPr>
            <p:cNvPr id="4" name="Rectangle 4"/>
            <p:cNvSpPr/>
            <p:nvPr/>
          </p:nvSpPr>
          <p:spPr>
            <a:xfrm>
              <a:off x="0" y="2857500"/>
              <a:ext cx="12192000" cy="1371600"/>
            </a:xfrm>
            <a:prstGeom prst="rect">
              <a:avLst/>
            </a:prstGeom>
            <a:gradFill>
              <a:gsLst>
                <a:gs pos="0">
                  <a:srgbClr val="4EC5F1">
                    <a:alpha val="0"/>
                  </a:srgbClr>
                </a:gs>
                <a:gs pos="43000">
                  <a:srgbClr val="4EC5F1">
                    <a:alpha val="28000"/>
                  </a:srgbClr>
                </a:gs>
                <a:gs pos="56999">
                  <a:srgbClr val="73F0B8">
                    <a:alpha val="26000"/>
                  </a:srgbClr>
                </a:gs>
                <a:gs pos="100000">
                  <a:srgbClr val="73F0B8">
                    <a:alpha val="0"/>
                  </a:srgbClr>
                </a:gs>
              </a:gsLst>
              <a:lin ang="0" scaled="1"/>
            </a:gradFill>
            <a:ln>
              <a:noFill/>
            </a:ln>
          </p:spPr>
        </p:sp>
        <p:sp>
          <p:nvSpPr>
            <p:cNvPr id="5" name="Freeform 5"/>
            <p:cNvSpPr/>
            <p:nvPr/>
          </p:nvSpPr>
          <p:spPr>
            <a:xfrm>
              <a:off x="533400" y="1047750"/>
              <a:ext cx="11125200" cy="4705350"/>
            </a:xfrm>
            <a:custGeom>
              <a:avLst/>
              <a:gdLst/>
              <a:ahLst/>
              <a:cxnLst/>
              <a:rect l="l" t="t" r="r" b="b"/>
              <a:pathLst>
                <a:path w="11125200" h="4705350">
                  <a:moveTo>
                    <a:pt x="0" y="0"/>
                  </a:moveTo>
                  <a:lnTo>
                    <a:pt x="11125200" y="0"/>
                  </a:lnTo>
                  <a:moveTo>
                    <a:pt x="0" y="4705350"/>
                  </a:moveTo>
                  <a:lnTo>
                    <a:pt x="11125200" y="4705350"/>
                  </a:lnTo>
                </a:path>
              </a:pathLst>
            </a:custGeom>
            <a:solidFill>
              <a:srgbClr val="000000"/>
            </a:solidFill>
            <a:ln w="14288">
              <a:solidFill>
                <a:srgbClr val="223143">
                  <a:alpha val="82000"/>
                </a:srgbClr>
              </a:solidFill>
            </a:ln>
          </p:spPr>
        </p:sp>
      </p:grpSp>
      <p:grpSp>
        <p:nvGrpSpPr>
          <p:cNvPr id="10" name="Group 10"/>
          <p:cNvGrpSpPr/>
          <p:nvPr/>
        </p:nvGrpSpPr>
        <p:grpSpPr>
          <a:xfrm>
            <a:off x="495300" y="439102"/>
            <a:ext cx="11176635" cy="1027748"/>
            <a:chOff x="495300" y="439102"/>
            <a:chExt cx="11176635" cy="1027748"/>
          </a:xfrm>
        </p:grpSpPr>
        <p:sp>
          <p:nvSpPr>
            <p:cNvPr id="7" name="TextBox 7"/>
            <p:cNvSpPr txBox="1"/>
            <p:nvPr/>
          </p:nvSpPr>
          <p:spPr>
            <a:xfrm>
              <a:off x="520065" y="439102"/>
              <a:ext cx="1475851" cy="213360"/>
            </a:xfrm>
            <a:prstGeom prst="rect">
              <a:avLst/>
            </a:prstGeom>
            <a:noFill/>
            <a:ln>
              <a:noFill/>
            </a:ln>
          </p:spPr>
          <p:txBody>
            <a:bodyPr wrap="none" lIns="0" tIns="0" rIns="0" bIns="0" anchor="t" anchorCtr="0">
              <a:spAutoFit/>
            </a:bodyPr>
            <a:lstStyle/>
            <a:p>
              <a:pPr algn="l"/>
              <a:r>
                <a:rPr lang="zh-CN" sz="1050" dirty="0">
                  <a:solidFill>
                    <a:srgbClr val="A8B6C6"/>
                  </a:solidFill>
                  <a:latin typeface="Consolas"/>
                  <a:ea typeface="Microsoft YaHei"/>
                  <a:cs typeface="Consolas"/>
                </a:rPr>
                <a:t>LOAD-BEARING WALRUS</a:t>
              </a:r>
            </a:p>
          </p:txBody>
        </p:sp>
        <p:sp>
          <p:nvSpPr>
            <p:cNvPr id="8" name="TextBox 8"/>
            <p:cNvSpPr txBox="1"/>
            <p:nvPr/>
          </p:nvSpPr>
          <p:spPr>
            <a:xfrm>
              <a:off x="11176206" y="439102"/>
              <a:ext cx="495729" cy="213360"/>
            </a:xfrm>
            <a:prstGeom prst="rect">
              <a:avLst/>
            </a:prstGeom>
            <a:noFill/>
            <a:ln>
              <a:noFill/>
            </a:ln>
          </p:spPr>
          <p:txBody>
            <a:bodyPr wrap="none" lIns="0" tIns="0" rIns="0" bIns="0" anchor="t" anchorCtr="0">
              <a:spAutoFit/>
            </a:bodyPr>
            <a:lstStyle/>
            <a:p>
              <a:pPr algn="r"/>
              <a:r>
                <a:rPr lang="zh-CN" sz="1050" dirty="0">
                  <a:solidFill>
                    <a:srgbClr val="667789"/>
                  </a:solidFill>
                  <a:latin typeface="Consolas"/>
                  <a:ea typeface="Microsoft YaHei"/>
                  <a:cs typeface="Consolas"/>
                </a:rPr>
                <a:t>04 / 06</a:t>
              </a:r>
            </a:p>
          </p:txBody>
        </p:sp>
        <p:sp>
          <p:nvSpPr>
            <p:cNvPr id="9" name="TextBox 9"/>
            <p:cNvSpPr txBox="1"/>
            <p:nvPr/>
          </p:nvSpPr>
          <p:spPr>
            <a:xfrm>
              <a:off x="495300" y="857250"/>
              <a:ext cx="10283476" cy="609600"/>
            </a:xfrm>
            <a:prstGeom prst="rect">
              <a:avLst/>
            </a:prstGeom>
            <a:noFill/>
            <a:ln>
              <a:noFill/>
            </a:ln>
          </p:spPr>
          <p:txBody>
            <a:bodyPr wrap="none" lIns="0" tIns="0" rIns="0" bIns="0" anchor="t" anchorCtr="0">
              <a:spAutoFit/>
            </a:bodyPr>
            <a:lstStyle/>
            <a:p>
              <a:pPr algn="l"/>
              <a:r>
                <a:rPr lang="zh-CN" sz="3000" b="1" dirty="0">
                  <a:solidFill>
                    <a:srgbClr val="EAF1F7"/>
                  </a:solidFill>
                  <a:latin typeface="Aptos Display"/>
                  <a:ea typeface="Microsoft YaHei"/>
                  <a:cs typeface="Aptos Display"/>
                </a:rPr>
                <a:t>Walrus is the gate between death and succession.</a:t>
              </a:r>
            </a:p>
          </p:txBody>
        </p:sp>
      </p:grpSp>
      <p:grpSp>
        <p:nvGrpSpPr>
          <p:cNvPr id="74" name="Group 74"/>
          <p:cNvGrpSpPr/>
          <p:nvPr/>
        </p:nvGrpSpPr>
        <p:grpSpPr>
          <a:xfrm>
            <a:off x="571500" y="1752600"/>
            <a:ext cx="10991850" cy="3162300"/>
            <a:chOff x="571500" y="1752600"/>
            <a:chExt cx="10991850" cy="3162300"/>
          </a:xfrm>
        </p:grpSpPr>
        <p:sp>
          <p:nvSpPr>
            <p:cNvPr id="11" name="Freeform 11"/>
            <p:cNvSpPr/>
            <p:nvPr/>
          </p:nvSpPr>
          <p:spPr>
            <a:xfrm>
              <a:off x="571500" y="2114550"/>
              <a:ext cx="1771650" cy="2438400"/>
            </a:xfrm>
            <a:custGeom>
              <a:avLst/>
              <a:gdLst/>
              <a:ahLst/>
              <a:cxnLst/>
              <a:rect l="l" t="t" r="r" b="b"/>
              <a:pathLst>
                <a:path w="1771650" h="2438400">
                  <a:moveTo>
                    <a:pt x="95250" y="0"/>
                  </a:moveTo>
                  <a:lnTo>
                    <a:pt x="1676400" y="0"/>
                  </a:lnTo>
                  <a:cubicBezTo>
                    <a:pt x="1729005" y="0"/>
                    <a:pt x="1771650" y="42645"/>
                    <a:pt x="1771650" y="95250"/>
                  </a:cubicBezTo>
                  <a:lnTo>
                    <a:pt x="1771650" y="2343150"/>
                  </a:lnTo>
                  <a:cubicBezTo>
                    <a:pt x="1771650" y="2395755"/>
                    <a:pt x="1729005" y="2438400"/>
                    <a:pt x="1676400" y="2438400"/>
                  </a:cubicBezTo>
                  <a:lnTo>
                    <a:pt x="95250" y="2438400"/>
                  </a:lnTo>
                  <a:cubicBezTo>
                    <a:pt x="42645" y="2438400"/>
                    <a:pt x="0" y="2395755"/>
                    <a:pt x="0" y="2343150"/>
                  </a:cubicBezTo>
                  <a:lnTo>
                    <a:pt x="0" y="95250"/>
                  </a:lnTo>
                  <a:cubicBezTo>
                    <a:pt x="0" y="42645"/>
                    <a:pt x="42645" y="0"/>
                    <a:pt x="95250" y="0"/>
                  </a:cubicBezTo>
                  <a:close/>
                </a:path>
              </a:pathLst>
            </a:custGeom>
            <a:solidFill>
              <a:srgbClr val="121A24"/>
            </a:solidFill>
            <a:ln w="19050">
              <a:solidFill>
                <a:srgbClr val="2B3A4B"/>
              </a:solidFill>
            </a:ln>
          </p:spPr>
        </p:sp>
        <p:grpSp>
          <p:nvGrpSpPr>
            <p:cNvPr id="17" name="Group 17"/>
            <p:cNvGrpSpPr/>
            <p:nvPr/>
          </p:nvGrpSpPr>
          <p:grpSpPr>
            <a:xfrm>
              <a:off x="968375" y="2454275"/>
              <a:ext cx="215901" cy="215901"/>
              <a:chOff x="968375" y="2454275"/>
              <a:chExt cx="215901" cy="215901"/>
            </a:xfrm>
          </p:grpSpPr>
          <p:sp>
            <p:nvSpPr>
              <p:cNvPr id="12" name="Freeform 12"/>
              <p:cNvSpPr/>
              <p:nvPr/>
            </p:nvSpPr>
            <p:spPr>
              <a:xfrm>
                <a:off x="968375" y="2454275"/>
                <a:ext cx="215901" cy="215901"/>
              </a:xfrm>
              <a:custGeom>
                <a:avLst/>
                <a:gdLst/>
                <a:ahLst/>
                <a:cxnLst/>
                <a:rect l="l" t="t" r="r" b="b"/>
                <a:pathLst>
                  <a:path w="215901" h="215901">
                    <a:moveTo>
                      <a:pt x="107950" y="0"/>
                    </a:moveTo>
                    <a:cubicBezTo>
                      <a:pt x="167566" y="0"/>
                      <a:pt x="215901" y="45312"/>
                      <a:pt x="215901" y="101203"/>
                    </a:cubicBezTo>
                    <a:cubicBezTo>
                      <a:pt x="215901" y="126855"/>
                      <a:pt x="205713" y="150280"/>
                      <a:pt x="188913" y="168133"/>
                    </a:cubicBezTo>
                    <a:lnTo>
                      <a:pt x="188913" y="202407"/>
                    </a:lnTo>
                    <a:cubicBezTo>
                      <a:pt x="188913" y="209859"/>
                      <a:pt x="182872" y="215901"/>
                      <a:pt x="175419" y="215901"/>
                    </a:cubicBezTo>
                    <a:lnTo>
                      <a:pt x="40481" y="215901"/>
                    </a:lnTo>
                    <a:cubicBezTo>
                      <a:pt x="33029" y="215901"/>
                      <a:pt x="26988" y="209859"/>
                      <a:pt x="26988" y="202407"/>
                    </a:cubicBezTo>
                    <a:lnTo>
                      <a:pt x="26988" y="168133"/>
                    </a:lnTo>
                    <a:cubicBezTo>
                      <a:pt x="10188" y="150294"/>
                      <a:pt x="0" y="126869"/>
                      <a:pt x="0" y="101203"/>
                    </a:cubicBezTo>
                    <a:cubicBezTo>
                      <a:pt x="0" y="45312"/>
                      <a:pt x="48335" y="0"/>
                      <a:pt x="107950" y="0"/>
                    </a:cubicBezTo>
                  </a:path>
                </a:pathLst>
              </a:custGeom>
              <a:noFill/>
              <a:ln w="19050">
                <a:solidFill>
                  <a:srgbClr val="F7B955"/>
                </a:solidFill>
              </a:ln>
            </p:spPr>
          </p:sp>
          <p:sp>
            <p:nvSpPr>
              <p:cNvPr id="13" name="Freeform 13"/>
              <p:cNvSpPr/>
              <p:nvPr/>
            </p:nvSpPr>
            <p:spPr>
              <a:xfrm>
                <a:off x="1049338" y="2629694"/>
                <a:ext cx="9525" cy="40481"/>
              </a:xfrm>
              <a:custGeom>
                <a:avLst/>
                <a:gdLst/>
                <a:ahLst/>
                <a:cxnLst/>
                <a:rect l="l" t="t" r="r" b="b"/>
                <a:pathLst>
                  <a:path w="9525" h="40481">
                    <a:moveTo>
                      <a:pt x="0" y="0"/>
                    </a:moveTo>
                    <a:lnTo>
                      <a:pt x="0" y="40481"/>
                    </a:lnTo>
                  </a:path>
                </a:pathLst>
              </a:custGeom>
              <a:noFill/>
              <a:ln w="19050">
                <a:solidFill>
                  <a:srgbClr val="F7B955"/>
                </a:solidFill>
              </a:ln>
            </p:spPr>
          </p:sp>
          <p:sp>
            <p:nvSpPr>
              <p:cNvPr id="14" name="Freeform 14"/>
              <p:cNvSpPr/>
              <p:nvPr/>
            </p:nvSpPr>
            <p:spPr>
              <a:xfrm>
                <a:off x="1103313" y="2629694"/>
                <a:ext cx="9525" cy="40481"/>
              </a:xfrm>
              <a:custGeom>
                <a:avLst/>
                <a:gdLst/>
                <a:ahLst/>
                <a:cxnLst/>
                <a:rect l="l" t="t" r="r" b="b"/>
                <a:pathLst>
                  <a:path w="9525" h="40481">
                    <a:moveTo>
                      <a:pt x="0" y="0"/>
                    </a:moveTo>
                    <a:lnTo>
                      <a:pt x="0" y="40481"/>
                    </a:lnTo>
                  </a:path>
                </a:pathLst>
              </a:custGeom>
              <a:noFill/>
              <a:ln w="19050">
                <a:solidFill>
                  <a:srgbClr val="F7B955"/>
                </a:solidFill>
              </a:ln>
            </p:spPr>
          </p:sp>
          <p:sp>
            <p:nvSpPr>
              <p:cNvPr id="15" name="Freeform 15"/>
              <p:cNvSpPr/>
              <p:nvPr/>
            </p:nvSpPr>
            <p:spPr>
              <a:xfrm>
                <a:off x="1022350" y="2535238"/>
                <a:ext cx="26988" cy="26988"/>
              </a:xfrm>
              <a:custGeom>
                <a:avLst/>
                <a:gdLst/>
                <a:ahLst/>
                <a:cxnLst/>
                <a:rect l="l" t="t" r="r" b="b"/>
                <a:pathLst>
                  <a:path w="26988" h="26988">
                    <a:moveTo>
                      <a:pt x="0" y="13494"/>
                    </a:moveTo>
                    <a:cubicBezTo>
                      <a:pt x="0" y="20946"/>
                      <a:pt x="6041" y="26988"/>
                      <a:pt x="13494" y="26988"/>
                    </a:cubicBezTo>
                    <a:cubicBezTo>
                      <a:pt x="20946" y="26988"/>
                      <a:pt x="26988" y="20946"/>
                      <a:pt x="26988" y="13494"/>
                    </a:cubicBezTo>
                    <a:cubicBezTo>
                      <a:pt x="26988" y="6041"/>
                      <a:pt x="20946" y="0"/>
                      <a:pt x="13494" y="0"/>
                    </a:cubicBezTo>
                    <a:cubicBezTo>
                      <a:pt x="6041" y="0"/>
                      <a:pt x="0" y="6041"/>
                      <a:pt x="0" y="13494"/>
                    </a:cubicBezTo>
                  </a:path>
                </a:pathLst>
              </a:custGeom>
              <a:noFill/>
              <a:ln w="19050">
                <a:solidFill>
                  <a:srgbClr val="F7B955"/>
                </a:solidFill>
              </a:ln>
            </p:spPr>
          </p:sp>
          <p:sp>
            <p:nvSpPr>
              <p:cNvPr id="16" name="Freeform 16"/>
              <p:cNvSpPr/>
              <p:nvPr/>
            </p:nvSpPr>
            <p:spPr>
              <a:xfrm>
                <a:off x="1103313" y="2535238"/>
                <a:ext cx="26988" cy="26988"/>
              </a:xfrm>
              <a:custGeom>
                <a:avLst/>
                <a:gdLst/>
                <a:ahLst/>
                <a:cxnLst/>
                <a:rect l="l" t="t" r="r" b="b"/>
                <a:pathLst>
                  <a:path w="26988" h="26988">
                    <a:moveTo>
                      <a:pt x="0" y="13494"/>
                    </a:moveTo>
                    <a:cubicBezTo>
                      <a:pt x="0" y="20946"/>
                      <a:pt x="6041" y="26988"/>
                      <a:pt x="13494" y="26988"/>
                    </a:cubicBezTo>
                    <a:cubicBezTo>
                      <a:pt x="20946" y="26988"/>
                      <a:pt x="26988" y="20946"/>
                      <a:pt x="26988" y="13494"/>
                    </a:cubicBezTo>
                    <a:cubicBezTo>
                      <a:pt x="26988" y="6041"/>
                      <a:pt x="20946" y="0"/>
                      <a:pt x="13494" y="0"/>
                    </a:cubicBezTo>
                    <a:cubicBezTo>
                      <a:pt x="6041" y="0"/>
                      <a:pt x="0" y="6041"/>
                      <a:pt x="0" y="13494"/>
                    </a:cubicBezTo>
                  </a:path>
                </a:pathLst>
              </a:custGeom>
              <a:noFill/>
              <a:ln w="19050">
                <a:solidFill>
                  <a:srgbClr val="F7B955"/>
                </a:solidFill>
              </a:ln>
            </p:spPr>
          </p:sp>
        </p:grpSp>
        <p:sp>
          <p:nvSpPr>
            <p:cNvPr id="18" name="TextBox 18"/>
            <p:cNvSpPr txBox="1"/>
            <p:nvPr/>
          </p:nvSpPr>
          <p:spPr>
            <a:xfrm>
              <a:off x="890588" y="2902744"/>
              <a:ext cx="717084" cy="381000"/>
            </a:xfrm>
            <a:prstGeom prst="rect">
              <a:avLst/>
            </a:prstGeom>
            <a:noFill/>
            <a:ln>
              <a:noFill/>
            </a:ln>
          </p:spPr>
          <p:txBody>
            <a:bodyPr wrap="none" lIns="0" tIns="0" rIns="0" bIns="0" anchor="t" anchorCtr="0">
              <a:spAutoFit/>
            </a:bodyPr>
            <a:lstStyle/>
            <a:p>
              <a:pPr algn="l"/>
              <a:r>
                <a:rPr lang="zh-CN" sz="1875" b="1" dirty="0">
                  <a:solidFill>
                    <a:srgbClr val="EAF1F7"/>
                  </a:solidFill>
                  <a:latin typeface="Aptos Display"/>
                  <a:ea typeface="Microsoft YaHei"/>
                  <a:cs typeface="Aptos Display"/>
                </a:rPr>
                <a:t>Killed</a:t>
              </a:r>
            </a:p>
          </p:txBody>
        </p:sp>
        <p:sp>
          <p:nvSpPr>
            <p:cNvPr id="19" name="TextBox 19"/>
            <p:cNvSpPr txBox="1"/>
            <p:nvPr/>
          </p:nvSpPr>
          <p:spPr>
            <a:xfrm>
              <a:off x="890588" y="3188494"/>
              <a:ext cx="769590" cy="381000"/>
            </a:xfrm>
            <a:prstGeom prst="rect">
              <a:avLst/>
            </a:prstGeom>
            <a:noFill/>
            <a:ln>
              <a:noFill/>
            </a:ln>
          </p:spPr>
          <p:txBody>
            <a:bodyPr wrap="none" lIns="0" tIns="0" rIns="0" bIns="0" anchor="t" anchorCtr="0">
              <a:spAutoFit/>
            </a:bodyPr>
            <a:lstStyle/>
            <a:p>
              <a:pPr algn="l"/>
              <a:r>
                <a:rPr lang="zh-CN" sz="1875" b="1" dirty="0">
                  <a:solidFill>
                    <a:srgbClr val="EAF1F7"/>
                  </a:solidFill>
                  <a:latin typeface="Aptos Display"/>
                  <a:ea typeface="Microsoft YaHei"/>
                  <a:cs typeface="Aptos Display"/>
                </a:rPr>
                <a:t>agent</a:t>
              </a:r>
            </a:p>
          </p:txBody>
        </p:sp>
        <p:sp>
          <p:nvSpPr>
            <p:cNvPr id="20" name="TextBox 20"/>
            <p:cNvSpPr txBox="1"/>
            <p:nvPr/>
          </p:nvSpPr>
          <p:spPr>
            <a:xfrm>
              <a:off x="899160" y="3718560"/>
              <a:ext cx="1094613" cy="243840"/>
            </a:xfrm>
            <a:prstGeom prst="rect">
              <a:avLst/>
            </a:prstGeom>
            <a:noFill/>
            <a:ln>
              <a:noFill/>
            </a:ln>
          </p:spPr>
          <p:txBody>
            <a:bodyPr wrap="none" lIns="0" tIns="0" rIns="0" bIns="0" anchor="t" anchorCtr="0">
              <a:spAutoFit/>
            </a:bodyPr>
            <a:lstStyle/>
            <a:p>
              <a:pPr algn="l"/>
              <a:r>
                <a:rPr lang="zh-CN" sz="1200" dirty="0">
                  <a:solidFill>
                    <a:srgbClr val="A8B6C6"/>
                  </a:solidFill>
                  <a:latin typeface="Aptos"/>
                  <a:ea typeface="Microsoft YaHei"/>
                  <a:cs typeface="Aptos"/>
                </a:rPr>
                <a:t>Local context</a:t>
              </a:r>
            </a:p>
          </p:txBody>
        </p:sp>
        <p:sp>
          <p:nvSpPr>
            <p:cNvPr id="21" name="TextBox 21"/>
            <p:cNvSpPr txBox="1"/>
            <p:nvPr/>
          </p:nvSpPr>
          <p:spPr>
            <a:xfrm>
              <a:off x="899160" y="3947160"/>
              <a:ext cx="926592" cy="243840"/>
            </a:xfrm>
            <a:prstGeom prst="rect">
              <a:avLst/>
            </a:prstGeom>
            <a:noFill/>
            <a:ln>
              <a:noFill/>
            </a:ln>
          </p:spPr>
          <p:txBody>
            <a:bodyPr wrap="none" lIns="0" tIns="0" rIns="0" bIns="0" anchor="t" anchorCtr="0">
              <a:spAutoFit/>
            </a:bodyPr>
            <a:lstStyle/>
            <a:p>
              <a:pPr algn="l"/>
              <a:r>
                <a:rPr lang="zh-CN" sz="1200" dirty="0">
                  <a:solidFill>
                    <a:srgbClr val="A8B6C6"/>
                  </a:solidFill>
                  <a:latin typeface="Aptos"/>
                  <a:ea typeface="Microsoft YaHei"/>
                  <a:cs typeface="Aptos"/>
                </a:rPr>
                <a:t>is no longer</a:t>
              </a:r>
            </a:p>
          </p:txBody>
        </p:sp>
        <p:sp>
          <p:nvSpPr>
            <p:cNvPr id="22" name="TextBox 22"/>
            <p:cNvSpPr txBox="1"/>
            <p:nvPr/>
          </p:nvSpPr>
          <p:spPr>
            <a:xfrm>
              <a:off x="899160" y="4175760"/>
              <a:ext cx="958596" cy="243840"/>
            </a:xfrm>
            <a:prstGeom prst="rect">
              <a:avLst/>
            </a:prstGeom>
            <a:noFill/>
            <a:ln>
              <a:noFill/>
            </a:ln>
          </p:spPr>
          <p:txBody>
            <a:bodyPr wrap="none" lIns="0" tIns="0" rIns="0" bIns="0" anchor="t" anchorCtr="0">
              <a:spAutoFit/>
            </a:bodyPr>
            <a:lstStyle/>
            <a:p>
              <a:pPr algn="l"/>
              <a:r>
                <a:rPr lang="zh-CN" sz="1200" dirty="0">
                  <a:solidFill>
                    <a:srgbClr val="A8B6C6"/>
                  </a:solidFill>
                  <a:latin typeface="Aptos"/>
                  <a:ea typeface="Microsoft YaHei"/>
                  <a:cs typeface="Aptos"/>
                </a:rPr>
                <a:t>the source.</a:t>
              </a:r>
            </a:p>
          </p:txBody>
        </p:sp>
        <p:sp>
          <p:nvSpPr>
            <p:cNvPr id="23" name="Freeform 23"/>
            <p:cNvSpPr/>
            <p:nvPr/>
          </p:nvSpPr>
          <p:spPr>
            <a:xfrm>
              <a:off x="2381250" y="3333750"/>
              <a:ext cx="704850" cy="9525"/>
            </a:xfrm>
            <a:custGeom>
              <a:avLst/>
              <a:gdLst/>
              <a:ahLst/>
              <a:cxnLst/>
              <a:rect l="l" t="t" r="r" b="b"/>
              <a:pathLst>
                <a:path w="704850" h="9525">
                  <a:moveTo>
                    <a:pt x="0" y="0"/>
                  </a:moveTo>
                  <a:lnTo>
                    <a:pt x="704850" y="0"/>
                  </a:lnTo>
                </a:path>
              </a:pathLst>
            </a:custGeom>
            <a:solidFill>
              <a:srgbClr val="000000"/>
            </a:solidFill>
            <a:ln w="38100" cap="rnd">
              <a:solidFill>
                <a:srgbClr val="4EC5F1"/>
              </a:solidFill>
            </a:ln>
          </p:spPr>
        </p:sp>
        <p:grpSp>
          <p:nvGrpSpPr>
            <p:cNvPr id="27" name="Group 27"/>
            <p:cNvGrpSpPr/>
            <p:nvPr/>
          </p:nvGrpSpPr>
          <p:grpSpPr>
            <a:xfrm>
              <a:off x="2855913" y="3267075"/>
              <a:ext cx="155575" cy="133350"/>
              <a:chOff x="2855913" y="3267075"/>
              <a:chExt cx="155575" cy="133350"/>
            </a:xfrm>
          </p:grpSpPr>
          <p:sp>
            <p:nvSpPr>
              <p:cNvPr id="24" name="Freeform 24"/>
              <p:cNvSpPr/>
              <p:nvPr/>
            </p:nvSpPr>
            <p:spPr>
              <a:xfrm>
                <a:off x="2855913" y="3333750"/>
                <a:ext cx="155575" cy="9525"/>
              </a:xfrm>
              <a:custGeom>
                <a:avLst/>
                <a:gdLst/>
                <a:ahLst/>
                <a:cxnLst/>
                <a:rect l="l" t="t" r="r" b="b"/>
                <a:pathLst>
                  <a:path w="155575" h="9525">
                    <a:moveTo>
                      <a:pt x="0" y="0"/>
                    </a:moveTo>
                    <a:lnTo>
                      <a:pt x="155575" y="0"/>
                    </a:lnTo>
                  </a:path>
                </a:pathLst>
              </a:custGeom>
              <a:noFill/>
              <a:ln w="19050">
                <a:solidFill>
                  <a:srgbClr val="4EC5F1"/>
                </a:solidFill>
              </a:ln>
            </p:spPr>
          </p:sp>
          <p:sp>
            <p:nvSpPr>
              <p:cNvPr id="25" name="Freeform 25"/>
              <p:cNvSpPr/>
              <p:nvPr/>
            </p:nvSpPr>
            <p:spPr>
              <a:xfrm>
                <a:off x="2944813" y="3333750"/>
                <a:ext cx="66675" cy="66675"/>
              </a:xfrm>
              <a:custGeom>
                <a:avLst/>
                <a:gdLst/>
                <a:ahLst/>
                <a:cxnLst/>
                <a:rect l="l" t="t" r="r" b="b"/>
                <a:pathLst>
                  <a:path w="66675" h="66675">
                    <a:moveTo>
                      <a:pt x="0" y="66675"/>
                    </a:moveTo>
                    <a:lnTo>
                      <a:pt x="66675" y="0"/>
                    </a:lnTo>
                  </a:path>
                </a:pathLst>
              </a:custGeom>
              <a:noFill/>
              <a:ln w="19050">
                <a:solidFill>
                  <a:srgbClr val="4EC5F1"/>
                </a:solidFill>
              </a:ln>
            </p:spPr>
          </p:sp>
          <p:sp>
            <p:nvSpPr>
              <p:cNvPr id="26" name="Freeform 26"/>
              <p:cNvSpPr/>
              <p:nvPr/>
            </p:nvSpPr>
            <p:spPr>
              <a:xfrm>
                <a:off x="2944813" y="3267075"/>
                <a:ext cx="66675" cy="66675"/>
              </a:xfrm>
              <a:custGeom>
                <a:avLst/>
                <a:gdLst/>
                <a:ahLst/>
                <a:cxnLst/>
                <a:rect l="l" t="t" r="r" b="b"/>
                <a:pathLst>
                  <a:path w="66675" h="66675">
                    <a:moveTo>
                      <a:pt x="0" y="0"/>
                    </a:moveTo>
                    <a:lnTo>
                      <a:pt x="66675" y="66675"/>
                    </a:lnTo>
                  </a:path>
                </a:pathLst>
              </a:custGeom>
              <a:noFill/>
              <a:ln w="19050">
                <a:solidFill>
                  <a:srgbClr val="4EC5F1"/>
                </a:solidFill>
              </a:ln>
            </p:spPr>
          </p:sp>
        </p:grpSp>
        <p:sp>
          <p:nvSpPr>
            <p:cNvPr id="28" name="Freeform 28"/>
            <p:cNvSpPr/>
            <p:nvPr/>
          </p:nvSpPr>
          <p:spPr>
            <a:xfrm>
              <a:off x="3162300" y="2114550"/>
              <a:ext cx="1885950" cy="2438400"/>
            </a:xfrm>
            <a:custGeom>
              <a:avLst/>
              <a:gdLst/>
              <a:ahLst/>
              <a:cxnLst/>
              <a:rect l="l" t="t" r="r" b="b"/>
              <a:pathLst>
                <a:path w="1885950" h="2438400">
                  <a:moveTo>
                    <a:pt x="95250" y="0"/>
                  </a:moveTo>
                  <a:lnTo>
                    <a:pt x="1790700" y="0"/>
                  </a:lnTo>
                  <a:cubicBezTo>
                    <a:pt x="1843305" y="0"/>
                    <a:pt x="1885950" y="42645"/>
                    <a:pt x="1885950" y="95250"/>
                  </a:cubicBezTo>
                  <a:lnTo>
                    <a:pt x="1885950" y="2343150"/>
                  </a:lnTo>
                  <a:cubicBezTo>
                    <a:pt x="1885950" y="2395755"/>
                    <a:pt x="1843305" y="2438400"/>
                    <a:pt x="1790700" y="2438400"/>
                  </a:cubicBezTo>
                  <a:lnTo>
                    <a:pt x="95250" y="2438400"/>
                  </a:lnTo>
                  <a:cubicBezTo>
                    <a:pt x="42645" y="2438400"/>
                    <a:pt x="0" y="2395755"/>
                    <a:pt x="0" y="2343150"/>
                  </a:cubicBezTo>
                  <a:lnTo>
                    <a:pt x="0" y="95250"/>
                  </a:lnTo>
                  <a:cubicBezTo>
                    <a:pt x="0" y="42645"/>
                    <a:pt x="42645" y="0"/>
                    <a:pt x="95250" y="0"/>
                  </a:cubicBezTo>
                  <a:close/>
                </a:path>
              </a:pathLst>
            </a:custGeom>
            <a:solidFill>
              <a:srgbClr val="121A24"/>
            </a:solidFill>
            <a:ln w="19050">
              <a:solidFill>
                <a:srgbClr val="4EC5F1"/>
              </a:solidFill>
            </a:ln>
          </p:spPr>
        </p:sp>
        <p:grpSp>
          <p:nvGrpSpPr>
            <p:cNvPr id="33" name="Group 33"/>
            <p:cNvGrpSpPr/>
            <p:nvPr/>
          </p:nvGrpSpPr>
          <p:grpSpPr>
            <a:xfrm>
              <a:off x="3545681" y="2454275"/>
              <a:ext cx="242888" cy="215900"/>
              <a:chOff x="3545681" y="2454275"/>
              <a:chExt cx="242888" cy="215900"/>
            </a:xfrm>
          </p:grpSpPr>
          <p:sp>
            <p:nvSpPr>
              <p:cNvPr id="29" name="Freeform 29"/>
              <p:cNvSpPr/>
              <p:nvPr/>
            </p:nvSpPr>
            <p:spPr>
              <a:xfrm>
                <a:off x="3545681" y="2454275"/>
                <a:ext cx="242888" cy="107950"/>
              </a:xfrm>
              <a:custGeom>
                <a:avLst/>
                <a:gdLst/>
                <a:ahLst/>
                <a:cxnLst/>
                <a:rect l="l" t="t" r="r" b="b"/>
                <a:pathLst>
                  <a:path w="242888" h="107950">
                    <a:moveTo>
                      <a:pt x="0" y="40481"/>
                    </a:moveTo>
                    <a:cubicBezTo>
                      <a:pt x="0" y="18124"/>
                      <a:pt x="18124" y="0"/>
                      <a:pt x="40481" y="0"/>
                    </a:cubicBezTo>
                    <a:lnTo>
                      <a:pt x="202407" y="0"/>
                    </a:lnTo>
                    <a:cubicBezTo>
                      <a:pt x="224764" y="0"/>
                      <a:pt x="242888" y="18124"/>
                      <a:pt x="242888" y="40481"/>
                    </a:cubicBezTo>
                    <a:lnTo>
                      <a:pt x="242888" y="67469"/>
                    </a:lnTo>
                    <a:cubicBezTo>
                      <a:pt x="242888" y="89826"/>
                      <a:pt x="224764" y="107950"/>
                      <a:pt x="202407" y="107950"/>
                    </a:cubicBezTo>
                    <a:lnTo>
                      <a:pt x="40481" y="107950"/>
                    </a:lnTo>
                    <a:cubicBezTo>
                      <a:pt x="18124" y="107950"/>
                      <a:pt x="0" y="89826"/>
                      <a:pt x="0" y="67469"/>
                    </a:cubicBezTo>
                  </a:path>
                </a:pathLst>
              </a:custGeom>
              <a:noFill/>
              <a:ln w="19050">
                <a:solidFill>
                  <a:srgbClr val="4EC5F1"/>
                </a:solidFill>
              </a:ln>
            </p:spPr>
          </p:sp>
          <p:sp>
            <p:nvSpPr>
              <p:cNvPr id="30" name="Freeform 30"/>
              <p:cNvSpPr/>
              <p:nvPr/>
            </p:nvSpPr>
            <p:spPr>
              <a:xfrm>
                <a:off x="3545681" y="2562225"/>
                <a:ext cx="242888" cy="107950"/>
              </a:xfrm>
              <a:custGeom>
                <a:avLst/>
                <a:gdLst/>
                <a:ahLst/>
                <a:cxnLst/>
                <a:rect l="l" t="t" r="r" b="b"/>
                <a:pathLst>
                  <a:path w="242888" h="107950">
                    <a:moveTo>
                      <a:pt x="0" y="40481"/>
                    </a:moveTo>
                    <a:cubicBezTo>
                      <a:pt x="0" y="18124"/>
                      <a:pt x="18124" y="0"/>
                      <a:pt x="40481" y="0"/>
                    </a:cubicBezTo>
                    <a:lnTo>
                      <a:pt x="202407" y="0"/>
                    </a:lnTo>
                    <a:cubicBezTo>
                      <a:pt x="224764" y="0"/>
                      <a:pt x="242888" y="18124"/>
                      <a:pt x="242888" y="40481"/>
                    </a:cubicBezTo>
                    <a:lnTo>
                      <a:pt x="242888" y="67469"/>
                    </a:lnTo>
                    <a:cubicBezTo>
                      <a:pt x="242888" y="89826"/>
                      <a:pt x="224764" y="107950"/>
                      <a:pt x="202407" y="107950"/>
                    </a:cubicBezTo>
                    <a:lnTo>
                      <a:pt x="40481" y="107950"/>
                    </a:lnTo>
                    <a:cubicBezTo>
                      <a:pt x="18124" y="107950"/>
                      <a:pt x="0" y="89826"/>
                      <a:pt x="0" y="67469"/>
                    </a:cubicBezTo>
                    <a:lnTo>
                      <a:pt x="0" y="40481"/>
                    </a:lnTo>
                  </a:path>
                </a:pathLst>
              </a:custGeom>
              <a:noFill/>
              <a:ln w="19050">
                <a:solidFill>
                  <a:srgbClr val="4EC5F1"/>
                </a:solidFill>
              </a:ln>
            </p:spPr>
          </p:sp>
          <p:sp>
            <p:nvSpPr>
              <p:cNvPr id="31" name="Freeform 31"/>
              <p:cNvSpPr/>
              <p:nvPr/>
            </p:nvSpPr>
            <p:spPr>
              <a:xfrm>
                <a:off x="3599656" y="2508250"/>
                <a:ext cx="9525" cy="9525"/>
              </a:xfrm>
              <a:custGeom>
                <a:avLst/>
                <a:gdLst/>
                <a:ahLst/>
                <a:cxnLst/>
                <a:rect l="l" t="t" r="r" b="b"/>
                <a:pathLst>
                  <a:path w="9525" h="9525">
                    <a:moveTo>
                      <a:pt x="0" y="0"/>
                    </a:moveTo>
                    <a:lnTo>
                      <a:pt x="0" y="135"/>
                    </a:lnTo>
                  </a:path>
                </a:pathLst>
              </a:custGeom>
              <a:noFill/>
              <a:ln w="19050">
                <a:solidFill>
                  <a:srgbClr val="4EC5F1"/>
                </a:solidFill>
              </a:ln>
            </p:spPr>
          </p:sp>
          <p:sp>
            <p:nvSpPr>
              <p:cNvPr id="32" name="Freeform 32"/>
              <p:cNvSpPr/>
              <p:nvPr/>
            </p:nvSpPr>
            <p:spPr>
              <a:xfrm>
                <a:off x="3599656" y="2616201"/>
                <a:ext cx="9525" cy="9525"/>
              </a:xfrm>
              <a:custGeom>
                <a:avLst/>
                <a:gdLst/>
                <a:ahLst/>
                <a:cxnLst/>
                <a:rect l="l" t="t" r="r" b="b"/>
                <a:pathLst>
                  <a:path w="9525" h="9525">
                    <a:moveTo>
                      <a:pt x="0" y="0"/>
                    </a:moveTo>
                    <a:lnTo>
                      <a:pt x="0" y="135"/>
                    </a:lnTo>
                  </a:path>
                </a:pathLst>
              </a:custGeom>
              <a:noFill/>
              <a:ln w="19050">
                <a:solidFill>
                  <a:srgbClr val="4EC5F1"/>
                </a:solidFill>
              </a:ln>
            </p:spPr>
          </p:sp>
        </p:grpSp>
        <p:sp>
          <p:nvSpPr>
            <p:cNvPr id="34" name="TextBox 34"/>
            <p:cNvSpPr txBox="1"/>
            <p:nvPr/>
          </p:nvSpPr>
          <p:spPr>
            <a:xfrm>
              <a:off x="3481388" y="2902744"/>
              <a:ext cx="1215896" cy="381000"/>
            </a:xfrm>
            <a:prstGeom prst="rect">
              <a:avLst/>
            </a:prstGeom>
            <a:noFill/>
            <a:ln>
              <a:noFill/>
            </a:ln>
          </p:spPr>
          <p:txBody>
            <a:bodyPr wrap="none" lIns="0" tIns="0" rIns="0" bIns="0" anchor="t" anchorCtr="0">
              <a:spAutoFit/>
            </a:bodyPr>
            <a:lstStyle/>
            <a:p>
              <a:pPr algn="l"/>
              <a:r>
                <a:rPr lang="zh-CN" sz="1875" b="1" dirty="0">
                  <a:solidFill>
                    <a:srgbClr val="EAF1F7"/>
                  </a:solidFill>
                  <a:latin typeface="Aptos Display"/>
                  <a:ea typeface="Microsoft YaHei"/>
                  <a:cs typeface="Aptos Display"/>
                </a:rPr>
                <a:t>Publisher</a:t>
              </a:r>
            </a:p>
          </p:txBody>
        </p:sp>
        <p:sp>
          <p:nvSpPr>
            <p:cNvPr id="35" name="TextBox 35"/>
            <p:cNvSpPr txBox="1"/>
            <p:nvPr/>
          </p:nvSpPr>
          <p:spPr>
            <a:xfrm>
              <a:off x="3481388" y="3188494"/>
              <a:ext cx="756464" cy="381000"/>
            </a:xfrm>
            <a:prstGeom prst="rect">
              <a:avLst/>
            </a:prstGeom>
            <a:noFill/>
            <a:ln>
              <a:noFill/>
            </a:ln>
          </p:spPr>
          <p:txBody>
            <a:bodyPr wrap="none" lIns="0" tIns="0" rIns="0" bIns="0" anchor="t" anchorCtr="0">
              <a:spAutoFit/>
            </a:bodyPr>
            <a:lstStyle/>
            <a:p>
              <a:pPr algn="l"/>
              <a:r>
                <a:rPr lang="zh-CN" sz="1875" b="1" dirty="0">
                  <a:solidFill>
                    <a:srgbClr val="EAF1F7"/>
                  </a:solidFill>
                  <a:latin typeface="Aptos Display"/>
                  <a:ea typeface="Microsoft YaHei"/>
                  <a:cs typeface="Aptos Display"/>
                </a:rPr>
                <a:t>write</a:t>
              </a:r>
            </a:p>
          </p:txBody>
        </p:sp>
        <p:sp>
          <p:nvSpPr>
            <p:cNvPr id="36" name="TextBox 36"/>
            <p:cNvSpPr txBox="1"/>
            <p:nvPr/>
          </p:nvSpPr>
          <p:spPr>
            <a:xfrm>
              <a:off x="3491865" y="3734752"/>
              <a:ext cx="362712" cy="213360"/>
            </a:xfrm>
            <a:prstGeom prst="rect">
              <a:avLst/>
            </a:prstGeom>
            <a:noFill/>
            <a:ln>
              <a:noFill/>
            </a:ln>
          </p:spPr>
          <p:txBody>
            <a:bodyPr wrap="none" lIns="0" tIns="0" rIns="0" bIns="0" anchor="t" anchorCtr="0">
              <a:spAutoFit/>
            </a:bodyPr>
            <a:lstStyle/>
            <a:p>
              <a:pPr algn="l"/>
              <a:r>
                <a:rPr lang="zh-CN" sz="1050" dirty="0">
                  <a:solidFill>
                    <a:srgbClr val="A8B6C6"/>
                  </a:solidFill>
                  <a:latin typeface="Consolas"/>
                  <a:ea typeface="Microsoft YaHei"/>
                  <a:cs typeface="Consolas"/>
                </a:rPr>
                <a:t>POST</a:t>
              </a:r>
            </a:p>
          </p:txBody>
        </p:sp>
        <p:sp>
          <p:nvSpPr>
            <p:cNvPr id="37" name="TextBox 37"/>
            <p:cNvSpPr txBox="1"/>
            <p:nvPr/>
          </p:nvSpPr>
          <p:spPr>
            <a:xfrm>
              <a:off x="3491865" y="3963352"/>
              <a:ext cx="1279827" cy="213360"/>
            </a:xfrm>
            <a:prstGeom prst="rect">
              <a:avLst/>
            </a:prstGeom>
            <a:noFill/>
            <a:ln>
              <a:noFill/>
            </a:ln>
          </p:spPr>
          <p:txBody>
            <a:bodyPr wrap="none" lIns="0" tIns="0" rIns="0" bIns="0" anchor="t" anchorCtr="0">
              <a:spAutoFit/>
            </a:bodyPr>
            <a:lstStyle/>
            <a:p>
              <a:pPr algn="l"/>
              <a:r>
                <a:rPr lang="zh-CN" sz="1050" dirty="0">
                  <a:solidFill>
                    <a:srgbClr val="A8B6C6"/>
                  </a:solidFill>
                  <a:latin typeface="Consolas"/>
                  <a:ea typeface="Microsoft YaHei"/>
                  <a:cs typeface="Consolas"/>
                </a:rPr>
                <a:t>/api/memory-wills</a:t>
              </a:r>
            </a:p>
          </p:txBody>
        </p:sp>
        <p:sp>
          <p:nvSpPr>
            <p:cNvPr id="38" name="TextBox 38"/>
            <p:cNvSpPr txBox="1"/>
            <p:nvPr/>
          </p:nvSpPr>
          <p:spPr>
            <a:xfrm>
              <a:off x="3491865" y="4191952"/>
              <a:ext cx="1069800" cy="213360"/>
            </a:xfrm>
            <a:prstGeom prst="rect">
              <a:avLst/>
            </a:prstGeom>
            <a:noFill/>
            <a:ln>
              <a:noFill/>
            </a:ln>
          </p:spPr>
          <p:txBody>
            <a:bodyPr wrap="none" lIns="0" tIns="0" rIns="0" bIns="0" anchor="t" anchorCtr="0">
              <a:spAutoFit/>
            </a:bodyPr>
            <a:lstStyle/>
            <a:p>
              <a:pPr algn="l"/>
              <a:r>
                <a:rPr lang="zh-CN" sz="1050" dirty="0">
                  <a:solidFill>
                    <a:srgbClr val="A8B6C6"/>
                  </a:solidFill>
                  <a:latin typeface="Consolas"/>
                  <a:ea typeface="Microsoft YaHei"/>
                  <a:cs typeface="Consolas"/>
                </a:rPr>
                <a:t>before restore</a:t>
              </a:r>
            </a:p>
          </p:txBody>
        </p:sp>
        <p:sp>
          <p:nvSpPr>
            <p:cNvPr id="39" name="Freeform 39"/>
            <p:cNvSpPr/>
            <p:nvPr/>
          </p:nvSpPr>
          <p:spPr>
            <a:xfrm>
              <a:off x="5086350" y="3333750"/>
              <a:ext cx="666750" cy="9525"/>
            </a:xfrm>
            <a:custGeom>
              <a:avLst/>
              <a:gdLst/>
              <a:ahLst/>
              <a:cxnLst/>
              <a:rect l="l" t="t" r="r" b="b"/>
              <a:pathLst>
                <a:path w="666750" h="9525">
                  <a:moveTo>
                    <a:pt x="0" y="0"/>
                  </a:moveTo>
                  <a:lnTo>
                    <a:pt x="666750" y="0"/>
                  </a:lnTo>
                </a:path>
              </a:pathLst>
            </a:custGeom>
            <a:solidFill>
              <a:srgbClr val="000000"/>
            </a:solidFill>
            <a:ln w="38100" cap="rnd">
              <a:solidFill>
                <a:srgbClr val="4EC5F1"/>
              </a:solidFill>
            </a:ln>
          </p:spPr>
        </p:sp>
        <p:grpSp>
          <p:nvGrpSpPr>
            <p:cNvPr id="43" name="Group 43"/>
            <p:cNvGrpSpPr/>
            <p:nvPr/>
          </p:nvGrpSpPr>
          <p:grpSpPr>
            <a:xfrm>
              <a:off x="5522913" y="3267075"/>
              <a:ext cx="155575" cy="133350"/>
              <a:chOff x="5522913" y="3267075"/>
              <a:chExt cx="155575" cy="133350"/>
            </a:xfrm>
          </p:grpSpPr>
          <p:sp>
            <p:nvSpPr>
              <p:cNvPr id="40" name="Freeform 40"/>
              <p:cNvSpPr/>
              <p:nvPr/>
            </p:nvSpPr>
            <p:spPr>
              <a:xfrm>
                <a:off x="5522913" y="3333750"/>
                <a:ext cx="155575" cy="9525"/>
              </a:xfrm>
              <a:custGeom>
                <a:avLst/>
                <a:gdLst/>
                <a:ahLst/>
                <a:cxnLst/>
                <a:rect l="l" t="t" r="r" b="b"/>
                <a:pathLst>
                  <a:path w="155575" h="9525">
                    <a:moveTo>
                      <a:pt x="0" y="0"/>
                    </a:moveTo>
                    <a:lnTo>
                      <a:pt x="155575" y="0"/>
                    </a:lnTo>
                  </a:path>
                </a:pathLst>
              </a:custGeom>
              <a:noFill/>
              <a:ln w="19050">
                <a:solidFill>
                  <a:srgbClr val="4EC5F1"/>
                </a:solidFill>
              </a:ln>
            </p:spPr>
          </p:sp>
          <p:sp>
            <p:nvSpPr>
              <p:cNvPr id="41" name="Freeform 41"/>
              <p:cNvSpPr/>
              <p:nvPr/>
            </p:nvSpPr>
            <p:spPr>
              <a:xfrm>
                <a:off x="5611813" y="3333750"/>
                <a:ext cx="66675" cy="66675"/>
              </a:xfrm>
              <a:custGeom>
                <a:avLst/>
                <a:gdLst/>
                <a:ahLst/>
                <a:cxnLst/>
                <a:rect l="l" t="t" r="r" b="b"/>
                <a:pathLst>
                  <a:path w="66675" h="66675">
                    <a:moveTo>
                      <a:pt x="0" y="66675"/>
                    </a:moveTo>
                    <a:lnTo>
                      <a:pt x="66675" y="0"/>
                    </a:lnTo>
                  </a:path>
                </a:pathLst>
              </a:custGeom>
              <a:noFill/>
              <a:ln w="19050">
                <a:solidFill>
                  <a:srgbClr val="4EC5F1"/>
                </a:solidFill>
              </a:ln>
            </p:spPr>
          </p:sp>
          <p:sp>
            <p:nvSpPr>
              <p:cNvPr id="42" name="Freeform 42"/>
              <p:cNvSpPr/>
              <p:nvPr/>
            </p:nvSpPr>
            <p:spPr>
              <a:xfrm>
                <a:off x="5611813" y="3267075"/>
                <a:ext cx="66675" cy="66675"/>
              </a:xfrm>
              <a:custGeom>
                <a:avLst/>
                <a:gdLst/>
                <a:ahLst/>
                <a:cxnLst/>
                <a:rect l="l" t="t" r="r" b="b"/>
                <a:pathLst>
                  <a:path w="66675" h="66675">
                    <a:moveTo>
                      <a:pt x="0" y="0"/>
                    </a:moveTo>
                    <a:lnTo>
                      <a:pt x="66675" y="66675"/>
                    </a:lnTo>
                  </a:path>
                </a:pathLst>
              </a:custGeom>
              <a:noFill/>
              <a:ln w="19050">
                <a:solidFill>
                  <a:srgbClr val="4EC5F1"/>
                </a:solidFill>
              </a:ln>
            </p:spPr>
          </p:sp>
        </p:grpSp>
        <p:sp>
          <p:nvSpPr>
            <p:cNvPr id="44" name="Freeform 44"/>
            <p:cNvSpPr/>
            <p:nvPr/>
          </p:nvSpPr>
          <p:spPr>
            <a:xfrm>
              <a:off x="5829300" y="1752600"/>
              <a:ext cx="2400300" cy="3162300"/>
            </a:xfrm>
            <a:custGeom>
              <a:avLst/>
              <a:gdLst/>
              <a:ahLst/>
              <a:cxnLst/>
              <a:rect l="l" t="t" r="r" b="b"/>
              <a:pathLst>
                <a:path w="2400300" h="3162300">
                  <a:moveTo>
                    <a:pt x="114300" y="0"/>
                  </a:moveTo>
                  <a:lnTo>
                    <a:pt x="2286000" y="0"/>
                  </a:lnTo>
                  <a:cubicBezTo>
                    <a:pt x="2349126" y="0"/>
                    <a:pt x="2400300" y="51174"/>
                    <a:pt x="2400300" y="114300"/>
                  </a:cubicBezTo>
                  <a:lnTo>
                    <a:pt x="2400300" y="3048000"/>
                  </a:lnTo>
                  <a:cubicBezTo>
                    <a:pt x="2400300" y="3111126"/>
                    <a:pt x="2349126" y="3162300"/>
                    <a:pt x="2286000" y="3162300"/>
                  </a:cubicBezTo>
                  <a:lnTo>
                    <a:pt x="114300" y="3162300"/>
                  </a:lnTo>
                  <a:cubicBezTo>
                    <a:pt x="51174" y="3162300"/>
                    <a:pt x="0" y="3111126"/>
                    <a:pt x="0" y="3048000"/>
                  </a:cubicBezTo>
                  <a:lnTo>
                    <a:pt x="0" y="114300"/>
                  </a:lnTo>
                  <a:cubicBezTo>
                    <a:pt x="0" y="51174"/>
                    <a:pt x="51174" y="0"/>
                    <a:pt x="114300" y="0"/>
                  </a:cubicBezTo>
                  <a:close/>
                </a:path>
              </a:pathLst>
            </a:custGeom>
            <a:solidFill>
              <a:srgbClr val="071018"/>
            </a:solidFill>
            <a:ln w="28575">
              <a:solidFill>
                <a:srgbClr val="73F0B8"/>
              </a:solidFill>
            </a:ln>
            <a:effectLst>
              <a:glow rad="57150">
                <a:srgbClr val="4EC5F1">
                  <a:alpha val="36000"/>
                </a:srgbClr>
              </a:glow>
            </a:effectLst>
          </p:spPr>
        </p:sp>
        <p:grpSp>
          <p:nvGrpSpPr>
            <p:cNvPr id="48" name="Group 48"/>
            <p:cNvGrpSpPr/>
            <p:nvPr/>
          </p:nvGrpSpPr>
          <p:grpSpPr>
            <a:xfrm>
              <a:off x="6832600" y="2238375"/>
              <a:ext cx="355599" cy="400050"/>
              <a:chOff x="6832600" y="2238375"/>
              <a:chExt cx="355599" cy="400050"/>
            </a:xfrm>
          </p:grpSpPr>
          <p:sp>
            <p:nvSpPr>
              <p:cNvPr id="45" name="Freeform 45"/>
              <p:cNvSpPr/>
              <p:nvPr/>
            </p:nvSpPr>
            <p:spPr>
              <a:xfrm>
                <a:off x="6832600" y="2238375"/>
                <a:ext cx="355599" cy="133350"/>
              </a:xfrm>
              <a:custGeom>
                <a:avLst/>
                <a:gdLst/>
                <a:ahLst/>
                <a:cxnLst/>
                <a:rect l="l" t="t" r="r" b="b"/>
                <a:pathLst>
                  <a:path w="355599" h="133350">
                    <a:moveTo>
                      <a:pt x="0" y="66675"/>
                    </a:moveTo>
                    <a:cubicBezTo>
                      <a:pt x="0" y="103498"/>
                      <a:pt x="79604" y="133350"/>
                      <a:pt x="177800" y="133350"/>
                    </a:cubicBezTo>
                    <a:cubicBezTo>
                      <a:pt x="275996" y="133350"/>
                      <a:pt x="355599" y="103498"/>
                      <a:pt x="355599" y="66675"/>
                    </a:cubicBezTo>
                    <a:cubicBezTo>
                      <a:pt x="355599" y="29851"/>
                      <a:pt x="275996" y="0"/>
                      <a:pt x="177800" y="0"/>
                    </a:cubicBezTo>
                    <a:cubicBezTo>
                      <a:pt x="79604" y="0"/>
                      <a:pt x="0" y="29851"/>
                      <a:pt x="0" y="66675"/>
                    </a:cubicBezTo>
                  </a:path>
                </a:pathLst>
              </a:custGeom>
              <a:noFill/>
              <a:ln w="19050">
                <a:solidFill>
                  <a:srgbClr val="73F0B8"/>
                </a:solidFill>
              </a:ln>
            </p:spPr>
          </p:sp>
          <p:sp>
            <p:nvSpPr>
              <p:cNvPr id="46" name="Freeform 46"/>
              <p:cNvSpPr/>
              <p:nvPr/>
            </p:nvSpPr>
            <p:spPr>
              <a:xfrm>
                <a:off x="6832600" y="2305050"/>
                <a:ext cx="355599" cy="200025"/>
              </a:xfrm>
              <a:custGeom>
                <a:avLst/>
                <a:gdLst/>
                <a:ahLst/>
                <a:cxnLst/>
                <a:rect l="l" t="t" r="r" b="b"/>
                <a:pathLst>
                  <a:path w="355599" h="200025">
                    <a:moveTo>
                      <a:pt x="0" y="0"/>
                    </a:moveTo>
                    <a:lnTo>
                      <a:pt x="0" y="133350"/>
                    </a:lnTo>
                    <a:cubicBezTo>
                      <a:pt x="0" y="170173"/>
                      <a:pt x="79604" y="200025"/>
                      <a:pt x="177800" y="200025"/>
                    </a:cubicBezTo>
                    <a:cubicBezTo>
                      <a:pt x="275996" y="200025"/>
                      <a:pt x="355599" y="170173"/>
                      <a:pt x="355599" y="133350"/>
                    </a:cubicBezTo>
                    <a:lnTo>
                      <a:pt x="355599" y="0"/>
                    </a:lnTo>
                  </a:path>
                </a:pathLst>
              </a:custGeom>
              <a:noFill/>
              <a:ln w="19050">
                <a:solidFill>
                  <a:srgbClr val="73F0B8"/>
                </a:solidFill>
              </a:ln>
            </p:spPr>
          </p:sp>
          <p:sp>
            <p:nvSpPr>
              <p:cNvPr id="47" name="Freeform 47"/>
              <p:cNvSpPr/>
              <p:nvPr/>
            </p:nvSpPr>
            <p:spPr>
              <a:xfrm>
                <a:off x="6832600" y="2438400"/>
                <a:ext cx="355599" cy="200025"/>
              </a:xfrm>
              <a:custGeom>
                <a:avLst/>
                <a:gdLst/>
                <a:ahLst/>
                <a:cxnLst/>
                <a:rect l="l" t="t" r="r" b="b"/>
                <a:pathLst>
                  <a:path w="355599" h="200025">
                    <a:moveTo>
                      <a:pt x="0" y="0"/>
                    </a:moveTo>
                    <a:lnTo>
                      <a:pt x="0" y="133350"/>
                    </a:lnTo>
                    <a:cubicBezTo>
                      <a:pt x="0" y="170173"/>
                      <a:pt x="79604" y="200025"/>
                      <a:pt x="177800" y="200025"/>
                    </a:cubicBezTo>
                    <a:cubicBezTo>
                      <a:pt x="275996" y="200025"/>
                      <a:pt x="355599" y="170173"/>
                      <a:pt x="355599" y="133350"/>
                    </a:cubicBezTo>
                    <a:lnTo>
                      <a:pt x="355599" y="0"/>
                    </a:lnTo>
                  </a:path>
                </a:pathLst>
              </a:custGeom>
              <a:noFill/>
              <a:ln w="19050">
                <a:solidFill>
                  <a:srgbClr val="73F0B8"/>
                </a:solidFill>
              </a:ln>
            </p:spPr>
          </p:sp>
        </p:grpSp>
        <p:sp>
          <p:nvSpPr>
            <p:cNvPr id="49" name="TextBox 49"/>
            <p:cNvSpPr txBox="1"/>
            <p:nvPr/>
          </p:nvSpPr>
          <p:spPr>
            <a:xfrm>
              <a:off x="6416867" y="2829878"/>
              <a:ext cx="1225165" cy="518160"/>
            </a:xfrm>
            <a:prstGeom prst="rect">
              <a:avLst/>
            </a:prstGeom>
            <a:noFill/>
            <a:ln>
              <a:noFill/>
            </a:ln>
          </p:spPr>
          <p:txBody>
            <a:bodyPr wrap="none" lIns="0" tIns="0" rIns="0" bIns="0" anchor="t" anchorCtr="0">
              <a:spAutoFit/>
            </a:bodyPr>
            <a:lstStyle/>
            <a:p>
              <a:pPr algn="ctr"/>
              <a:r>
                <a:rPr lang="zh-CN" sz="2550" b="1" dirty="0">
                  <a:solidFill>
                    <a:srgbClr val="EAF1F7"/>
                  </a:solidFill>
                  <a:latin typeface="Aptos Display"/>
                  <a:ea typeface="Microsoft YaHei"/>
                  <a:cs typeface="Aptos Display"/>
                </a:rPr>
                <a:t>Walrus</a:t>
              </a:r>
            </a:p>
          </p:txBody>
        </p:sp>
        <p:sp>
          <p:nvSpPr>
            <p:cNvPr id="50" name="TextBox 50"/>
            <p:cNvSpPr txBox="1"/>
            <p:nvPr/>
          </p:nvSpPr>
          <p:spPr>
            <a:xfrm>
              <a:off x="6017757" y="3240405"/>
              <a:ext cx="2023386" cy="426720"/>
            </a:xfrm>
            <a:prstGeom prst="rect">
              <a:avLst/>
            </a:prstGeom>
            <a:noFill/>
            <a:ln>
              <a:noFill/>
            </a:ln>
          </p:spPr>
          <p:txBody>
            <a:bodyPr wrap="none" lIns="0" tIns="0" rIns="0" bIns="0" anchor="t" anchorCtr="0">
              <a:spAutoFit/>
            </a:bodyPr>
            <a:lstStyle/>
            <a:p>
              <a:pPr algn="ctr"/>
              <a:r>
                <a:rPr lang="zh-CN" sz="2100" b="1" dirty="0">
                  <a:solidFill>
                    <a:srgbClr val="73F0B8"/>
                  </a:solidFill>
                  <a:latin typeface="Aptos Display"/>
                  <a:ea typeface="Microsoft YaHei"/>
                  <a:cs typeface="Aptos Display"/>
                </a:rPr>
                <a:t>certified blob</a:t>
              </a:r>
            </a:p>
          </p:txBody>
        </p:sp>
        <p:sp>
          <p:nvSpPr>
            <p:cNvPr id="51" name="TextBox 51"/>
            <p:cNvSpPr txBox="1"/>
            <p:nvPr/>
          </p:nvSpPr>
          <p:spPr>
            <a:xfrm>
              <a:off x="6656213" y="3843814"/>
              <a:ext cx="746474" cy="259080"/>
            </a:xfrm>
            <a:prstGeom prst="rect">
              <a:avLst/>
            </a:prstGeom>
            <a:noFill/>
            <a:ln>
              <a:noFill/>
            </a:ln>
          </p:spPr>
          <p:txBody>
            <a:bodyPr wrap="none" lIns="0" tIns="0" rIns="0" bIns="0" anchor="t" anchorCtr="0">
              <a:spAutoFit/>
            </a:bodyPr>
            <a:lstStyle/>
            <a:p>
              <a:pPr algn="ctr"/>
              <a:r>
                <a:rPr lang="zh-CN" sz="1275" dirty="0">
                  <a:solidFill>
                    <a:srgbClr val="A8B6C6"/>
                  </a:solidFill>
                  <a:latin typeface="Aptos"/>
                  <a:ea typeface="Microsoft YaHei"/>
                  <a:cs typeface="Aptos"/>
                </a:rPr>
                <a:t>object id</a:t>
              </a:r>
            </a:p>
          </p:txBody>
        </p:sp>
        <p:sp>
          <p:nvSpPr>
            <p:cNvPr id="52" name="TextBox 52"/>
            <p:cNvSpPr txBox="1"/>
            <p:nvPr/>
          </p:nvSpPr>
          <p:spPr>
            <a:xfrm>
              <a:off x="6749725" y="4081939"/>
              <a:ext cx="559451" cy="259080"/>
            </a:xfrm>
            <a:prstGeom prst="rect">
              <a:avLst/>
            </a:prstGeom>
            <a:noFill/>
            <a:ln>
              <a:noFill/>
            </a:ln>
          </p:spPr>
          <p:txBody>
            <a:bodyPr wrap="none" lIns="0" tIns="0" rIns="0" bIns="0" anchor="t" anchorCtr="0">
              <a:spAutoFit/>
            </a:bodyPr>
            <a:lstStyle/>
            <a:p>
              <a:pPr algn="ctr"/>
              <a:r>
                <a:rPr lang="zh-CN" sz="1275" dirty="0">
                  <a:solidFill>
                    <a:srgbClr val="A8B6C6"/>
                  </a:solidFill>
                  <a:latin typeface="Aptos"/>
                  <a:ea typeface="Microsoft YaHei"/>
                  <a:cs typeface="Aptos"/>
                </a:rPr>
                <a:t>blob id</a:t>
              </a:r>
            </a:p>
          </p:txBody>
        </p:sp>
        <p:sp>
          <p:nvSpPr>
            <p:cNvPr id="53" name="TextBox 53"/>
            <p:cNvSpPr txBox="1"/>
            <p:nvPr/>
          </p:nvSpPr>
          <p:spPr>
            <a:xfrm>
              <a:off x="6562701" y="4320064"/>
              <a:ext cx="933498" cy="259080"/>
            </a:xfrm>
            <a:prstGeom prst="rect">
              <a:avLst/>
            </a:prstGeom>
            <a:noFill/>
            <a:ln>
              <a:noFill/>
            </a:ln>
          </p:spPr>
          <p:txBody>
            <a:bodyPr wrap="none" lIns="0" tIns="0" rIns="0" bIns="0" anchor="t" anchorCtr="0">
              <a:spAutoFit/>
            </a:bodyPr>
            <a:lstStyle/>
            <a:p>
              <a:pPr algn="ctr"/>
              <a:r>
                <a:rPr lang="zh-CN" sz="1275" dirty="0">
                  <a:solidFill>
                    <a:srgbClr val="A8B6C6"/>
                  </a:solidFill>
                  <a:latin typeface="Aptos"/>
                  <a:ea typeface="Microsoft YaHei"/>
                  <a:cs typeface="Aptos"/>
                </a:rPr>
                <a:t>policy hash</a:t>
              </a:r>
            </a:p>
          </p:txBody>
        </p:sp>
        <p:sp>
          <p:nvSpPr>
            <p:cNvPr id="54" name="Freeform 54"/>
            <p:cNvSpPr/>
            <p:nvPr/>
          </p:nvSpPr>
          <p:spPr>
            <a:xfrm>
              <a:off x="8267700" y="3333750"/>
              <a:ext cx="666750" cy="9525"/>
            </a:xfrm>
            <a:custGeom>
              <a:avLst/>
              <a:gdLst/>
              <a:ahLst/>
              <a:cxnLst/>
              <a:rect l="l" t="t" r="r" b="b"/>
              <a:pathLst>
                <a:path w="666750" h="9525">
                  <a:moveTo>
                    <a:pt x="0" y="0"/>
                  </a:moveTo>
                  <a:lnTo>
                    <a:pt x="666750" y="0"/>
                  </a:lnTo>
                </a:path>
              </a:pathLst>
            </a:custGeom>
            <a:solidFill>
              <a:srgbClr val="000000"/>
            </a:solidFill>
            <a:ln w="38100" cap="rnd">
              <a:solidFill>
                <a:srgbClr val="73F0B8"/>
              </a:solidFill>
            </a:ln>
          </p:spPr>
        </p:sp>
        <p:grpSp>
          <p:nvGrpSpPr>
            <p:cNvPr id="58" name="Group 58"/>
            <p:cNvGrpSpPr/>
            <p:nvPr/>
          </p:nvGrpSpPr>
          <p:grpSpPr>
            <a:xfrm>
              <a:off x="8704263" y="3267075"/>
              <a:ext cx="155575" cy="133350"/>
              <a:chOff x="8704263" y="3267075"/>
              <a:chExt cx="155575" cy="133350"/>
            </a:xfrm>
          </p:grpSpPr>
          <p:sp>
            <p:nvSpPr>
              <p:cNvPr id="55" name="Freeform 55"/>
              <p:cNvSpPr/>
              <p:nvPr/>
            </p:nvSpPr>
            <p:spPr>
              <a:xfrm>
                <a:off x="8704263" y="3333750"/>
                <a:ext cx="155575" cy="9525"/>
              </a:xfrm>
              <a:custGeom>
                <a:avLst/>
                <a:gdLst/>
                <a:ahLst/>
                <a:cxnLst/>
                <a:rect l="l" t="t" r="r" b="b"/>
                <a:pathLst>
                  <a:path w="155575" h="9525">
                    <a:moveTo>
                      <a:pt x="0" y="0"/>
                    </a:moveTo>
                    <a:lnTo>
                      <a:pt x="155575" y="0"/>
                    </a:lnTo>
                  </a:path>
                </a:pathLst>
              </a:custGeom>
              <a:noFill/>
              <a:ln w="19050">
                <a:solidFill>
                  <a:srgbClr val="73F0B8"/>
                </a:solidFill>
              </a:ln>
            </p:spPr>
          </p:sp>
          <p:sp>
            <p:nvSpPr>
              <p:cNvPr id="56" name="Freeform 56"/>
              <p:cNvSpPr/>
              <p:nvPr/>
            </p:nvSpPr>
            <p:spPr>
              <a:xfrm>
                <a:off x="8793163" y="3333750"/>
                <a:ext cx="66675" cy="66675"/>
              </a:xfrm>
              <a:custGeom>
                <a:avLst/>
                <a:gdLst/>
                <a:ahLst/>
                <a:cxnLst/>
                <a:rect l="l" t="t" r="r" b="b"/>
                <a:pathLst>
                  <a:path w="66675" h="66675">
                    <a:moveTo>
                      <a:pt x="0" y="66675"/>
                    </a:moveTo>
                    <a:lnTo>
                      <a:pt x="66675" y="0"/>
                    </a:lnTo>
                  </a:path>
                </a:pathLst>
              </a:custGeom>
              <a:noFill/>
              <a:ln w="19050">
                <a:solidFill>
                  <a:srgbClr val="73F0B8"/>
                </a:solidFill>
              </a:ln>
            </p:spPr>
          </p:sp>
          <p:sp>
            <p:nvSpPr>
              <p:cNvPr id="57" name="Freeform 57"/>
              <p:cNvSpPr/>
              <p:nvPr/>
            </p:nvSpPr>
            <p:spPr>
              <a:xfrm>
                <a:off x="8793163" y="3267075"/>
                <a:ext cx="66675" cy="66675"/>
              </a:xfrm>
              <a:custGeom>
                <a:avLst/>
                <a:gdLst/>
                <a:ahLst/>
                <a:cxnLst/>
                <a:rect l="l" t="t" r="r" b="b"/>
                <a:pathLst>
                  <a:path w="66675" h="66675">
                    <a:moveTo>
                      <a:pt x="0" y="0"/>
                    </a:moveTo>
                    <a:lnTo>
                      <a:pt x="66675" y="66675"/>
                    </a:lnTo>
                  </a:path>
                </a:pathLst>
              </a:custGeom>
              <a:noFill/>
              <a:ln w="19050">
                <a:solidFill>
                  <a:srgbClr val="73F0B8"/>
                </a:solidFill>
              </a:ln>
            </p:spPr>
          </p:sp>
        </p:grpSp>
        <p:sp>
          <p:nvSpPr>
            <p:cNvPr id="59" name="Freeform 59"/>
            <p:cNvSpPr/>
            <p:nvPr/>
          </p:nvSpPr>
          <p:spPr>
            <a:xfrm>
              <a:off x="9010650" y="2114550"/>
              <a:ext cx="1885950" cy="2438400"/>
            </a:xfrm>
            <a:custGeom>
              <a:avLst/>
              <a:gdLst/>
              <a:ahLst/>
              <a:cxnLst/>
              <a:rect l="l" t="t" r="r" b="b"/>
              <a:pathLst>
                <a:path w="1885950" h="2438400">
                  <a:moveTo>
                    <a:pt x="95250" y="0"/>
                  </a:moveTo>
                  <a:lnTo>
                    <a:pt x="1790700" y="0"/>
                  </a:lnTo>
                  <a:cubicBezTo>
                    <a:pt x="1843305" y="0"/>
                    <a:pt x="1885950" y="42645"/>
                    <a:pt x="1885950" y="95250"/>
                  </a:cubicBezTo>
                  <a:lnTo>
                    <a:pt x="1885950" y="2343150"/>
                  </a:lnTo>
                  <a:cubicBezTo>
                    <a:pt x="1885950" y="2395755"/>
                    <a:pt x="1843305" y="2438400"/>
                    <a:pt x="1790700" y="2438400"/>
                  </a:cubicBezTo>
                  <a:lnTo>
                    <a:pt x="95250" y="2438400"/>
                  </a:lnTo>
                  <a:cubicBezTo>
                    <a:pt x="42645" y="2438400"/>
                    <a:pt x="0" y="2395755"/>
                    <a:pt x="0" y="2343150"/>
                  </a:cubicBezTo>
                  <a:lnTo>
                    <a:pt x="0" y="95250"/>
                  </a:lnTo>
                  <a:cubicBezTo>
                    <a:pt x="0" y="42645"/>
                    <a:pt x="42645" y="0"/>
                    <a:pt x="95250" y="0"/>
                  </a:cubicBezTo>
                  <a:close/>
                </a:path>
              </a:pathLst>
            </a:custGeom>
            <a:solidFill>
              <a:srgbClr val="121A24"/>
            </a:solidFill>
            <a:ln w="19050">
              <a:solidFill>
                <a:srgbClr val="73F0B8"/>
              </a:solidFill>
            </a:ln>
          </p:spPr>
        </p:sp>
        <p:grpSp>
          <p:nvGrpSpPr>
            <p:cNvPr id="63" name="Group 63"/>
            <p:cNvGrpSpPr/>
            <p:nvPr/>
          </p:nvGrpSpPr>
          <p:grpSpPr>
            <a:xfrm>
              <a:off x="9394031" y="2440781"/>
              <a:ext cx="242888" cy="242888"/>
              <a:chOff x="9394031" y="2440781"/>
              <a:chExt cx="242888" cy="242888"/>
            </a:xfrm>
          </p:grpSpPr>
          <p:sp>
            <p:nvSpPr>
              <p:cNvPr id="60" name="Freeform 60"/>
              <p:cNvSpPr/>
              <p:nvPr/>
            </p:nvSpPr>
            <p:spPr>
              <a:xfrm>
                <a:off x="9394031" y="2629694"/>
                <a:ext cx="53975" cy="53975"/>
              </a:xfrm>
              <a:custGeom>
                <a:avLst/>
                <a:gdLst/>
                <a:ahLst/>
                <a:cxnLst/>
                <a:rect l="l" t="t" r="r" b="b"/>
                <a:pathLst>
                  <a:path w="53975" h="53975">
                    <a:moveTo>
                      <a:pt x="0" y="26988"/>
                    </a:moveTo>
                    <a:cubicBezTo>
                      <a:pt x="0" y="41892"/>
                      <a:pt x="12083" y="53975"/>
                      <a:pt x="26988" y="53975"/>
                    </a:cubicBezTo>
                    <a:cubicBezTo>
                      <a:pt x="41892" y="53975"/>
                      <a:pt x="53975" y="41892"/>
                      <a:pt x="53975" y="26988"/>
                    </a:cubicBezTo>
                    <a:cubicBezTo>
                      <a:pt x="53975" y="12083"/>
                      <a:pt x="41892" y="0"/>
                      <a:pt x="26988" y="0"/>
                    </a:cubicBezTo>
                    <a:cubicBezTo>
                      <a:pt x="12083" y="0"/>
                      <a:pt x="0" y="12083"/>
                      <a:pt x="0" y="26988"/>
                    </a:cubicBezTo>
                  </a:path>
                </a:pathLst>
              </a:custGeom>
              <a:noFill/>
              <a:ln w="19050">
                <a:solidFill>
                  <a:srgbClr val="73F0B8"/>
                </a:solidFill>
              </a:ln>
            </p:spPr>
          </p:sp>
          <p:sp>
            <p:nvSpPr>
              <p:cNvPr id="61" name="Freeform 61"/>
              <p:cNvSpPr/>
              <p:nvPr/>
            </p:nvSpPr>
            <p:spPr>
              <a:xfrm>
                <a:off x="9582944" y="2440781"/>
                <a:ext cx="53975" cy="53975"/>
              </a:xfrm>
              <a:custGeom>
                <a:avLst/>
                <a:gdLst/>
                <a:ahLst/>
                <a:cxnLst/>
                <a:rect l="l" t="t" r="r" b="b"/>
                <a:pathLst>
                  <a:path w="53975" h="53975">
                    <a:moveTo>
                      <a:pt x="26988" y="53975"/>
                    </a:moveTo>
                    <a:cubicBezTo>
                      <a:pt x="41892" y="53975"/>
                      <a:pt x="53975" y="41892"/>
                      <a:pt x="53975" y="26988"/>
                    </a:cubicBezTo>
                    <a:cubicBezTo>
                      <a:pt x="53975" y="12083"/>
                      <a:pt x="41892" y="0"/>
                      <a:pt x="26988" y="0"/>
                    </a:cubicBezTo>
                    <a:cubicBezTo>
                      <a:pt x="12083" y="0"/>
                      <a:pt x="0" y="12083"/>
                      <a:pt x="0" y="26988"/>
                    </a:cubicBezTo>
                    <a:cubicBezTo>
                      <a:pt x="0" y="41892"/>
                      <a:pt x="12083" y="53975"/>
                      <a:pt x="26988" y="53975"/>
                    </a:cubicBezTo>
                  </a:path>
                </a:pathLst>
              </a:custGeom>
              <a:noFill/>
              <a:ln w="19050">
                <a:solidFill>
                  <a:srgbClr val="73F0B8"/>
                </a:solidFill>
              </a:ln>
            </p:spPr>
          </p:sp>
          <p:sp>
            <p:nvSpPr>
              <p:cNvPr id="62" name="Freeform 62"/>
              <p:cNvSpPr/>
              <p:nvPr/>
            </p:nvSpPr>
            <p:spPr>
              <a:xfrm>
                <a:off x="9421019" y="2467769"/>
                <a:ext cx="202407" cy="188913"/>
              </a:xfrm>
              <a:custGeom>
                <a:avLst/>
                <a:gdLst/>
                <a:ahLst/>
                <a:cxnLst/>
                <a:rect l="l" t="t" r="r" b="b"/>
                <a:pathLst>
                  <a:path w="202407" h="188913">
                    <a:moveTo>
                      <a:pt x="80963" y="188913"/>
                    </a:moveTo>
                    <a:lnTo>
                      <a:pt x="155178" y="188913"/>
                    </a:lnTo>
                    <a:cubicBezTo>
                      <a:pt x="181262" y="188913"/>
                      <a:pt x="202407" y="167768"/>
                      <a:pt x="202407" y="141685"/>
                    </a:cubicBezTo>
                    <a:cubicBezTo>
                      <a:pt x="202407" y="115601"/>
                      <a:pt x="181262" y="94456"/>
                      <a:pt x="155178" y="94456"/>
                    </a:cubicBezTo>
                    <a:lnTo>
                      <a:pt x="47228" y="94456"/>
                    </a:lnTo>
                    <a:cubicBezTo>
                      <a:pt x="21145" y="94456"/>
                      <a:pt x="0" y="73312"/>
                      <a:pt x="0" y="47228"/>
                    </a:cubicBezTo>
                    <a:cubicBezTo>
                      <a:pt x="0" y="21145"/>
                      <a:pt x="21145" y="0"/>
                      <a:pt x="47228" y="0"/>
                    </a:cubicBezTo>
                    <a:lnTo>
                      <a:pt x="107950" y="0"/>
                    </a:lnTo>
                  </a:path>
                </a:pathLst>
              </a:custGeom>
              <a:noFill/>
              <a:ln w="19050">
                <a:solidFill>
                  <a:srgbClr val="73F0B8"/>
                </a:solidFill>
              </a:ln>
            </p:spPr>
          </p:sp>
        </p:grpSp>
        <p:sp>
          <p:nvSpPr>
            <p:cNvPr id="64" name="TextBox 64"/>
            <p:cNvSpPr txBox="1"/>
            <p:nvPr/>
          </p:nvSpPr>
          <p:spPr>
            <a:xfrm>
              <a:off x="9329738" y="2902744"/>
              <a:ext cx="1491555" cy="381000"/>
            </a:xfrm>
            <a:prstGeom prst="rect">
              <a:avLst/>
            </a:prstGeom>
            <a:noFill/>
            <a:ln>
              <a:noFill/>
            </a:ln>
          </p:spPr>
          <p:txBody>
            <a:bodyPr wrap="none" lIns="0" tIns="0" rIns="0" bIns="0" anchor="t" anchorCtr="0">
              <a:spAutoFit/>
            </a:bodyPr>
            <a:lstStyle/>
            <a:p>
              <a:pPr algn="l"/>
              <a:r>
                <a:rPr lang="zh-CN" sz="1875" b="1" dirty="0">
                  <a:solidFill>
                    <a:srgbClr val="EAF1F7"/>
                  </a:solidFill>
                  <a:latin typeface="Aptos Display"/>
                  <a:ea typeface="Microsoft YaHei"/>
                  <a:cs typeface="Aptos Display"/>
                </a:rPr>
                <a:t>Aggregator</a:t>
              </a:r>
            </a:p>
          </p:txBody>
        </p:sp>
        <p:sp>
          <p:nvSpPr>
            <p:cNvPr id="65" name="TextBox 65"/>
            <p:cNvSpPr txBox="1"/>
            <p:nvPr/>
          </p:nvSpPr>
          <p:spPr>
            <a:xfrm>
              <a:off x="9329738" y="3188494"/>
              <a:ext cx="625197" cy="381000"/>
            </a:xfrm>
            <a:prstGeom prst="rect">
              <a:avLst/>
            </a:prstGeom>
            <a:noFill/>
            <a:ln>
              <a:noFill/>
            </a:ln>
          </p:spPr>
          <p:txBody>
            <a:bodyPr wrap="none" lIns="0" tIns="0" rIns="0" bIns="0" anchor="t" anchorCtr="0">
              <a:spAutoFit/>
            </a:bodyPr>
            <a:lstStyle/>
            <a:p>
              <a:pPr algn="l"/>
              <a:r>
                <a:rPr lang="zh-CN" sz="1875" b="1" dirty="0">
                  <a:solidFill>
                    <a:srgbClr val="EAF1F7"/>
                  </a:solidFill>
                  <a:latin typeface="Aptos Display"/>
                  <a:ea typeface="Microsoft YaHei"/>
                  <a:cs typeface="Aptos Display"/>
                </a:rPr>
                <a:t>read</a:t>
              </a:r>
            </a:p>
          </p:txBody>
        </p:sp>
        <p:sp>
          <p:nvSpPr>
            <p:cNvPr id="66" name="TextBox 66"/>
            <p:cNvSpPr txBox="1"/>
            <p:nvPr/>
          </p:nvSpPr>
          <p:spPr>
            <a:xfrm>
              <a:off x="9340215" y="3734752"/>
              <a:ext cx="362712" cy="213360"/>
            </a:xfrm>
            <a:prstGeom prst="rect">
              <a:avLst/>
            </a:prstGeom>
            <a:noFill/>
            <a:ln>
              <a:noFill/>
            </a:ln>
          </p:spPr>
          <p:txBody>
            <a:bodyPr wrap="none" lIns="0" tIns="0" rIns="0" bIns="0" anchor="t" anchorCtr="0">
              <a:spAutoFit/>
            </a:bodyPr>
            <a:lstStyle/>
            <a:p>
              <a:pPr algn="l"/>
              <a:r>
                <a:rPr lang="zh-CN" sz="1050" dirty="0">
                  <a:solidFill>
                    <a:srgbClr val="A8B6C6"/>
                  </a:solidFill>
                  <a:latin typeface="Consolas"/>
                  <a:ea typeface="Microsoft YaHei"/>
                  <a:cs typeface="Consolas"/>
                </a:rPr>
                <a:t>POST</a:t>
              </a:r>
            </a:p>
          </p:txBody>
        </p:sp>
        <p:sp>
          <p:nvSpPr>
            <p:cNvPr id="67" name="TextBox 67"/>
            <p:cNvSpPr txBox="1"/>
            <p:nvPr/>
          </p:nvSpPr>
          <p:spPr>
            <a:xfrm>
              <a:off x="9340215" y="3963352"/>
              <a:ext cx="1069800" cy="213360"/>
            </a:xfrm>
            <a:prstGeom prst="rect">
              <a:avLst/>
            </a:prstGeom>
            <a:noFill/>
            <a:ln>
              <a:noFill/>
            </a:ln>
          </p:spPr>
          <p:txBody>
            <a:bodyPr wrap="none" lIns="0" tIns="0" rIns="0" bIns="0" anchor="t" anchorCtr="0">
              <a:spAutoFit/>
            </a:bodyPr>
            <a:lstStyle/>
            <a:p>
              <a:pPr algn="l"/>
              <a:r>
                <a:rPr lang="zh-CN" sz="1050" dirty="0">
                  <a:solidFill>
                    <a:srgbClr val="A8B6C6"/>
                  </a:solidFill>
                  <a:latin typeface="Consolas"/>
                  <a:ea typeface="Microsoft YaHei"/>
                  <a:cs typeface="Consolas"/>
                </a:rPr>
                <a:t>/api/successor</a:t>
              </a:r>
            </a:p>
          </p:txBody>
        </p:sp>
        <p:sp>
          <p:nvSpPr>
            <p:cNvPr id="68" name="TextBox 68"/>
            <p:cNvSpPr txBox="1"/>
            <p:nvPr/>
          </p:nvSpPr>
          <p:spPr>
            <a:xfrm>
              <a:off x="9340215" y="4191952"/>
              <a:ext cx="642747" cy="213360"/>
            </a:xfrm>
            <a:prstGeom prst="rect">
              <a:avLst/>
            </a:prstGeom>
            <a:noFill/>
            <a:ln>
              <a:noFill/>
            </a:ln>
          </p:spPr>
          <p:txBody>
            <a:bodyPr wrap="none" lIns="0" tIns="0" rIns="0" bIns="0" anchor="t" anchorCtr="0">
              <a:spAutoFit/>
            </a:bodyPr>
            <a:lstStyle/>
            <a:p>
              <a:pPr algn="l"/>
              <a:r>
                <a:rPr lang="zh-CN" sz="1050" dirty="0">
                  <a:solidFill>
                    <a:srgbClr val="A8B6C6"/>
                  </a:solidFill>
                  <a:latin typeface="Consolas"/>
                  <a:ea typeface="Microsoft YaHei"/>
                  <a:cs typeface="Consolas"/>
                </a:rPr>
                <a:t>/restore</a:t>
              </a:r>
            </a:p>
          </p:txBody>
        </p:sp>
        <p:sp>
          <p:nvSpPr>
            <p:cNvPr id="69" name="Freeform 69"/>
            <p:cNvSpPr/>
            <p:nvPr/>
          </p:nvSpPr>
          <p:spPr>
            <a:xfrm>
              <a:off x="10934700" y="3333750"/>
              <a:ext cx="628650" cy="9525"/>
            </a:xfrm>
            <a:custGeom>
              <a:avLst/>
              <a:gdLst/>
              <a:ahLst/>
              <a:cxnLst/>
              <a:rect l="l" t="t" r="r" b="b"/>
              <a:pathLst>
                <a:path w="628650" h="9525">
                  <a:moveTo>
                    <a:pt x="0" y="0"/>
                  </a:moveTo>
                  <a:lnTo>
                    <a:pt x="628650" y="0"/>
                  </a:lnTo>
                </a:path>
              </a:pathLst>
            </a:custGeom>
            <a:solidFill>
              <a:srgbClr val="000000"/>
            </a:solidFill>
            <a:ln w="38100" cap="rnd">
              <a:solidFill>
                <a:srgbClr val="73F0B8"/>
              </a:solidFill>
            </a:ln>
          </p:spPr>
        </p:sp>
        <p:grpSp>
          <p:nvGrpSpPr>
            <p:cNvPr id="73" name="Group 73"/>
            <p:cNvGrpSpPr/>
            <p:nvPr/>
          </p:nvGrpSpPr>
          <p:grpSpPr>
            <a:xfrm>
              <a:off x="11333163" y="3267075"/>
              <a:ext cx="155575" cy="133350"/>
              <a:chOff x="11333163" y="3267075"/>
              <a:chExt cx="155575" cy="133350"/>
            </a:xfrm>
          </p:grpSpPr>
          <p:sp>
            <p:nvSpPr>
              <p:cNvPr id="70" name="Freeform 70"/>
              <p:cNvSpPr/>
              <p:nvPr/>
            </p:nvSpPr>
            <p:spPr>
              <a:xfrm>
                <a:off x="11333163" y="3333750"/>
                <a:ext cx="155575" cy="9525"/>
              </a:xfrm>
              <a:custGeom>
                <a:avLst/>
                <a:gdLst/>
                <a:ahLst/>
                <a:cxnLst/>
                <a:rect l="l" t="t" r="r" b="b"/>
                <a:pathLst>
                  <a:path w="155575" h="9525">
                    <a:moveTo>
                      <a:pt x="0" y="0"/>
                    </a:moveTo>
                    <a:lnTo>
                      <a:pt x="155575" y="0"/>
                    </a:lnTo>
                  </a:path>
                </a:pathLst>
              </a:custGeom>
              <a:noFill/>
              <a:ln w="19050">
                <a:solidFill>
                  <a:srgbClr val="73F0B8"/>
                </a:solidFill>
              </a:ln>
            </p:spPr>
          </p:sp>
          <p:sp>
            <p:nvSpPr>
              <p:cNvPr id="71" name="Freeform 71"/>
              <p:cNvSpPr/>
              <p:nvPr/>
            </p:nvSpPr>
            <p:spPr>
              <a:xfrm>
                <a:off x="11422063" y="3333750"/>
                <a:ext cx="66675" cy="66675"/>
              </a:xfrm>
              <a:custGeom>
                <a:avLst/>
                <a:gdLst/>
                <a:ahLst/>
                <a:cxnLst/>
                <a:rect l="l" t="t" r="r" b="b"/>
                <a:pathLst>
                  <a:path w="66675" h="66675">
                    <a:moveTo>
                      <a:pt x="0" y="66675"/>
                    </a:moveTo>
                    <a:lnTo>
                      <a:pt x="66675" y="0"/>
                    </a:lnTo>
                  </a:path>
                </a:pathLst>
              </a:custGeom>
              <a:noFill/>
              <a:ln w="19050">
                <a:solidFill>
                  <a:srgbClr val="73F0B8"/>
                </a:solidFill>
              </a:ln>
            </p:spPr>
          </p:sp>
          <p:sp>
            <p:nvSpPr>
              <p:cNvPr id="72" name="Freeform 72"/>
              <p:cNvSpPr/>
              <p:nvPr/>
            </p:nvSpPr>
            <p:spPr>
              <a:xfrm>
                <a:off x="11422063" y="3267075"/>
                <a:ext cx="66675" cy="66675"/>
              </a:xfrm>
              <a:custGeom>
                <a:avLst/>
                <a:gdLst/>
                <a:ahLst/>
                <a:cxnLst/>
                <a:rect l="l" t="t" r="r" b="b"/>
                <a:pathLst>
                  <a:path w="66675" h="66675">
                    <a:moveTo>
                      <a:pt x="0" y="0"/>
                    </a:moveTo>
                    <a:lnTo>
                      <a:pt x="66675" y="66675"/>
                    </a:lnTo>
                  </a:path>
                </a:pathLst>
              </a:custGeom>
              <a:noFill/>
              <a:ln w="19050">
                <a:solidFill>
                  <a:srgbClr val="73F0B8"/>
                </a:solidFill>
              </a:ln>
            </p:spPr>
          </p:sp>
        </p:grpSp>
      </p:grpSp>
      <p:grpSp>
        <p:nvGrpSpPr>
          <p:cNvPr id="82" name="Group 82"/>
          <p:cNvGrpSpPr/>
          <p:nvPr/>
        </p:nvGrpSpPr>
        <p:grpSpPr>
          <a:xfrm>
            <a:off x="1752600" y="5219700"/>
            <a:ext cx="8686800" cy="619125"/>
            <a:chOff x="1752600" y="5219700"/>
            <a:chExt cx="8686800" cy="619125"/>
          </a:xfrm>
        </p:grpSpPr>
        <p:sp>
          <p:nvSpPr>
            <p:cNvPr id="75" name="Freeform 75"/>
            <p:cNvSpPr/>
            <p:nvPr/>
          </p:nvSpPr>
          <p:spPr>
            <a:xfrm>
              <a:off x="1752600" y="5219700"/>
              <a:ext cx="8686800" cy="609600"/>
            </a:xfrm>
            <a:custGeom>
              <a:avLst/>
              <a:gdLst/>
              <a:ahLst/>
              <a:cxnLst/>
              <a:rect l="l" t="t" r="r" b="b"/>
              <a:pathLst>
                <a:path w="8686800" h="609600">
                  <a:moveTo>
                    <a:pt x="95250" y="0"/>
                  </a:moveTo>
                  <a:lnTo>
                    <a:pt x="8591550" y="0"/>
                  </a:lnTo>
                  <a:cubicBezTo>
                    <a:pt x="8644155" y="0"/>
                    <a:pt x="8686800" y="42645"/>
                    <a:pt x="8686800" y="95250"/>
                  </a:cubicBezTo>
                  <a:lnTo>
                    <a:pt x="8686800" y="514350"/>
                  </a:lnTo>
                  <a:cubicBezTo>
                    <a:pt x="8686800" y="566955"/>
                    <a:pt x="8644155" y="609600"/>
                    <a:pt x="8591550" y="609600"/>
                  </a:cubicBezTo>
                  <a:lnTo>
                    <a:pt x="95250" y="609600"/>
                  </a:lnTo>
                  <a:cubicBezTo>
                    <a:pt x="42645" y="609600"/>
                    <a:pt x="0" y="566955"/>
                    <a:pt x="0" y="514350"/>
                  </a:cubicBezTo>
                  <a:lnTo>
                    <a:pt x="0" y="95250"/>
                  </a:lnTo>
                  <a:cubicBezTo>
                    <a:pt x="0" y="42645"/>
                    <a:pt x="42645" y="0"/>
                    <a:pt x="95250" y="0"/>
                  </a:cubicBezTo>
                  <a:close/>
                </a:path>
              </a:pathLst>
            </a:custGeom>
            <a:solidFill>
              <a:srgbClr val="121A24"/>
            </a:solidFill>
            <a:ln w="16192">
              <a:solidFill>
                <a:srgbClr val="F7B955"/>
              </a:solidFill>
            </a:ln>
          </p:spPr>
        </p:sp>
        <p:grpSp>
          <p:nvGrpSpPr>
            <p:cNvPr id="79" name="Group 79"/>
            <p:cNvGrpSpPr/>
            <p:nvPr/>
          </p:nvGrpSpPr>
          <p:grpSpPr>
            <a:xfrm>
              <a:off x="2078679" y="5420796"/>
              <a:ext cx="224134" cy="192560"/>
              <a:chOff x="2078679" y="5420796"/>
              <a:chExt cx="224134" cy="192560"/>
            </a:xfrm>
          </p:grpSpPr>
          <p:sp>
            <p:nvSpPr>
              <p:cNvPr id="76" name="Freeform 76"/>
              <p:cNvSpPr/>
              <p:nvPr/>
            </p:nvSpPr>
            <p:spPr>
              <a:xfrm>
                <a:off x="2190750" y="5491163"/>
                <a:ext cx="9525" cy="44450"/>
              </a:xfrm>
              <a:custGeom>
                <a:avLst/>
                <a:gdLst/>
                <a:ahLst/>
                <a:cxnLst/>
                <a:rect l="l" t="t" r="r" b="b"/>
                <a:pathLst>
                  <a:path w="9525" h="44450">
                    <a:moveTo>
                      <a:pt x="0" y="0"/>
                    </a:moveTo>
                    <a:lnTo>
                      <a:pt x="0" y="44450"/>
                    </a:lnTo>
                  </a:path>
                </a:pathLst>
              </a:custGeom>
              <a:noFill/>
              <a:ln w="19050">
                <a:solidFill>
                  <a:srgbClr val="F7B955"/>
                </a:solidFill>
              </a:ln>
            </p:spPr>
          </p:sp>
          <p:sp>
            <p:nvSpPr>
              <p:cNvPr id="77" name="Freeform 77"/>
              <p:cNvSpPr/>
              <p:nvPr/>
            </p:nvSpPr>
            <p:spPr>
              <a:xfrm>
                <a:off x="2078679" y="542079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19050">
                <a:solidFill>
                  <a:srgbClr val="F7B955"/>
                </a:solidFill>
              </a:ln>
            </p:spPr>
          </p:sp>
          <p:sp>
            <p:nvSpPr>
              <p:cNvPr id="78" name="Freeform 78"/>
              <p:cNvSpPr/>
              <p:nvPr/>
            </p:nvSpPr>
            <p:spPr>
              <a:xfrm>
                <a:off x="2190750" y="5568951"/>
                <a:ext cx="9525" cy="9525"/>
              </a:xfrm>
              <a:custGeom>
                <a:avLst/>
                <a:gdLst/>
                <a:ahLst/>
                <a:cxnLst/>
                <a:rect l="l" t="t" r="r" b="b"/>
                <a:pathLst>
                  <a:path w="9525" h="9525">
                    <a:moveTo>
                      <a:pt x="0" y="0"/>
                    </a:moveTo>
                    <a:lnTo>
                      <a:pt x="111" y="0"/>
                    </a:lnTo>
                  </a:path>
                </a:pathLst>
              </a:custGeom>
              <a:noFill/>
              <a:ln w="19050">
                <a:solidFill>
                  <a:srgbClr val="F7B955"/>
                </a:solidFill>
              </a:ln>
            </p:spPr>
          </p:sp>
        </p:grpSp>
        <p:sp>
          <p:nvSpPr>
            <p:cNvPr id="80" name="TextBox 80"/>
            <p:cNvSpPr txBox="1"/>
            <p:nvPr/>
          </p:nvSpPr>
          <p:spPr>
            <a:xfrm>
              <a:off x="2458402" y="5323046"/>
              <a:ext cx="6420993" cy="289560"/>
            </a:xfrm>
            <a:prstGeom prst="rect">
              <a:avLst/>
            </a:prstGeom>
            <a:noFill/>
            <a:ln>
              <a:noFill/>
            </a:ln>
          </p:spPr>
          <p:txBody>
            <a:bodyPr wrap="none" lIns="0" tIns="0" rIns="0" bIns="0" anchor="t" anchorCtr="0">
              <a:spAutoFit/>
            </a:bodyPr>
            <a:lstStyle/>
            <a:p>
              <a:pPr algn="l"/>
              <a:r>
                <a:rPr lang="zh-CN" sz="1425" b="1" dirty="0">
                  <a:solidFill>
                    <a:srgbClr val="EAF1F7"/>
                  </a:solidFill>
                  <a:latin typeface="Aptos"/>
                  <a:ea typeface="Microsoft YaHei"/>
                  <a:cs typeface="Aptos"/>
                </a:rPr>
                <a:t>If Walrus write or read fails, Memory Will does not fake success.</a:t>
              </a:r>
            </a:p>
          </p:txBody>
        </p:sp>
        <p:sp>
          <p:nvSpPr>
            <p:cNvPr id="81" name="TextBox 81"/>
            <p:cNvSpPr txBox="1"/>
            <p:nvPr/>
          </p:nvSpPr>
          <p:spPr>
            <a:xfrm>
              <a:off x="2461260" y="5594985"/>
              <a:ext cx="5959221" cy="243840"/>
            </a:xfrm>
            <a:prstGeom prst="rect">
              <a:avLst/>
            </a:prstGeom>
            <a:noFill/>
            <a:ln>
              <a:noFill/>
            </a:ln>
          </p:spPr>
          <p:txBody>
            <a:bodyPr wrap="none" lIns="0" tIns="0" rIns="0" bIns="0" anchor="t" anchorCtr="0">
              <a:spAutoFit/>
            </a:bodyPr>
            <a:lstStyle/>
            <a:p>
              <a:pPr algn="l"/>
              <a:r>
                <a:rPr lang="zh-CN" sz="1200" dirty="0">
                  <a:solidFill>
                    <a:srgbClr val="A8B6C6"/>
                  </a:solidFill>
                  <a:latin typeface="Aptos"/>
                  <a:ea typeface="Microsoft YaHei"/>
                  <a:cs typeface="Aptos"/>
                </a:rPr>
                <a:t>The successor is gated on a real storage pointer, not on hidden local state.</a:t>
              </a:r>
            </a:p>
          </p:txBody>
        </p:sp>
      </p:grpSp>
      <p:sp>
        <p:nvSpPr>
          <p:cNvPr id="83" name="TextBox 83"/>
          <p:cNvSpPr txBox="1"/>
          <p:nvPr/>
        </p:nvSpPr>
        <p:spPr>
          <a:xfrm>
            <a:off x="518160" y="6271260"/>
            <a:ext cx="7351395" cy="243840"/>
          </a:xfrm>
          <a:prstGeom prst="rect">
            <a:avLst/>
          </a:prstGeom>
          <a:noFill/>
          <a:ln>
            <a:noFill/>
          </a:ln>
        </p:spPr>
        <p:txBody>
          <a:bodyPr wrap="none" lIns="0" tIns="0" rIns="0" bIns="0" anchor="t" anchorCtr="0">
            <a:spAutoFit/>
          </a:bodyPr>
          <a:lstStyle/>
          <a:p>
            <a:pPr algn="l"/>
            <a:r>
              <a:rPr lang="zh-CN" sz="1200" dirty="0">
                <a:solidFill>
                  <a:srgbClr val="A8B6C6"/>
                </a:solidFill>
                <a:latin typeface="Aptos"/>
                <a:ea typeface="Microsoft YaHei"/>
                <a:cs typeface="Aptos"/>
              </a:rPr>
              <a:t>This is why the Walrus primitive changes the product behavior: it is required before restore.</a:t>
            </a:r>
          </a:p>
        </p:txBody>
      </p:sp>
    </p:spTree>
  </p:cSld>
  <p:clrMapOvr>
    <a:masterClrMapping/>
  </p:clrMapOvr>
  <p:transition xmlns:p14="http://schemas.microsoft.com/office/powerpoint/2010/main" p14:dur="35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0F14"/>
            </a:solidFill>
            <a:ln>
              <a:noFill/>
            </a:ln>
          </p:spPr>
        </p:sp>
        <p:sp>
          <p:nvSpPr>
            <p:cNvPr id="3" name="Rectangle 3"/>
            <p:cNvSpPr/>
            <p:nvPr/>
          </p:nvSpPr>
          <p:spPr>
            <a:xfrm>
              <a:off x="0" y="0"/>
              <a:ext cx="12192000" cy="6858000"/>
            </a:xfrm>
            <a:prstGeom prst="rect">
              <a:avLst/>
            </a:prstGeom>
            <a:gradFill>
              <a:gsLst>
                <a:gs pos="0">
                  <a:srgbClr val="4EC5F1">
                    <a:alpha val="16000"/>
                  </a:srgbClr>
                </a:gs>
                <a:gs pos="100000">
                  <a:srgbClr val="4EC5F1">
                    <a:alpha val="0"/>
                  </a:srgbClr>
                </a:gs>
              </a:gsLst>
              <a:path path="circle">
                <a:fillToRect l="50000" t="50000" r="50000" b="50000"/>
              </a:path>
            </a:gradFill>
            <a:ln>
              <a:noFill/>
            </a:ln>
          </p:spPr>
        </p:sp>
        <p:sp>
          <p:nvSpPr>
            <p:cNvPr id="4" name="Rectangle 4"/>
            <p:cNvSpPr/>
            <p:nvPr/>
          </p:nvSpPr>
          <p:spPr>
            <a:xfrm>
              <a:off x="0" y="0"/>
              <a:ext cx="12192000" cy="6858000"/>
            </a:xfrm>
            <a:prstGeom prst="rect">
              <a:avLst/>
            </a:prstGeom>
            <a:gradFill>
              <a:gsLst>
                <a:gs pos="0">
                  <a:srgbClr val="73F0B8">
                    <a:alpha val="12000"/>
                  </a:srgbClr>
                </a:gs>
                <a:gs pos="100000">
                  <a:srgbClr val="73F0B8">
                    <a:alpha val="0"/>
                  </a:srgbClr>
                </a:gs>
              </a:gsLst>
              <a:path path="circle">
                <a:fillToRect l="50000" t="50000" r="50000" b="50000"/>
              </a:path>
            </a:gradFill>
            <a:ln>
              <a:noFill/>
            </a:ln>
          </p:spPr>
        </p:sp>
        <p:sp>
          <p:nvSpPr>
            <p:cNvPr id="5" name="Freeform 5"/>
            <p:cNvSpPr/>
            <p:nvPr/>
          </p:nvSpPr>
          <p:spPr>
            <a:xfrm>
              <a:off x="857250" y="1143000"/>
              <a:ext cx="10477500" cy="4572000"/>
            </a:xfrm>
            <a:custGeom>
              <a:avLst/>
              <a:gdLst/>
              <a:ahLst/>
              <a:cxnLst/>
              <a:rect l="l" t="t" r="r" b="b"/>
              <a:pathLst>
                <a:path w="10477500" h="4572000">
                  <a:moveTo>
                    <a:pt x="0" y="0"/>
                  </a:moveTo>
                  <a:lnTo>
                    <a:pt x="10477500" y="0"/>
                  </a:lnTo>
                  <a:moveTo>
                    <a:pt x="0" y="4572000"/>
                  </a:moveTo>
                  <a:lnTo>
                    <a:pt x="10477500" y="4572000"/>
                  </a:lnTo>
                </a:path>
              </a:pathLst>
            </a:custGeom>
            <a:solidFill>
              <a:srgbClr val="000000"/>
            </a:solidFill>
            <a:ln w="14288">
              <a:solidFill>
                <a:srgbClr val="223143">
                  <a:alpha val="76000"/>
                </a:srgbClr>
              </a:solidFill>
            </a:ln>
          </p:spPr>
        </p:sp>
      </p:grpSp>
      <p:grpSp>
        <p:nvGrpSpPr>
          <p:cNvPr id="9" name="Group 9"/>
          <p:cNvGrpSpPr/>
          <p:nvPr/>
        </p:nvGrpSpPr>
        <p:grpSpPr>
          <a:xfrm>
            <a:off x="843915" y="477202"/>
            <a:ext cx="10504170" cy="213360"/>
            <a:chOff x="843915" y="477202"/>
            <a:chExt cx="10504170" cy="213360"/>
          </a:xfrm>
        </p:grpSpPr>
        <p:sp>
          <p:nvSpPr>
            <p:cNvPr id="7" name="TextBox 7"/>
            <p:cNvSpPr txBox="1"/>
            <p:nvPr/>
          </p:nvSpPr>
          <p:spPr>
            <a:xfrm>
              <a:off x="843915" y="477202"/>
              <a:ext cx="1391841" cy="213360"/>
            </a:xfrm>
            <a:prstGeom prst="rect">
              <a:avLst/>
            </a:prstGeom>
            <a:noFill/>
            <a:ln>
              <a:noFill/>
            </a:ln>
          </p:spPr>
          <p:txBody>
            <a:bodyPr wrap="none" lIns="0" tIns="0" rIns="0" bIns="0" anchor="t" anchorCtr="0">
              <a:spAutoFit/>
            </a:bodyPr>
            <a:lstStyle/>
            <a:p>
              <a:pPr algn="l"/>
              <a:r>
                <a:rPr lang="zh-CN" sz="1050" dirty="0">
                  <a:solidFill>
                    <a:srgbClr val="A8B6C6"/>
                  </a:solidFill>
                  <a:latin typeface="Consolas"/>
                  <a:ea typeface="Microsoft YaHei"/>
                  <a:cs typeface="Consolas"/>
                </a:rPr>
                <a:t>SUI PROOF BOUNDARY</a:t>
              </a:r>
            </a:p>
          </p:txBody>
        </p:sp>
        <p:sp>
          <p:nvSpPr>
            <p:cNvPr id="8" name="TextBox 8"/>
            <p:cNvSpPr txBox="1"/>
            <p:nvPr/>
          </p:nvSpPr>
          <p:spPr>
            <a:xfrm>
              <a:off x="10852356" y="477202"/>
              <a:ext cx="495729" cy="213360"/>
            </a:xfrm>
            <a:prstGeom prst="rect">
              <a:avLst/>
            </a:prstGeom>
            <a:noFill/>
            <a:ln>
              <a:noFill/>
            </a:ln>
          </p:spPr>
          <p:txBody>
            <a:bodyPr wrap="none" lIns="0" tIns="0" rIns="0" bIns="0" anchor="t" anchorCtr="0">
              <a:spAutoFit/>
            </a:bodyPr>
            <a:lstStyle/>
            <a:p>
              <a:pPr algn="r"/>
              <a:r>
                <a:rPr lang="zh-CN" sz="1050" dirty="0">
                  <a:solidFill>
                    <a:srgbClr val="667789"/>
                  </a:solidFill>
                  <a:latin typeface="Consolas"/>
                  <a:ea typeface="Microsoft YaHei"/>
                  <a:cs typeface="Consolas"/>
                </a:rPr>
                <a:t>05 / 06</a:t>
              </a:r>
            </a:p>
          </p:txBody>
        </p:sp>
      </p:grpSp>
      <p:grpSp>
        <p:nvGrpSpPr>
          <p:cNvPr id="15" name="Group 15"/>
          <p:cNvGrpSpPr/>
          <p:nvPr/>
        </p:nvGrpSpPr>
        <p:grpSpPr>
          <a:xfrm>
            <a:off x="840105" y="1225868"/>
            <a:ext cx="6292613" cy="3084194"/>
            <a:chOff x="840105" y="1225868"/>
            <a:chExt cx="6292613" cy="3084194"/>
          </a:xfrm>
        </p:grpSpPr>
        <p:sp>
          <p:nvSpPr>
            <p:cNvPr id="10" name="TextBox 10"/>
            <p:cNvSpPr txBox="1"/>
            <p:nvPr/>
          </p:nvSpPr>
          <p:spPr>
            <a:xfrm>
              <a:off x="840105" y="1225868"/>
              <a:ext cx="2851333" cy="883920"/>
            </a:xfrm>
            <a:prstGeom prst="rect">
              <a:avLst/>
            </a:prstGeom>
            <a:noFill/>
            <a:ln>
              <a:noFill/>
            </a:ln>
          </p:spPr>
          <p:txBody>
            <a:bodyPr wrap="none" lIns="0" tIns="0" rIns="0" bIns="0" anchor="t" anchorCtr="0">
              <a:spAutoFit/>
            </a:bodyPr>
            <a:lstStyle/>
            <a:p>
              <a:pPr algn="l"/>
              <a:r>
                <a:rPr lang="zh-CN" sz="4350" b="1" dirty="0">
                  <a:solidFill>
                    <a:srgbClr val="EAF1F7"/>
                  </a:solidFill>
                  <a:latin typeface="Aptos Display"/>
                  <a:ea typeface="Microsoft YaHei"/>
                  <a:cs typeface="Aptos Display"/>
                </a:rPr>
                <a:t>Sui is the</a:t>
              </a:r>
            </a:p>
          </p:txBody>
        </p:sp>
        <p:sp>
          <p:nvSpPr>
            <p:cNvPr id="11" name="TextBox 11"/>
            <p:cNvSpPr txBox="1"/>
            <p:nvPr/>
          </p:nvSpPr>
          <p:spPr>
            <a:xfrm>
              <a:off x="840105" y="1854518"/>
              <a:ext cx="5196276" cy="883920"/>
            </a:xfrm>
            <a:prstGeom prst="rect">
              <a:avLst/>
            </a:prstGeom>
            <a:noFill/>
            <a:ln>
              <a:noFill/>
            </a:ln>
          </p:spPr>
          <p:txBody>
            <a:bodyPr wrap="none" lIns="0" tIns="0" rIns="0" bIns="0" anchor="t" anchorCtr="0">
              <a:spAutoFit/>
            </a:bodyPr>
            <a:lstStyle/>
            <a:p>
              <a:pPr algn="l"/>
              <a:r>
                <a:rPr lang="zh-CN" sz="4350" b="1" dirty="0">
                  <a:solidFill>
                    <a:srgbClr val="EAF1F7"/>
                  </a:solidFill>
                  <a:latin typeface="Aptos Display"/>
                  <a:ea typeface="Microsoft YaHei"/>
                  <a:cs typeface="Aptos Display"/>
                </a:rPr>
                <a:t>inspection layer,</a:t>
              </a:r>
            </a:p>
          </p:txBody>
        </p:sp>
        <p:sp>
          <p:nvSpPr>
            <p:cNvPr id="12" name="TextBox 12"/>
            <p:cNvSpPr txBox="1"/>
            <p:nvPr/>
          </p:nvSpPr>
          <p:spPr>
            <a:xfrm>
              <a:off x="840105" y="2483168"/>
              <a:ext cx="6292613" cy="883920"/>
            </a:xfrm>
            <a:prstGeom prst="rect">
              <a:avLst/>
            </a:prstGeom>
            <a:noFill/>
            <a:ln>
              <a:noFill/>
            </a:ln>
          </p:spPr>
          <p:txBody>
            <a:bodyPr wrap="none" lIns="0" tIns="0" rIns="0" bIns="0" anchor="t" anchorCtr="0">
              <a:spAutoFit/>
            </a:bodyPr>
            <a:lstStyle/>
            <a:p>
              <a:pPr algn="l"/>
              <a:r>
                <a:rPr lang="zh-CN" sz="4350" b="1" dirty="0">
                  <a:solidFill>
                    <a:srgbClr val="EAF1F7"/>
                  </a:solidFill>
                  <a:latin typeface="Aptos Display"/>
                  <a:ea typeface="Microsoft YaHei"/>
                  <a:cs typeface="Aptos Display"/>
                </a:rPr>
                <a:t>not a made-up claim.</a:t>
              </a:r>
            </a:p>
          </p:txBody>
        </p:sp>
        <p:sp>
          <p:nvSpPr>
            <p:cNvPr id="13" name="TextBox 13"/>
            <p:cNvSpPr txBox="1"/>
            <p:nvPr/>
          </p:nvSpPr>
          <p:spPr>
            <a:xfrm>
              <a:off x="912495" y="3669982"/>
              <a:ext cx="4552474" cy="335280"/>
            </a:xfrm>
            <a:prstGeom prst="rect">
              <a:avLst/>
            </a:prstGeom>
            <a:noFill/>
            <a:ln>
              <a:noFill/>
            </a:ln>
          </p:spPr>
          <p:txBody>
            <a:bodyPr wrap="none" lIns="0" tIns="0" rIns="0" bIns="0" anchor="t" anchorCtr="0">
              <a:spAutoFit/>
            </a:bodyPr>
            <a:lstStyle/>
            <a:p>
              <a:pPr algn="l"/>
              <a:r>
                <a:rPr lang="zh-CN" sz="1650" dirty="0">
                  <a:solidFill>
                    <a:srgbClr val="A8B6C6"/>
                  </a:solidFill>
                  <a:latin typeface="Aptos"/>
                  <a:ea typeface="Microsoft YaHei"/>
                  <a:cs typeface="Aptos"/>
                </a:rPr>
                <a:t>The app reads Sui object metadata for the</a:t>
              </a:r>
            </a:p>
          </p:txBody>
        </p:sp>
        <p:sp>
          <p:nvSpPr>
            <p:cNvPr id="14" name="TextBox 14"/>
            <p:cNvSpPr txBox="1"/>
            <p:nvPr/>
          </p:nvSpPr>
          <p:spPr>
            <a:xfrm>
              <a:off x="912495" y="3974782"/>
              <a:ext cx="5091541" cy="335280"/>
            </a:xfrm>
            <a:prstGeom prst="rect">
              <a:avLst/>
            </a:prstGeom>
            <a:noFill/>
            <a:ln>
              <a:noFill/>
            </a:ln>
          </p:spPr>
          <p:txBody>
            <a:bodyPr wrap="none" lIns="0" tIns="0" rIns="0" bIns="0" anchor="t" anchorCtr="0">
              <a:spAutoFit/>
            </a:bodyPr>
            <a:lstStyle/>
            <a:p>
              <a:pPr algn="l"/>
              <a:r>
                <a:rPr lang="zh-CN" sz="1650" dirty="0">
                  <a:solidFill>
                    <a:srgbClr val="A8B6C6"/>
                  </a:solidFill>
                  <a:latin typeface="Aptos"/>
                  <a:ea typeface="Microsoft YaHei"/>
                  <a:cs typeface="Aptos"/>
                </a:rPr>
                <a:t>Walrus object returned by the real write path.</a:t>
              </a:r>
            </a:p>
          </p:txBody>
        </p:sp>
      </p:grpSp>
      <p:grpSp>
        <p:nvGrpSpPr>
          <p:cNvPr id="32" name="Group 32"/>
          <p:cNvGrpSpPr/>
          <p:nvPr/>
        </p:nvGrpSpPr>
        <p:grpSpPr>
          <a:xfrm>
            <a:off x="6858000" y="1428750"/>
            <a:ext cx="4095750" cy="3429000"/>
            <a:chOff x="6858000" y="1428750"/>
            <a:chExt cx="4095750" cy="3429000"/>
          </a:xfrm>
        </p:grpSpPr>
        <p:sp>
          <p:nvSpPr>
            <p:cNvPr id="16" name="Freeform 16"/>
            <p:cNvSpPr/>
            <p:nvPr/>
          </p:nvSpPr>
          <p:spPr>
            <a:xfrm>
              <a:off x="6858000" y="1428750"/>
              <a:ext cx="4095750" cy="3429000"/>
            </a:xfrm>
            <a:custGeom>
              <a:avLst/>
              <a:gdLst/>
              <a:ahLst/>
              <a:cxnLst/>
              <a:rect l="l" t="t" r="r" b="b"/>
              <a:pathLst>
                <a:path w="4095750" h="3429000">
                  <a:moveTo>
                    <a:pt x="114300" y="0"/>
                  </a:moveTo>
                  <a:lnTo>
                    <a:pt x="3981450" y="0"/>
                  </a:lnTo>
                  <a:cubicBezTo>
                    <a:pt x="4044576" y="0"/>
                    <a:pt x="4095750" y="51174"/>
                    <a:pt x="4095750" y="114300"/>
                  </a:cubicBezTo>
                  <a:lnTo>
                    <a:pt x="4095750" y="3314700"/>
                  </a:lnTo>
                  <a:cubicBezTo>
                    <a:pt x="4095750" y="3377826"/>
                    <a:pt x="4044576" y="3429000"/>
                    <a:pt x="3981450" y="3429000"/>
                  </a:cubicBezTo>
                  <a:lnTo>
                    <a:pt x="114300" y="3429000"/>
                  </a:lnTo>
                  <a:cubicBezTo>
                    <a:pt x="51174" y="3429000"/>
                    <a:pt x="0" y="3377826"/>
                    <a:pt x="0" y="3314700"/>
                  </a:cubicBezTo>
                  <a:lnTo>
                    <a:pt x="0" y="114300"/>
                  </a:lnTo>
                  <a:cubicBezTo>
                    <a:pt x="0" y="51174"/>
                    <a:pt x="51174" y="0"/>
                    <a:pt x="114300" y="0"/>
                  </a:cubicBezTo>
                  <a:close/>
                </a:path>
              </a:pathLst>
            </a:custGeom>
            <a:solidFill>
              <a:srgbClr val="121A24"/>
            </a:solidFill>
            <a:ln w="19050">
              <a:solidFill>
                <a:srgbClr val="4EC5F1"/>
              </a:solidFill>
            </a:ln>
          </p:spPr>
        </p:sp>
        <p:grpSp>
          <p:nvGrpSpPr>
            <p:cNvPr id="21" name="Group 21"/>
            <p:cNvGrpSpPr/>
            <p:nvPr/>
          </p:nvGrpSpPr>
          <p:grpSpPr>
            <a:xfrm>
              <a:off x="7286625" y="1838325"/>
              <a:ext cx="254000" cy="301626"/>
              <a:chOff x="7286625" y="1838325"/>
              <a:chExt cx="254000" cy="301626"/>
            </a:xfrm>
          </p:grpSpPr>
          <p:sp>
            <p:nvSpPr>
              <p:cNvPr id="17" name="Freeform 17"/>
              <p:cNvSpPr/>
              <p:nvPr/>
            </p:nvSpPr>
            <p:spPr>
              <a:xfrm>
                <a:off x="7461250" y="1838325"/>
                <a:ext cx="79375" cy="79375"/>
              </a:xfrm>
              <a:custGeom>
                <a:avLst/>
                <a:gdLst/>
                <a:ahLst/>
                <a:cxnLst/>
                <a:rect l="l" t="t" r="r" b="b"/>
                <a:pathLst>
                  <a:path w="79375" h="79375">
                    <a:moveTo>
                      <a:pt x="0" y="0"/>
                    </a:moveTo>
                    <a:lnTo>
                      <a:pt x="0" y="63500"/>
                    </a:lnTo>
                    <a:cubicBezTo>
                      <a:pt x="0" y="72268"/>
                      <a:pt x="7107" y="79375"/>
                      <a:pt x="15875" y="79375"/>
                    </a:cubicBezTo>
                    <a:lnTo>
                      <a:pt x="79375" y="79375"/>
                    </a:lnTo>
                  </a:path>
                </a:pathLst>
              </a:custGeom>
              <a:noFill/>
              <a:ln w="19050">
                <a:solidFill>
                  <a:srgbClr val="4EC5F1"/>
                </a:solidFill>
              </a:ln>
            </p:spPr>
          </p:sp>
          <p:sp>
            <p:nvSpPr>
              <p:cNvPr id="18" name="Freeform 18"/>
              <p:cNvSpPr/>
              <p:nvPr/>
            </p:nvSpPr>
            <p:spPr>
              <a:xfrm>
                <a:off x="7318375" y="1838325"/>
                <a:ext cx="222250" cy="285751"/>
              </a:xfrm>
              <a:custGeom>
                <a:avLst/>
                <a:gdLst/>
                <a:ahLst/>
                <a:cxnLst/>
                <a:rect l="l" t="t" r="r" b="b"/>
                <a:pathLst>
                  <a:path w="222250" h="285751">
                    <a:moveTo>
                      <a:pt x="0" y="79375"/>
                    </a:moveTo>
                    <a:lnTo>
                      <a:pt x="0" y="31750"/>
                    </a:lnTo>
                    <a:cubicBezTo>
                      <a:pt x="0" y="14215"/>
                      <a:pt x="14215" y="0"/>
                      <a:pt x="31750" y="0"/>
                    </a:cubicBezTo>
                    <a:lnTo>
                      <a:pt x="142875" y="0"/>
                    </a:lnTo>
                    <a:lnTo>
                      <a:pt x="222250" y="79375"/>
                    </a:lnTo>
                    <a:lnTo>
                      <a:pt x="222250" y="254001"/>
                    </a:lnTo>
                    <a:cubicBezTo>
                      <a:pt x="222250" y="271536"/>
                      <a:pt x="208035" y="285751"/>
                      <a:pt x="190500" y="285751"/>
                    </a:cubicBezTo>
                    <a:lnTo>
                      <a:pt x="111125" y="285751"/>
                    </a:lnTo>
                  </a:path>
                </a:pathLst>
              </a:custGeom>
              <a:noFill/>
              <a:ln w="19050">
                <a:solidFill>
                  <a:srgbClr val="4EC5F1"/>
                </a:solidFill>
              </a:ln>
            </p:spPr>
          </p:sp>
          <p:sp>
            <p:nvSpPr>
              <p:cNvPr id="19" name="Freeform 19"/>
              <p:cNvSpPr/>
              <p:nvPr/>
            </p:nvSpPr>
            <p:spPr>
              <a:xfrm>
                <a:off x="7286625" y="1965325"/>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19050">
                <a:solidFill>
                  <a:srgbClr val="4EC5F1"/>
                </a:solidFill>
              </a:ln>
            </p:spPr>
          </p:sp>
          <p:sp>
            <p:nvSpPr>
              <p:cNvPr id="20" name="Freeform 20"/>
              <p:cNvSpPr/>
              <p:nvPr/>
            </p:nvSpPr>
            <p:spPr>
              <a:xfrm>
                <a:off x="7286625" y="2060576"/>
                <a:ext cx="95250" cy="79375"/>
              </a:xfrm>
              <a:custGeom>
                <a:avLst/>
                <a:gdLst/>
                <a:ahLst/>
                <a:cxnLst/>
                <a:rect l="l" t="t" r="r" b="b"/>
                <a:pathLst>
                  <a:path w="95250" h="79375">
                    <a:moveTo>
                      <a:pt x="23813" y="0"/>
                    </a:moveTo>
                    <a:lnTo>
                      <a:pt x="0" y="79375"/>
                    </a:lnTo>
                    <a:lnTo>
                      <a:pt x="47625" y="55563"/>
                    </a:lnTo>
                    <a:lnTo>
                      <a:pt x="95250" y="79375"/>
                    </a:lnTo>
                    <a:lnTo>
                      <a:pt x="71438" y="0"/>
                    </a:lnTo>
                  </a:path>
                </a:pathLst>
              </a:custGeom>
              <a:noFill/>
              <a:ln w="19050">
                <a:solidFill>
                  <a:srgbClr val="4EC5F1"/>
                </a:solidFill>
              </a:ln>
            </p:spPr>
          </p:sp>
        </p:grpSp>
        <p:sp>
          <p:nvSpPr>
            <p:cNvPr id="22" name="TextBox 22"/>
            <p:cNvSpPr txBox="1"/>
            <p:nvPr/>
          </p:nvSpPr>
          <p:spPr>
            <a:xfrm>
              <a:off x="7745730" y="1811655"/>
              <a:ext cx="2920198" cy="426720"/>
            </a:xfrm>
            <a:prstGeom prst="rect">
              <a:avLst/>
            </a:prstGeom>
            <a:noFill/>
            <a:ln>
              <a:noFill/>
            </a:ln>
          </p:spPr>
          <p:txBody>
            <a:bodyPr wrap="none" lIns="0" tIns="0" rIns="0" bIns="0" anchor="t" anchorCtr="0">
              <a:spAutoFit/>
            </a:bodyPr>
            <a:lstStyle/>
            <a:p>
              <a:pPr algn="l"/>
              <a:r>
                <a:rPr lang="zh-CN" sz="2100" b="1" dirty="0">
                  <a:solidFill>
                    <a:srgbClr val="EAF1F7"/>
                  </a:solidFill>
                  <a:latin typeface="Aptos Display"/>
                  <a:ea typeface="Microsoft YaHei"/>
                  <a:cs typeface="Aptos Display"/>
                </a:rPr>
                <a:t>Receipt proof fields</a:t>
              </a:r>
            </a:p>
          </p:txBody>
        </p:sp>
        <p:grpSp>
          <p:nvGrpSpPr>
            <p:cNvPr id="31" name="Group 31"/>
            <p:cNvGrpSpPr/>
            <p:nvPr/>
          </p:nvGrpSpPr>
          <p:grpSpPr>
            <a:xfrm>
              <a:off x="7239000" y="2514600"/>
              <a:ext cx="3314700" cy="2000250"/>
              <a:chOff x="7239000" y="2514600"/>
              <a:chExt cx="3314700" cy="2000250"/>
            </a:xfrm>
          </p:grpSpPr>
          <p:sp>
            <p:nvSpPr>
              <p:cNvPr id="23" name="Freeform 23"/>
              <p:cNvSpPr/>
              <p:nvPr/>
            </p:nvSpPr>
            <p:spPr>
              <a:xfrm>
                <a:off x="7239000" y="2514600"/>
                <a:ext cx="3314700" cy="400050"/>
              </a:xfrm>
              <a:custGeom>
                <a:avLst/>
                <a:gdLst/>
                <a:ahLst/>
                <a:cxnLst/>
                <a:rect l="l" t="t" r="r" b="b"/>
                <a:pathLst>
                  <a:path w="3314700" h="400050">
                    <a:moveTo>
                      <a:pt x="66675" y="0"/>
                    </a:moveTo>
                    <a:lnTo>
                      <a:pt x="3248025" y="0"/>
                    </a:lnTo>
                    <a:cubicBezTo>
                      <a:pt x="3284849" y="0"/>
                      <a:pt x="3314700" y="29851"/>
                      <a:pt x="3314700" y="66675"/>
                    </a:cubicBezTo>
                    <a:lnTo>
                      <a:pt x="3314700" y="333375"/>
                    </a:lnTo>
                    <a:cubicBezTo>
                      <a:pt x="3314700" y="370199"/>
                      <a:pt x="3284849" y="400050"/>
                      <a:pt x="3248025" y="400050"/>
                    </a:cubicBezTo>
                    <a:lnTo>
                      <a:pt x="66675" y="400050"/>
                    </a:lnTo>
                    <a:cubicBezTo>
                      <a:pt x="29851" y="400050"/>
                      <a:pt x="0" y="370199"/>
                      <a:pt x="0" y="333375"/>
                    </a:cubicBezTo>
                    <a:lnTo>
                      <a:pt x="0" y="66675"/>
                    </a:lnTo>
                    <a:cubicBezTo>
                      <a:pt x="0" y="29851"/>
                      <a:pt x="29851" y="0"/>
                      <a:pt x="66675" y="0"/>
                    </a:cubicBezTo>
                    <a:close/>
                  </a:path>
                </a:pathLst>
              </a:custGeom>
              <a:solidFill>
                <a:srgbClr val="0B0F14"/>
              </a:solidFill>
              <a:ln w="12382">
                <a:solidFill>
                  <a:srgbClr val="2B3A4B"/>
                </a:solidFill>
              </a:ln>
            </p:spPr>
          </p:sp>
          <p:sp>
            <p:nvSpPr>
              <p:cNvPr id="24" name="TextBox 24"/>
              <p:cNvSpPr txBox="1"/>
              <p:nvPr/>
            </p:nvSpPr>
            <p:spPr>
              <a:xfrm>
                <a:off x="7434262" y="2650331"/>
                <a:ext cx="1266230" cy="228600"/>
              </a:xfrm>
              <a:prstGeom prst="rect">
                <a:avLst/>
              </a:prstGeom>
              <a:noFill/>
              <a:ln>
                <a:noFill/>
              </a:ln>
            </p:spPr>
            <p:txBody>
              <a:bodyPr wrap="none" lIns="0" tIns="0" rIns="0" bIns="0" anchor="t" anchorCtr="0">
                <a:spAutoFit/>
              </a:bodyPr>
              <a:lstStyle/>
              <a:p>
                <a:pPr algn="l"/>
                <a:r>
                  <a:rPr lang="zh-CN" sz="1125" dirty="0">
                    <a:solidFill>
                      <a:srgbClr val="4EC5F1"/>
                    </a:solidFill>
                    <a:latin typeface="Consolas"/>
                    <a:ea typeface="Microsoft YaHei"/>
                    <a:cs typeface="Consolas"/>
                  </a:rPr>
                  <a:t>walrus_object_id</a:t>
                </a:r>
              </a:p>
            </p:txBody>
          </p:sp>
          <p:sp>
            <p:nvSpPr>
              <p:cNvPr id="25" name="Freeform 25"/>
              <p:cNvSpPr/>
              <p:nvPr/>
            </p:nvSpPr>
            <p:spPr>
              <a:xfrm>
                <a:off x="7239000" y="3048000"/>
                <a:ext cx="3314700" cy="400050"/>
              </a:xfrm>
              <a:custGeom>
                <a:avLst/>
                <a:gdLst/>
                <a:ahLst/>
                <a:cxnLst/>
                <a:rect l="l" t="t" r="r" b="b"/>
                <a:pathLst>
                  <a:path w="3314700" h="400050">
                    <a:moveTo>
                      <a:pt x="66675" y="0"/>
                    </a:moveTo>
                    <a:lnTo>
                      <a:pt x="3248025" y="0"/>
                    </a:lnTo>
                    <a:cubicBezTo>
                      <a:pt x="3284849" y="0"/>
                      <a:pt x="3314700" y="29851"/>
                      <a:pt x="3314700" y="66675"/>
                    </a:cubicBezTo>
                    <a:lnTo>
                      <a:pt x="3314700" y="333375"/>
                    </a:lnTo>
                    <a:cubicBezTo>
                      <a:pt x="3314700" y="370199"/>
                      <a:pt x="3284849" y="400050"/>
                      <a:pt x="3248025" y="400050"/>
                    </a:cubicBezTo>
                    <a:lnTo>
                      <a:pt x="66675" y="400050"/>
                    </a:lnTo>
                    <a:cubicBezTo>
                      <a:pt x="29851" y="400050"/>
                      <a:pt x="0" y="370199"/>
                      <a:pt x="0" y="333375"/>
                    </a:cubicBezTo>
                    <a:lnTo>
                      <a:pt x="0" y="66675"/>
                    </a:lnTo>
                    <a:cubicBezTo>
                      <a:pt x="0" y="29851"/>
                      <a:pt x="29851" y="0"/>
                      <a:pt x="66675" y="0"/>
                    </a:cubicBezTo>
                    <a:close/>
                  </a:path>
                </a:pathLst>
              </a:custGeom>
              <a:solidFill>
                <a:srgbClr val="0B0F14"/>
              </a:solidFill>
              <a:ln w="12382">
                <a:solidFill>
                  <a:srgbClr val="2B3A4B"/>
                </a:solidFill>
              </a:ln>
            </p:spPr>
          </p:sp>
          <p:sp>
            <p:nvSpPr>
              <p:cNvPr id="26" name="TextBox 26"/>
              <p:cNvSpPr txBox="1"/>
              <p:nvPr/>
            </p:nvSpPr>
            <p:spPr>
              <a:xfrm>
                <a:off x="7434262" y="3183731"/>
                <a:ext cx="1228725" cy="228600"/>
              </a:xfrm>
              <a:prstGeom prst="rect">
                <a:avLst/>
              </a:prstGeom>
              <a:noFill/>
              <a:ln>
                <a:noFill/>
              </a:ln>
            </p:spPr>
            <p:txBody>
              <a:bodyPr wrap="none" lIns="0" tIns="0" rIns="0" bIns="0" anchor="t" anchorCtr="0">
                <a:spAutoFit/>
              </a:bodyPr>
              <a:lstStyle/>
              <a:p>
                <a:pPr algn="l"/>
                <a:r>
                  <a:rPr lang="zh-CN" sz="1125" dirty="0">
                    <a:solidFill>
                      <a:srgbClr val="73F0B8"/>
                    </a:solidFill>
                    <a:latin typeface="Consolas"/>
                    <a:ea typeface="Microsoft YaHei"/>
                    <a:cs typeface="Consolas"/>
                  </a:rPr>
                  <a:t>checkpoint_hash</a:t>
                </a:r>
              </a:p>
            </p:txBody>
          </p:sp>
          <p:sp>
            <p:nvSpPr>
              <p:cNvPr id="27" name="Freeform 27"/>
              <p:cNvSpPr/>
              <p:nvPr/>
            </p:nvSpPr>
            <p:spPr>
              <a:xfrm>
                <a:off x="7239000" y="3581400"/>
                <a:ext cx="3314700" cy="400050"/>
              </a:xfrm>
              <a:custGeom>
                <a:avLst/>
                <a:gdLst/>
                <a:ahLst/>
                <a:cxnLst/>
                <a:rect l="l" t="t" r="r" b="b"/>
                <a:pathLst>
                  <a:path w="3314700" h="400050">
                    <a:moveTo>
                      <a:pt x="66675" y="0"/>
                    </a:moveTo>
                    <a:lnTo>
                      <a:pt x="3248025" y="0"/>
                    </a:lnTo>
                    <a:cubicBezTo>
                      <a:pt x="3284849" y="0"/>
                      <a:pt x="3314700" y="29851"/>
                      <a:pt x="3314700" y="66675"/>
                    </a:cubicBezTo>
                    <a:lnTo>
                      <a:pt x="3314700" y="333375"/>
                    </a:lnTo>
                    <a:cubicBezTo>
                      <a:pt x="3314700" y="370199"/>
                      <a:pt x="3284849" y="400050"/>
                      <a:pt x="3248025" y="400050"/>
                    </a:cubicBezTo>
                    <a:lnTo>
                      <a:pt x="66675" y="400050"/>
                    </a:lnTo>
                    <a:cubicBezTo>
                      <a:pt x="29851" y="400050"/>
                      <a:pt x="0" y="370199"/>
                      <a:pt x="0" y="333375"/>
                    </a:cubicBezTo>
                    <a:lnTo>
                      <a:pt x="0" y="66675"/>
                    </a:lnTo>
                    <a:cubicBezTo>
                      <a:pt x="0" y="29851"/>
                      <a:pt x="29851" y="0"/>
                      <a:pt x="66675" y="0"/>
                    </a:cubicBezTo>
                    <a:close/>
                  </a:path>
                </a:pathLst>
              </a:custGeom>
              <a:solidFill>
                <a:srgbClr val="0B0F14"/>
              </a:solidFill>
              <a:ln w="12382">
                <a:solidFill>
                  <a:srgbClr val="2B3A4B"/>
                </a:solidFill>
              </a:ln>
            </p:spPr>
          </p:sp>
          <p:sp>
            <p:nvSpPr>
              <p:cNvPr id="28" name="TextBox 28"/>
              <p:cNvSpPr txBox="1"/>
              <p:nvPr/>
            </p:nvSpPr>
            <p:spPr>
              <a:xfrm>
                <a:off x="7434262" y="3717131"/>
                <a:ext cx="861179" cy="228600"/>
              </a:xfrm>
              <a:prstGeom prst="rect">
                <a:avLst/>
              </a:prstGeom>
              <a:noFill/>
              <a:ln>
                <a:noFill/>
              </a:ln>
            </p:spPr>
            <p:txBody>
              <a:bodyPr wrap="none" lIns="0" tIns="0" rIns="0" bIns="0" anchor="t" anchorCtr="0">
                <a:spAutoFit/>
              </a:bodyPr>
              <a:lstStyle/>
              <a:p>
                <a:pPr algn="l"/>
                <a:r>
                  <a:rPr lang="zh-CN" sz="1125" dirty="0">
                    <a:solidFill>
                      <a:srgbClr val="F7B955"/>
                    </a:solidFill>
                    <a:latin typeface="Consolas"/>
                    <a:ea typeface="Microsoft YaHei"/>
                    <a:cs typeface="Consolas"/>
                  </a:rPr>
                  <a:t>policy_hash</a:t>
                </a:r>
              </a:p>
            </p:txBody>
          </p:sp>
          <p:sp>
            <p:nvSpPr>
              <p:cNvPr id="29" name="Freeform 29"/>
              <p:cNvSpPr/>
              <p:nvPr/>
            </p:nvSpPr>
            <p:spPr>
              <a:xfrm>
                <a:off x="7239000" y="4114800"/>
                <a:ext cx="3314700" cy="400050"/>
              </a:xfrm>
              <a:custGeom>
                <a:avLst/>
                <a:gdLst/>
                <a:ahLst/>
                <a:cxnLst/>
                <a:rect l="l" t="t" r="r" b="b"/>
                <a:pathLst>
                  <a:path w="3314700" h="400050">
                    <a:moveTo>
                      <a:pt x="66675" y="0"/>
                    </a:moveTo>
                    <a:lnTo>
                      <a:pt x="3248025" y="0"/>
                    </a:lnTo>
                    <a:cubicBezTo>
                      <a:pt x="3284849" y="0"/>
                      <a:pt x="3314700" y="29851"/>
                      <a:pt x="3314700" y="66675"/>
                    </a:cubicBezTo>
                    <a:lnTo>
                      <a:pt x="3314700" y="333375"/>
                    </a:lnTo>
                    <a:cubicBezTo>
                      <a:pt x="3314700" y="370199"/>
                      <a:pt x="3284849" y="400050"/>
                      <a:pt x="3248025" y="400050"/>
                    </a:cubicBezTo>
                    <a:lnTo>
                      <a:pt x="66675" y="400050"/>
                    </a:lnTo>
                    <a:cubicBezTo>
                      <a:pt x="29851" y="400050"/>
                      <a:pt x="0" y="370199"/>
                      <a:pt x="0" y="333375"/>
                    </a:cubicBezTo>
                    <a:lnTo>
                      <a:pt x="0" y="66675"/>
                    </a:lnTo>
                    <a:cubicBezTo>
                      <a:pt x="0" y="29851"/>
                      <a:pt x="29851" y="0"/>
                      <a:pt x="66675" y="0"/>
                    </a:cubicBezTo>
                    <a:close/>
                  </a:path>
                </a:pathLst>
              </a:custGeom>
              <a:solidFill>
                <a:srgbClr val="0B0F14"/>
              </a:solidFill>
              <a:ln w="12382">
                <a:solidFill>
                  <a:srgbClr val="2B3A4B"/>
                </a:solidFill>
              </a:ln>
            </p:spPr>
          </p:sp>
          <p:sp>
            <p:nvSpPr>
              <p:cNvPr id="30" name="TextBox 30"/>
              <p:cNvSpPr txBox="1"/>
              <p:nvPr/>
            </p:nvSpPr>
            <p:spPr>
              <a:xfrm>
                <a:off x="7434262" y="4250531"/>
                <a:ext cx="1146215" cy="228600"/>
              </a:xfrm>
              <a:prstGeom prst="rect">
                <a:avLst/>
              </a:prstGeom>
              <a:noFill/>
              <a:ln>
                <a:noFill/>
              </a:ln>
            </p:spPr>
            <p:txBody>
              <a:bodyPr wrap="none" lIns="0" tIns="0" rIns="0" bIns="0" anchor="t" anchorCtr="0">
                <a:spAutoFit/>
              </a:bodyPr>
              <a:lstStyle/>
              <a:p>
                <a:pPr algn="l"/>
                <a:r>
                  <a:rPr lang="zh-CN" sz="1125" dirty="0">
                    <a:solidFill>
                      <a:srgbClr val="A8B6C6"/>
                    </a:solidFill>
                    <a:latin typeface="Consolas"/>
                    <a:ea typeface="Microsoft YaHei"/>
                    <a:cs typeface="Consolas"/>
                  </a:rPr>
                  <a:t>redaction_hash</a:t>
                </a:r>
              </a:p>
            </p:txBody>
          </p:sp>
        </p:grpSp>
      </p:grpSp>
      <p:grpSp>
        <p:nvGrpSpPr>
          <p:cNvPr id="53" name="Group 53"/>
          <p:cNvGrpSpPr/>
          <p:nvPr/>
        </p:nvGrpSpPr>
        <p:grpSpPr>
          <a:xfrm>
            <a:off x="876300" y="5067300"/>
            <a:ext cx="10420350" cy="895350"/>
            <a:chOff x="876300" y="5067300"/>
            <a:chExt cx="10420350" cy="895350"/>
          </a:xfrm>
        </p:grpSpPr>
        <p:sp>
          <p:nvSpPr>
            <p:cNvPr id="33" name="Freeform 33"/>
            <p:cNvSpPr/>
            <p:nvPr/>
          </p:nvSpPr>
          <p:spPr>
            <a:xfrm>
              <a:off x="876300" y="5067300"/>
              <a:ext cx="3219450" cy="895350"/>
            </a:xfrm>
            <a:custGeom>
              <a:avLst/>
              <a:gdLst/>
              <a:ahLst/>
              <a:cxnLst/>
              <a:rect l="l" t="t" r="r" b="b"/>
              <a:pathLst>
                <a:path w="3219450" h="895350">
                  <a:moveTo>
                    <a:pt x="95250" y="0"/>
                  </a:moveTo>
                  <a:lnTo>
                    <a:pt x="3124200" y="0"/>
                  </a:lnTo>
                  <a:cubicBezTo>
                    <a:pt x="3176805" y="0"/>
                    <a:pt x="3219450" y="42645"/>
                    <a:pt x="3219450" y="95250"/>
                  </a:cubicBezTo>
                  <a:lnTo>
                    <a:pt x="3219450" y="800100"/>
                  </a:lnTo>
                  <a:cubicBezTo>
                    <a:pt x="3219450" y="852705"/>
                    <a:pt x="3176805" y="895350"/>
                    <a:pt x="3124200" y="895350"/>
                  </a:cubicBezTo>
                  <a:lnTo>
                    <a:pt x="95250" y="895350"/>
                  </a:lnTo>
                  <a:cubicBezTo>
                    <a:pt x="42645" y="895350"/>
                    <a:pt x="0" y="852705"/>
                    <a:pt x="0" y="800100"/>
                  </a:cubicBezTo>
                  <a:lnTo>
                    <a:pt x="0" y="95250"/>
                  </a:lnTo>
                  <a:cubicBezTo>
                    <a:pt x="0" y="42645"/>
                    <a:pt x="42645" y="0"/>
                    <a:pt x="95250" y="0"/>
                  </a:cubicBezTo>
                  <a:close/>
                </a:path>
              </a:pathLst>
            </a:custGeom>
            <a:solidFill>
              <a:srgbClr val="071018"/>
            </a:solidFill>
            <a:ln w="16192">
              <a:solidFill>
                <a:srgbClr val="73F0B8"/>
              </a:solidFill>
            </a:ln>
          </p:spPr>
        </p:sp>
        <p:sp>
          <p:nvSpPr>
            <p:cNvPr id="34" name="Freeform 34"/>
            <p:cNvSpPr/>
            <p:nvPr/>
          </p:nvSpPr>
          <p:spPr>
            <a:xfrm>
              <a:off x="1198563" y="5411788"/>
              <a:ext cx="166688" cy="111125"/>
            </a:xfrm>
            <a:custGeom>
              <a:avLst/>
              <a:gdLst/>
              <a:ahLst/>
              <a:cxnLst/>
              <a:rect l="l" t="t" r="r" b="b"/>
              <a:pathLst>
                <a:path w="166688" h="111125">
                  <a:moveTo>
                    <a:pt x="0" y="55563"/>
                  </a:moveTo>
                  <a:lnTo>
                    <a:pt x="55563" y="111125"/>
                  </a:lnTo>
                  <a:lnTo>
                    <a:pt x="166688" y="0"/>
                  </a:lnTo>
                </a:path>
              </a:pathLst>
            </a:custGeom>
            <a:noFill/>
            <a:ln w="19050">
              <a:solidFill>
                <a:srgbClr val="73F0B8"/>
              </a:solidFill>
            </a:ln>
          </p:spPr>
        </p:sp>
        <p:sp>
          <p:nvSpPr>
            <p:cNvPr id="35" name="TextBox 35"/>
            <p:cNvSpPr txBox="1"/>
            <p:nvPr/>
          </p:nvSpPr>
          <p:spPr>
            <a:xfrm>
              <a:off x="1506855" y="5207318"/>
              <a:ext cx="1451967" cy="274320"/>
            </a:xfrm>
            <a:prstGeom prst="rect">
              <a:avLst/>
            </a:prstGeom>
            <a:noFill/>
            <a:ln>
              <a:noFill/>
            </a:ln>
          </p:spPr>
          <p:txBody>
            <a:bodyPr wrap="none" lIns="0" tIns="0" rIns="0" bIns="0" anchor="t" anchorCtr="0">
              <a:spAutoFit/>
            </a:bodyPr>
            <a:lstStyle/>
            <a:p>
              <a:pPr algn="l"/>
              <a:r>
                <a:rPr lang="zh-CN" sz="1350" b="1" dirty="0">
                  <a:solidFill>
                    <a:srgbClr val="EAF1F7"/>
                  </a:solidFill>
                  <a:latin typeface="Aptos"/>
                  <a:ea typeface="Microsoft YaHei"/>
                  <a:cs typeface="Aptos"/>
                </a:rPr>
                <a:t>Real proof path</a:t>
              </a:r>
            </a:p>
          </p:txBody>
        </p:sp>
        <p:sp>
          <p:nvSpPr>
            <p:cNvPr id="36" name="TextBox 36"/>
            <p:cNvSpPr txBox="1"/>
            <p:nvPr/>
          </p:nvSpPr>
          <p:spPr>
            <a:xfrm>
              <a:off x="1509712" y="5460206"/>
              <a:ext cx="2023824" cy="228600"/>
            </a:xfrm>
            <a:prstGeom prst="rect">
              <a:avLst/>
            </a:prstGeom>
            <a:noFill/>
            <a:ln>
              <a:noFill/>
            </a:ln>
          </p:spPr>
          <p:txBody>
            <a:bodyPr wrap="none" lIns="0" tIns="0" rIns="0" bIns="0" anchor="t" anchorCtr="0">
              <a:spAutoFit/>
            </a:bodyPr>
            <a:lstStyle/>
            <a:p>
              <a:pPr algn="l"/>
              <a:r>
                <a:rPr lang="zh-CN" sz="1125" dirty="0">
                  <a:solidFill>
                    <a:srgbClr val="A8B6C6"/>
                  </a:solidFill>
                  <a:latin typeface="Aptos"/>
                  <a:ea typeface="Microsoft YaHei"/>
                  <a:cs typeface="Aptos"/>
                </a:rPr>
                <a:t>Sui object metadata is read</a:t>
              </a:r>
            </a:p>
          </p:txBody>
        </p:sp>
        <p:sp>
          <p:nvSpPr>
            <p:cNvPr id="37" name="TextBox 37"/>
            <p:cNvSpPr txBox="1"/>
            <p:nvPr/>
          </p:nvSpPr>
          <p:spPr>
            <a:xfrm>
              <a:off x="1509712" y="5669756"/>
              <a:ext cx="1858804" cy="228600"/>
            </a:xfrm>
            <a:prstGeom prst="rect">
              <a:avLst/>
            </a:prstGeom>
            <a:noFill/>
            <a:ln>
              <a:noFill/>
            </a:ln>
          </p:spPr>
          <p:txBody>
            <a:bodyPr wrap="none" lIns="0" tIns="0" rIns="0" bIns="0" anchor="t" anchorCtr="0">
              <a:spAutoFit/>
            </a:bodyPr>
            <a:lstStyle/>
            <a:p>
              <a:pPr algn="l"/>
              <a:r>
                <a:rPr lang="zh-CN" sz="1125" dirty="0">
                  <a:solidFill>
                    <a:srgbClr val="A8B6C6"/>
                  </a:solidFill>
                  <a:latin typeface="Aptos"/>
                  <a:ea typeface="Microsoft YaHei"/>
                  <a:cs typeface="Aptos"/>
                </a:rPr>
                <a:t>for the Walrus object id.</a:t>
              </a:r>
            </a:p>
          </p:txBody>
        </p:sp>
        <p:sp>
          <p:nvSpPr>
            <p:cNvPr id="38" name="Freeform 38"/>
            <p:cNvSpPr/>
            <p:nvPr/>
          </p:nvSpPr>
          <p:spPr>
            <a:xfrm>
              <a:off x="4476750" y="5067300"/>
              <a:ext cx="3219450" cy="895350"/>
            </a:xfrm>
            <a:custGeom>
              <a:avLst/>
              <a:gdLst/>
              <a:ahLst/>
              <a:cxnLst/>
              <a:rect l="l" t="t" r="r" b="b"/>
              <a:pathLst>
                <a:path w="3219450" h="895350">
                  <a:moveTo>
                    <a:pt x="95250" y="0"/>
                  </a:moveTo>
                  <a:lnTo>
                    <a:pt x="3124200" y="0"/>
                  </a:lnTo>
                  <a:cubicBezTo>
                    <a:pt x="3176805" y="0"/>
                    <a:pt x="3219450" y="42645"/>
                    <a:pt x="3219450" y="95250"/>
                  </a:cubicBezTo>
                  <a:lnTo>
                    <a:pt x="3219450" y="800100"/>
                  </a:lnTo>
                  <a:cubicBezTo>
                    <a:pt x="3219450" y="852705"/>
                    <a:pt x="3176805" y="895350"/>
                    <a:pt x="3124200" y="895350"/>
                  </a:cubicBezTo>
                  <a:lnTo>
                    <a:pt x="95250" y="895350"/>
                  </a:lnTo>
                  <a:cubicBezTo>
                    <a:pt x="42645" y="895350"/>
                    <a:pt x="0" y="852705"/>
                    <a:pt x="0" y="800100"/>
                  </a:cubicBezTo>
                  <a:lnTo>
                    <a:pt x="0" y="95250"/>
                  </a:lnTo>
                  <a:cubicBezTo>
                    <a:pt x="0" y="42645"/>
                    <a:pt x="42645" y="0"/>
                    <a:pt x="95250" y="0"/>
                  </a:cubicBezTo>
                  <a:close/>
                </a:path>
              </a:pathLst>
            </a:custGeom>
            <a:solidFill>
              <a:srgbClr val="071018"/>
            </a:solidFill>
            <a:ln w="16192">
              <a:solidFill>
                <a:srgbClr val="73F0B8"/>
              </a:solidFill>
            </a:ln>
          </p:spPr>
        </p:sp>
        <p:grpSp>
          <p:nvGrpSpPr>
            <p:cNvPr id="41" name="Group 41"/>
            <p:cNvGrpSpPr/>
            <p:nvPr/>
          </p:nvGrpSpPr>
          <p:grpSpPr>
            <a:xfrm>
              <a:off x="4776788" y="5378450"/>
              <a:ext cx="200025" cy="177801"/>
              <a:chOff x="4776788" y="5378450"/>
              <a:chExt cx="200025" cy="177801"/>
            </a:xfrm>
          </p:grpSpPr>
          <p:sp>
            <p:nvSpPr>
              <p:cNvPr id="39" name="Freeform 39"/>
              <p:cNvSpPr/>
              <p:nvPr/>
            </p:nvSpPr>
            <p:spPr>
              <a:xfrm>
                <a:off x="4776788" y="5378450"/>
                <a:ext cx="44450" cy="177801"/>
              </a:xfrm>
              <a:custGeom>
                <a:avLst/>
                <a:gdLst/>
                <a:ahLst/>
                <a:cxnLst/>
                <a:rect l="l" t="t" r="r" b="b"/>
                <a:pathLst>
                  <a:path w="44450" h="177801">
                    <a:moveTo>
                      <a:pt x="44450" y="0"/>
                    </a:moveTo>
                    <a:cubicBezTo>
                      <a:pt x="32176" y="0"/>
                      <a:pt x="22225" y="9950"/>
                      <a:pt x="22225" y="22225"/>
                    </a:cubicBezTo>
                    <a:lnTo>
                      <a:pt x="22225" y="55563"/>
                    </a:lnTo>
                    <a:cubicBezTo>
                      <a:pt x="22225" y="73975"/>
                      <a:pt x="12275" y="88900"/>
                      <a:pt x="0" y="88900"/>
                    </a:cubicBezTo>
                    <a:cubicBezTo>
                      <a:pt x="12275" y="88900"/>
                      <a:pt x="22225" y="103826"/>
                      <a:pt x="22225" y="122238"/>
                    </a:cubicBezTo>
                    <a:lnTo>
                      <a:pt x="22225" y="155575"/>
                    </a:lnTo>
                    <a:cubicBezTo>
                      <a:pt x="22225" y="167850"/>
                      <a:pt x="32176" y="177801"/>
                      <a:pt x="44450" y="177801"/>
                    </a:cubicBezTo>
                  </a:path>
                </a:pathLst>
              </a:custGeom>
              <a:noFill/>
              <a:ln w="19050">
                <a:solidFill>
                  <a:srgbClr val="73F0B8"/>
                </a:solidFill>
              </a:ln>
            </p:spPr>
          </p:sp>
          <p:sp>
            <p:nvSpPr>
              <p:cNvPr id="40" name="Freeform 40"/>
              <p:cNvSpPr/>
              <p:nvPr/>
            </p:nvSpPr>
            <p:spPr>
              <a:xfrm>
                <a:off x="4932363" y="5378450"/>
                <a:ext cx="44450" cy="177801"/>
              </a:xfrm>
              <a:custGeom>
                <a:avLst/>
                <a:gdLst/>
                <a:ahLst/>
                <a:cxnLst/>
                <a:rect l="l" t="t" r="r" b="b"/>
                <a:pathLst>
                  <a:path w="44450" h="177801">
                    <a:moveTo>
                      <a:pt x="0" y="0"/>
                    </a:moveTo>
                    <a:cubicBezTo>
                      <a:pt x="12275" y="0"/>
                      <a:pt x="22225" y="9950"/>
                      <a:pt x="22225" y="22225"/>
                    </a:cubicBezTo>
                    <a:lnTo>
                      <a:pt x="22225" y="55563"/>
                    </a:lnTo>
                    <a:cubicBezTo>
                      <a:pt x="22225" y="73975"/>
                      <a:pt x="32176" y="88900"/>
                      <a:pt x="44450" y="88900"/>
                    </a:cubicBezTo>
                    <a:cubicBezTo>
                      <a:pt x="32176" y="88900"/>
                      <a:pt x="22225" y="103826"/>
                      <a:pt x="22225" y="122238"/>
                    </a:cubicBezTo>
                    <a:lnTo>
                      <a:pt x="22225" y="155575"/>
                    </a:lnTo>
                    <a:cubicBezTo>
                      <a:pt x="22225" y="167850"/>
                      <a:pt x="12275" y="177801"/>
                      <a:pt x="0" y="177801"/>
                    </a:cubicBezTo>
                  </a:path>
                </a:pathLst>
              </a:custGeom>
              <a:noFill/>
              <a:ln w="19050">
                <a:solidFill>
                  <a:srgbClr val="73F0B8"/>
                </a:solidFill>
              </a:ln>
            </p:spPr>
          </p:sp>
        </p:grpSp>
        <p:sp>
          <p:nvSpPr>
            <p:cNvPr id="42" name="TextBox 42"/>
            <p:cNvSpPr txBox="1"/>
            <p:nvPr/>
          </p:nvSpPr>
          <p:spPr>
            <a:xfrm>
              <a:off x="5107305" y="5207318"/>
              <a:ext cx="2066294" cy="274320"/>
            </a:xfrm>
            <a:prstGeom prst="rect">
              <a:avLst/>
            </a:prstGeom>
            <a:noFill/>
            <a:ln>
              <a:noFill/>
            </a:ln>
          </p:spPr>
          <p:txBody>
            <a:bodyPr wrap="none" lIns="0" tIns="0" rIns="0" bIns="0" anchor="t" anchorCtr="0">
              <a:spAutoFit/>
            </a:bodyPr>
            <a:lstStyle/>
            <a:p>
              <a:pPr algn="l"/>
              <a:r>
                <a:rPr lang="zh-CN" sz="1350" b="1" dirty="0">
                  <a:solidFill>
                    <a:srgbClr val="EAF1F7"/>
                  </a:solidFill>
                  <a:latin typeface="Aptos"/>
                  <a:ea typeface="Microsoft YaHei"/>
                  <a:cs typeface="Aptos"/>
                </a:rPr>
                <a:t>Move package included</a:t>
              </a:r>
            </a:p>
          </p:txBody>
        </p:sp>
        <p:sp>
          <p:nvSpPr>
            <p:cNvPr id="43" name="TextBox 43"/>
            <p:cNvSpPr txBox="1"/>
            <p:nvPr/>
          </p:nvSpPr>
          <p:spPr>
            <a:xfrm>
              <a:off x="5110162" y="5460206"/>
              <a:ext cx="1956316" cy="228600"/>
            </a:xfrm>
            <a:prstGeom prst="rect">
              <a:avLst/>
            </a:prstGeom>
            <a:noFill/>
            <a:ln>
              <a:noFill/>
            </a:ln>
          </p:spPr>
          <p:txBody>
            <a:bodyPr wrap="none" lIns="0" tIns="0" rIns="0" bIns="0" anchor="t" anchorCtr="0">
              <a:spAutoFit/>
            </a:bodyPr>
            <a:lstStyle/>
            <a:p>
              <a:pPr algn="l"/>
              <a:r>
                <a:rPr lang="zh-CN" sz="1125" dirty="0">
                  <a:solidFill>
                    <a:srgbClr val="A8B6C6"/>
                  </a:solidFill>
                  <a:latin typeface="Aptos"/>
                  <a:ea typeface="Microsoft YaHei"/>
                  <a:cs typeface="Aptos"/>
                </a:rPr>
                <a:t>`MemoryWillAnchor` builds</a:t>
              </a:r>
            </a:p>
          </p:txBody>
        </p:sp>
        <p:sp>
          <p:nvSpPr>
            <p:cNvPr id="44" name="TextBox 44"/>
            <p:cNvSpPr txBox="1"/>
            <p:nvPr/>
          </p:nvSpPr>
          <p:spPr>
            <a:xfrm>
              <a:off x="5110162" y="5669756"/>
              <a:ext cx="1326237" cy="228600"/>
            </a:xfrm>
            <a:prstGeom prst="rect">
              <a:avLst/>
            </a:prstGeom>
            <a:noFill/>
            <a:ln>
              <a:noFill/>
            </a:ln>
          </p:spPr>
          <p:txBody>
            <a:bodyPr wrap="none" lIns="0" tIns="0" rIns="0" bIns="0" anchor="t" anchorCtr="0">
              <a:spAutoFit/>
            </a:bodyPr>
            <a:lstStyle/>
            <a:p>
              <a:pPr algn="l"/>
              <a:r>
                <a:rPr lang="zh-CN" sz="1125" dirty="0">
                  <a:solidFill>
                    <a:srgbClr val="A8B6C6"/>
                  </a:solidFill>
                  <a:latin typeface="Aptos"/>
                  <a:ea typeface="Microsoft YaHei"/>
                  <a:cs typeface="Aptos"/>
                </a:rPr>
                <a:t>and tests locally.</a:t>
              </a:r>
            </a:p>
          </p:txBody>
        </p:sp>
        <p:sp>
          <p:nvSpPr>
            <p:cNvPr id="45" name="Freeform 45"/>
            <p:cNvSpPr/>
            <p:nvPr/>
          </p:nvSpPr>
          <p:spPr>
            <a:xfrm>
              <a:off x="8077200" y="5067300"/>
              <a:ext cx="3219450" cy="895350"/>
            </a:xfrm>
            <a:custGeom>
              <a:avLst/>
              <a:gdLst/>
              <a:ahLst/>
              <a:cxnLst/>
              <a:rect l="l" t="t" r="r" b="b"/>
              <a:pathLst>
                <a:path w="3219450" h="895350">
                  <a:moveTo>
                    <a:pt x="95250" y="0"/>
                  </a:moveTo>
                  <a:lnTo>
                    <a:pt x="3124200" y="0"/>
                  </a:lnTo>
                  <a:cubicBezTo>
                    <a:pt x="3176805" y="0"/>
                    <a:pt x="3219450" y="42645"/>
                    <a:pt x="3219450" y="95250"/>
                  </a:cubicBezTo>
                  <a:lnTo>
                    <a:pt x="3219450" y="800100"/>
                  </a:lnTo>
                  <a:cubicBezTo>
                    <a:pt x="3219450" y="852705"/>
                    <a:pt x="3176805" y="895350"/>
                    <a:pt x="3124200" y="895350"/>
                  </a:cubicBezTo>
                  <a:lnTo>
                    <a:pt x="95250" y="895350"/>
                  </a:lnTo>
                  <a:cubicBezTo>
                    <a:pt x="42645" y="895350"/>
                    <a:pt x="0" y="852705"/>
                    <a:pt x="0" y="800100"/>
                  </a:cubicBezTo>
                  <a:lnTo>
                    <a:pt x="0" y="95250"/>
                  </a:lnTo>
                  <a:cubicBezTo>
                    <a:pt x="0" y="42645"/>
                    <a:pt x="42645" y="0"/>
                    <a:pt x="95250" y="0"/>
                  </a:cubicBezTo>
                  <a:close/>
                </a:path>
              </a:pathLst>
            </a:custGeom>
            <a:solidFill>
              <a:srgbClr val="071018"/>
            </a:solidFill>
            <a:ln w="16192">
              <a:solidFill>
                <a:srgbClr val="F7B955"/>
              </a:solidFill>
            </a:ln>
          </p:spPr>
        </p:sp>
        <p:grpSp>
          <p:nvGrpSpPr>
            <p:cNvPr id="49" name="Group 49"/>
            <p:cNvGrpSpPr/>
            <p:nvPr/>
          </p:nvGrpSpPr>
          <p:grpSpPr>
            <a:xfrm>
              <a:off x="8365179" y="5363646"/>
              <a:ext cx="224134" cy="192560"/>
              <a:chOff x="8365179" y="5363646"/>
              <a:chExt cx="224134" cy="192560"/>
            </a:xfrm>
          </p:grpSpPr>
          <p:sp>
            <p:nvSpPr>
              <p:cNvPr id="46" name="Freeform 46"/>
              <p:cNvSpPr/>
              <p:nvPr/>
            </p:nvSpPr>
            <p:spPr>
              <a:xfrm>
                <a:off x="8477250" y="5434013"/>
                <a:ext cx="9525" cy="44450"/>
              </a:xfrm>
              <a:custGeom>
                <a:avLst/>
                <a:gdLst/>
                <a:ahLst/>
                <a:cxnLst/>
                <a:rect l="l" t="t" r="r" b="b"/>
                <a:pathLst>
                  <a:path w="9525" h="44450">
                    <a:moveTo>
                      <a:pt x="0" y="0"/>
                    </a:moveTo>
                    <a:lnTo>
                      <a:pt x="0" y="44450"/>
                    </a:lnTo>
                  </a:path>
                </a:pathLst>
              </a:custGeom>
              <a:noFill/>
              <a:ln w="19050">
                <a:solidFill>
                  <a:srgbClr val="F7B955"/>
                </a:solidFill>
              </a:ln>
            </p:spPr>
          </p:sp>
          <p:sp>
            <p:nvSpPr>
              <p:cNvPr id="47" name="Freeform 47"/>
              <p:cNvSpPr/>
              <p:nvPr/>
            </p:nvSpPr>
            <p:spPr>
              <a:xfrm>
                <a:off x="8365179" y="536364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19050">
                <a:solidFill>
                  <a:srgbClr val="F7B955"/>
                </a:solidFill>
              </a:ln>
            </p:spPr>
          </p:sp>
          <p:sp>
            <p:nvSpPr>
              <p:cNvPr id="48" name="Freeform 48"/>
              <p:cNvSpPr/>
              <p:nvPr/>
            </p:nvSpPr>
            <p:spPr>
              <a:xfrm>
                <a:off x="8477250" y="5511801"/>
                <a:ext cx="9525" cy="9525"/>
              </a:xfrm>
              <a:custGeom>
                <a:avLst/>
                <a:gdLst/>
                <a:ahLst/>
                <a:cxnLst/>
                <a:rect l="l" t="t" r="r" b="b"/>
                <a:pathLst>
                  <a:path w="9525" h="9525">
                    <a:moveTo>
                      <a:pt x="0" y="0"/>
                    </a:moveTo>
                    <a:lnTo>
                      <a:pt x="111" y="0"/>
                    </a:lnTo>
                  </a:path>
                </a:pathLst>
              </a:custGeom>
              <a:noFill/>
              <a:ln w="19050">
                <a:solidFill>
                  <a:srgbClr val="F7B955"/>
                </a:solidFill>
              </a:ln>
            </p:spPr>
          </p:sp>
        </p:grpSp>
        <p:sp>
          <p:nvSpPr>
            <p:cNvPr id="50" name="TextBox 50"/>
            <p:cNvSpPr txBox="1"/>
            <p:nvPr/>
          </p:nvSpPr>
          <p:spPr>
            <a:xfrm>
              <a:off x="8707755" y="5207318"/>
              <a:ext cx="1867819" cy="274320"/>
            </a:xfrm>
            <a:prstGeom prst="rect">
              <a:avLst/>
            </a:prstGeom>
            <a:noFill/>
            <a:ln>
              <a:noFill/>
            </a:ln>
          </p:spPr>
          <p:txBody>
            <a:bodyPr wrap="none" lIns="0" tIns="0" rIns="0" bIns="0" anchor="t" anchorCtr="0">
              <a:spAutoFit/>
            </a:bodyPr>
            <a:lstStyle/>
            <a:p>
              <a:pPr algn="l"/>
              <a:r>
                <a:rPr lang="zh-CN" sz="1350" b="1" dirty="0">
                  <a:solidFill>
                    <a:srgbClr val="EAF1F7"/>
                  </a:solidFill>
                  <a:latin typeface="Aptos"/>
                  <a:ea typeface="Microsoft YaHei"/>
                  <a:cs typeface="Aptos"/>
                </a:rPr>
                <a:t>No publish overclaim</a:t>
              </a:r>
            </a:p>
          </p:txBody>
        </p:sp>
        <p:sp>
          <p:nvSpPr>
            <p:cNvPr id="51" name="TextBox 51"/>
            <p:cNvSpPr txBox="1"/>
            <p:nvPr/>
          </p:nvSpPr>
          <p:spPr>
            <a:xfrm>
              <a:off x="8710612" y="5460206"/>
              <a:ext cx="2293858" cy="228600"/>
            </a:xfrm>
            <a:prstGeom prst="rect">
              <a:avLst/>
            </a:prstGeom>
            <a:noFill/>
            <a:ln>
              <a:noFill/>
            </a:ln>
          </p:spPr>
          <p:txBody>
            <a:bodyPr wrap="none" lIns="0" tIns="0" rIns="0" bIns="0" anchor="t" anchorCtr="0">
              <a:spAutoFit/>
            </a:bodyPr>
            <a:lstStyle/>
            <a:p>
              <a:pPr algn="l"/>
              <a:r>
                <a:rPr lang="zh-CN" sz="1125" dirty="0">
                  <a:solidFill>
                    <a:srgbClr val="A8B6C6"/>
                  </a:solidFill>
                  <a:latin typeface="Aptos"/>
                  <a:ea typeface="Microsoft YaHei"/>
                  <a:cs typeface="Aptos"/>
                </a:rPr>
                <a:t>Registry is not called published</a:t>
              </a:r>
            </a:p>
          </p:txBody>
        </p:sp>
        <p:sp>
          <p:nvSpPr>
            <p:cNvPr id="52" name="TextBox 52"/>
            <p:cNvSpPr txBox="1"/>
            <p:nvPr/>
          </p:nvSpPr>
          <p:spPr>
            <a:xfrm>
              <a:off x="8710612" y="5669756"/>
              <a:ext cx="2271355" cy="228600"/>
            </a:xfrm>
            <a:prstGeom prst="rect">
              <a:avLst/>
            </a:prstGeom>
            <a:noFill/>
            <a:ln>
              <a:noFill/>
            </a:ln>
          </p:spPr>
          <p:txBody>
            <a:bodyPr wrap="none" lIns="0" tIns="0" rIns="0" bIns="0" anchor="t" anchorCtr="0">
              <a:spAutoFit/>
            </a:bodyPr>
            <a:lstStyle/>
            <a:p>
              <a:pPr algn="l"/>
              <a:r>
                <a:rPr lang="zh-CN" sz="1125" dirty="0">
                  <a:solidFill>
                    <a:srgbClr val="A8B6C6"/>
                  </a:solidFill>
                  <a:latin typeface="Aptos"/>
                  <a:ea typeface="Microsoft YaHei"/>
                  <a:cs typeface="Aptos"/>
                </a:rPr>
                <a:t>without package id and signer.</a:t>
              </a:r>
            </a:p>
          </p:txBody>
        </p:sp>
      </p:grpSp>
      <p:grpSp>
        <p:nvGrpSpPr>
          <p:cNvPr id="56" name="Group 56"/>
          <p:cNvGrpSpPr/>
          <p:nvPr/>
        </p:nvGrpSpPr>
        <p:grpSpPr>
          <a:xfrm>
            <a:off x="844868" y="6238399"/>
            <a:ext cx="4594836" cy="388620"/>
            <a:chOff x="844868" y="6238399"/>
            <a:chExt cx="4594836" cy="388620"/>
          </a:xfrm>
        </p:grpSpPr>
        <p:sp>
          <p:nvSpPr>
            <p:cNvPr id="54" name="TextBox 54"/>
            <p:cNvSpPr txBox="1"/>
            <p:nvPr/>
          </p:nvSpPr>
          <p:spPr>
            <a:xfrm>
              <a:off x="844868" y="6238399"/>
              <a:ext cx="4594836" cy="198120"/>
            </a:xfrm>
            <a:prstGeom prst="rect">
              <a:avLst/>
            </a:prstGeom>
            <a:noFill/>
            <a:ln>
              <a:noFill/>
            </a:ln>
          </p:spPr>
          <p:txBody>
            <a:bodyPr wrap="none" lIns="0" tIns="0" rIns="0" bIns="0" anchor="t" anchorCtr="0">
              <a:spAutoFit/>
            </a:bodyPr>
            <a:lstStyle/>
            <a:p>
              <a:pPr algn="l"/>
              <a:r>
                <a:rPr lang="zh-CN" sz="975" dirty="0">
                  <a:solidFill>
                    <a:srgbClr val="667789"/>
                  </a:solidFill>
                  <a:latin typeface="Consolas"/>
                  <a:ea typeface="Microsoft YaHei"/>
                  <a:cs typeface="Consolas"/>
                </a:rPr>
                <a:t>docs/sui-walrus-proof.md · move/sources/memory_will_registry.move</a:t>
              </a:r>
            </a:p>
          </p:txBody>
        </p:sp>
        <p:sp>
          <p:nvSpPr>
            <p:cNvPr id="55" name="TextBox 55"/>
            <p:cNvSpPr txBox="1"/>
            <p:nvPr/>
          </p:nvSpPr>
          <p:spPr>
            <a:xfrm>
              <a:off x="844868" y="6428899"/>
              <a:ext cx="2196036" cy="198120"/>
            </a:xfrm>
            <a:prstGeom prst="rect">
              <a:avLst/>
            </a:prstGeom>
            <a:noFill/>
            <a:ln>
              <a:noFill/>
            </a:ln>
          </p:spPr>
          <p:txBody>
            <a:bodyPr wrap="none" lIns="0" tIns="0" rIns="0" bIns="0" anchor="t" anchorCtr="0">
              <a:spAutoFit/>
            </a:bodyPr>
            <a:lstStyle/>
            <a:p>
              <a:pPr algn="l"/>
              <a:r>
                <a:rPr lang="zh-CN" sz="975" dirty="0">
                  <a:solidFill>
                    <a:srgbClr val="667789"/>
                  </a:solidFill>
                  <a:latin typeface="Consolas"/>
                  <a:ea typeface="Microsoft YaHei"/>
                  <a:cs typeface="Consolas"/>
                </a:rPr>
                <a:t>src/lib/memory-will/sui-proof.ts</a:t>
              </a:r>
            </a:p>
          </p:txBody>
        </p:sp>
      </p:grpSp>
    </p:spTree>
  </p:cSld>
  <p:clrMapOvr>
    <a:masterClrMapping/>
  </p:clrMapOvr>
  <p:transition xmlns:p14="http://schemas.microsoft.com/office/powerpoint/2010/main" p14:dur="35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0F14"/>
            </a:solidFill>
            <a:ln>
              <a:noFill/>
            </a:ln>
          </p:spPr>
        </p:sp>
        <p:sp>
          <p:nvSpPr>
            <p:cNvPr id="3" name="Rectangle 3"/>
            <p:cNvSpPr/>
            <p:nvPr/>
          </p:nvSpPr>
          <p:spPr>
            <a:xfrm>
              <a:off x="0" y="0"/>
              <a:ext cx="12192000" cy="6858000"/>
            </a:xfrm>
            <a:prstGeom prst="rect">
              <a:avLst/>
            </a:prstGeom>
            <a:gradFill>
              <a:gsLst>
                <a:gs pos="0">
                  <a:srgbClr val="4EC5F1">
                    <a:alpha val="20000"/>
                  </a:srgbClr>
                </a:gs>
                <a:gs pos="62000">
                  <a:srgbClr val="73F0B8">
                    <a:alpha val="8000"/>
                  </a:srgbClr>
                </a:gs>
                <a:gs pos="100000">
                  <a:srgbClr val="4EC5F1">
                    <a:alpha val="0"/>
                  </a:srgbClr>
                </a:gs>
              </a:gsLst>
              <a:path path="circle">
                <a:fillToRect l="50000" t="50000" r="50000" b="50000"/>
              </a:path>
            </a:gradFill>
            <a:ln>
              <a:noFill/>
            </a:ln>
          </p:spPr>
        </p:sp>
        <p:sp>
          <p:nvSpPr>
            <p:cNvPr id="4" name="Freeform 4"/>
            <p:cNvSpPr/>
            <p:nvPr/>
          </p:nvSpPr>
          <p:spPr>
            <a:xfrm>
              <a:off x="533400" y="819150"/>
              <a:ext cx="11125200" cy="5295900"/>
            </a:xfrm>
            <a:custGeom>
              <a:avLst/>
              <a:gdLst/>
              <a:ahLst/>
              <a:cxnLst/>
              <a:rect l="l" t="t" r="r" b="b"/>
              <a:pathLst>
                <a:path w="11125200" h="5295900">
                  <a:moveTo>
                    <a:pt x="0" y="0"/>
                  </a:moveTo>
                  <a:lnTo>
                    <a:pt x="11125200" y="0"/>
                  </a:lnTo>
                  <a:moveTo>
                    <a:pt x="0" y="5295900"/>
                  </a:moveTo>
                  <a:lnTo>
                    <a:pt x="11125200" y="5295900"/>
                  </a:lnTo>
                </a:path>
              </a:pathLst>
            </a:custGeom>
            <a:solidFill>
              <a:srgbClr val="000000"/>
            </a:solidFill>
            <a:ln w="14288">
              <a:solidFill>
                <a:srgbClr val="223143">
                  <a:alpha val="80000"/>
                </a:srgbClr>
              </a:solidFill>
            </a:ln>
          </p:spPr>
        </p:sp>
      </p:grpSp>
      <p:grpSp>
        <p:nvGrpSpPr>
          <p:cNvPr id="8" name="Group 8"/>
          <p:cNvGrpSpPr/>
          <p:nvPr/>
        </p:nvGrpSpPr>
        <p:grpSpPr>
          <a:xfrm>
            <a:off x="520065" y="381952"/>
            <a:ext cx="11151870" cy="213360"/>
            <a:chOff x="520065" y="381952"/>
            <a:chExt cx="11151870" cy="213360"/>
          </a:xfrm>
        </p:grpSpPr>
        <p:sp>
          <p:nvSpPr>
            <p:cNvPr id="6" name="TextBox 6"/>
            <p:cNvSpPr txBox="1"/>
            <p:nvPr/>
          </p:nvSpPr>
          <p:spPr>
            <a:xfrm>
              <a:off x="520065" y="381952"/>
              <a:ext cx="1552861" cy="213360"/>
            </a:xfrm>
            <a:prstGeom prst="rect">
              <a:avLst/>
            </a:prstGeom>
            <a:noFill/>
            <a:ln>
              <a:noFill/>
            </a:ln>
          </p:spPr>
          <p:txBody>
            <a:bodyPr wrap="none" lIns="0" tIns="0" rIns="0" bIns="0" anchor="t" anchorCtr="0">
              <a:spAutoFit/>
            </a:bodyPr>
            <a:lstStyle/>
            <a:p>
              <a:pPr algn="l"/>
              <a:r>
                <a:rPr lang="zh-CN" sz="1050" dirty="0">
                  <a:solidFill>
                    <a:srgbClr val="A8B6C6"/>
                  </a:solidFill>
                  <a:latin typeface="Consolas"/>
                  <a:ea typeface="Microsoft YaHei"/>
                  <a:cs typeface="Consolas"/>
                </a:rPr>
                <a:t>TRY IT, THEN INSPECT IT</a:t>
              </a:r>
            </a:p>
          </p:txBody>
        </p:sp>
        <p:sp>
          <p:nvSpPr>
            <p:cNvPr id="7" name="TextBox 7"/>
            <p:cNvSpPr txBox="1"/>
            <p:nvPr/>
          </p:nvSpPr>
          <p:spPr>
            <a:xfrm>
              <a:off x="11176206" y="381952"/>
              <a:ext cx="495729" cy="213360"/>
            </a:xfrm>
            <a:prstGeom prst="rect">
              <a:avLst/>
            </a:prstGeom>
            <a:noFill/>
            <a:ln>
              <a:noFill/>
            </a:ln>
          </p:spPr>
          <p:txBody>
            <a:bodyPr wrap="none" lIns="0" tIns="0" rIns="0" bIns="0" anchor="t" anchorCtr="0">
              <a:spAutoFit/>
            </a:bodyPr>
            <a:lstStyle/>
            <a:p>
              <a:pPr algn="r"/>
              <a:r>
                <a:rPr lang="zh-CN" sz="1050" dirty="0">
                  <a:solidFill>
                    <a:srgbClr val="667789"/>
                  </a:solidFill>
                  <a:latin typeface="Consolas"/>
                  <a:ea typeface="Microsoft YaHei"/>
                  <a:cs typeface="Consolas"/>
                </a:rPr>
                <a:t>06 / 06</a:t>
              </a:r>
            </a:p>
          </p:txBody>
        </p:sp>
      </p:grpSp>
      <p:grpSp>
        <p:nvGrpSpPr>
          <p:cNvPr id="27" name="Group 27"/>
          <p:cNvGrpSpPr/>
          <p:nvPr/>
        </p:nvGrpSpPr>
        <p:grpSpPr>
          <a:xfrm>
            <a:off x="550545" y="1079182"/>
            <a:ext cx="5214199" cy="4973956"/>
            <a:chOff x="550545" y="1079182"/>
            <a:chExt cx="5214199" cy="4973956"/>
          </a:xfrm>
        </p:grpSpPr>
        <p:sp>
          <p:nvSpPr>
            <p:cNvPr id="9" name="TextBox 9"/>
            <p:cNvSpPr txBox="1"/>
            <p:nvPr/>
          </p:nvSpPr>
          <p:spPr>
            <a:xfrm>
              <a:off x="550545" y="1079182"/>
              <a:ext cx="2462003" cy="944880"/>
            </a:xfrm>
            <a:prstGeom prst="rect">
              <a:avLst/>
            </a:prstGeom>
            <a:noFill/>
            <a:ln>
              <a:noFill/>
            </a:ln>
          </p:spPr>
          <p:txBody>
            <a:bodyPr wrap="none" lIns="0" tIns="0" rIns="0" bIns="0" anchor="t" anchorCtr="0">
              <a:spAutoFit/>
            </a:bodyPr>
            <a:lstStyle/>
            <a:p>
              <a:pPr algn="l"/>
              <a:r>
                <a:rPr lang="zh-CN" sz="4650" b="1" dirty="0">
                  <a:solidFill>
                    <a:srgbClr val="EAF1F7"/>
                  </a:solidFill>
                  <a:latin typeface="Aptos Display"/>
                  <a:ea typeface="Microsoft YaHei"/>
                  <a:cs typeface="Aptos Display"/>
                </a:rPr>
                <a:t>Run the</a:t>
              </a:r>
            </a:p>
          </p:txBody>
        </p:sp>
        <p:sp>
          <p:nvSpPr>
            <p:cNvPr id="10" name="TextBox 10"/>
            <p:cNvSpPr txBox="1"/>
            <p:nvPr/>
          </p:nvSpPr>
          <p:spPr>
            <a:xfrm>
              <a:off x="550545" y="1726882"/>
              <a:ext cx="4154815" cy="944880"/>
            </a:xfrm>
            <a:prstGeom prst="rect">
              <a:avLst/>
            </a:prstGeom>
            <a:noFill/>
            <a:ln>
              <a:noFill/>
            </a:ln>
          </p:spPr>
          <p:txBody>
            <a:bodyPr wrap="none" lIns="0" tIns="0" rIns="0" bIns="0" anchor="t" anchorCtr="0">
              <a:spAutoFit/>
            </a:bodyPr>
            <a:lstStyle/>
            <a:p>
              <a:pPr algn="l"/>
              <a:r>
                <a:rPr lang="zh-CN" sz="4650" b="1" dirty="0">
                  <a:solidFill>
                    <a:srgbClr val="EAF1F7"/>
                  </a:solidFill>
                  <a:latin typeface="Aptos Display"/>
                  <a:ea typeface="Microsoft YaHei"/>
                  <a:cs typeface="Aptos Display"/>
                </a:rPr>
                <a:t>Memory Will.</a:t>
              </a:r>
            </a:p>
          </p:txBody>
        </p:sp>
        <p:sp>
          <p:nvSpPr>
            <p:cNvPr id="11" name="TextBox 11"/>
            <p:cNvSpPr txBox="1"/>
            <p:nvPr/>
          </p:nvSpPr>
          <p:spPr>
            <a:xfrm>
              <a:off x="625792" y="2899886"/>
              <a:ext cx="4678894" cy="350520"/>
            </a:xfrm>
            <a:prstGeom prst="rect">
              <a:avLst/>
            </a:prstGeom>
            <a:noFill/>
            <a:ln>
              <a:noFill/>
            </a:ln>
          </p:spPr>
          <p:txBody>
            <a:bodyPr wrap="none" lIns="0" tIns="0" rIns="0" bIns="0" anchor="t" anchorCtr="0">
              <a:spAutoFit/>
            </a:bodyPr>
            <a:lstStyle/>
            <a:p>
              <a:pPr algn="l"/>
              <a:r>
                <a:rPr lang="zh-CN" sz="1725" dirty="0">
                  <a:solidFill>
                    <a:srgbClr val="A8B6C6"/>
                  </a:solidFill>
                  <a:latin typeface="Aptos"/>
                  <a:ea typeface="Microsoft YaHei"/>
                  <a:cs typeface="Aptos"/>
                </a:rPr>
                <a:t>Start with `Kill Agent`, write to Walrus,</a:t>
              </a:r>
            </a:p>
          </p:txBody>
        </p:sp>
        <p:sp>
          <p:nvSpPr>
            <p:cNvPr id="12" name="TextBox 12"/>
            <p:cNvSpPr txBox="1"/>
            <p:nvPr/>
          </p:nvSpPr>
          <p:spPr>
            <a:xfrm>
              <a:off x="625792" y="3223736"/>
              <a:ext cx="5138952" cy="350520"/>
            </a:xfrm>
            <a:prstGeom prst="rect">
              <a:avLst/>
            </a:prstGeom>
            <a:noFill/>
            <a:ln>
              <a:noFill/>
            </a:ln>
          </p:spPr>
          <p:txBody>
            <a:bodyPr wrap="none" lIns="0" tIns="0" rIns="0" bIns="0" anchor="t" anchorCtr="0">
              <a:spAutoFit/>
            </a:bodyPr>
            <a:lstStyle/>
            <a:p>
              <a:pPr algn="l"/>
              <a:r>
                <a:rPr lang="zh-CN" sz="1725" dirty="0">
                  <a:solidFill>
                    <a:srgbClr val="A8B6C6"/>
                  </a:solidFill>
                  <a:latin typeface="Aptos"/>
                  <a:ea typeface="Microsoft YaHei"/>
                  <a:cs typeface="Aptos"/>
                </a:rPr>
                <a:t>then open a cold successor from the receipt.</a:t>
              </a:r>
            </a:p>
          </p:txBody>
        </p:sp>
        <p:sp>
          <p:nvSpPr>
            <p:cNvPr id="13" name="Freeform 13"/>
            <p:cNvSpPr/>
            <p:nvPr/>
          </p:nvSpPr>
          <p:spPr>
            <a:xfrm>
              <a:off x="647700" y="3848100"/>
              <a:ext cx="4895850" cy="533400"/>
            </a:xfrm>
            <a:custGeom>
              <a:avLst/>
              <a:gdLst/>
              <a:ahLst/>
              <a:cxnLst/>
              <a:rect l="l" t="t" r="r" b="b"/>
              <a:pathLst>
                <a:path w="4895850" h="533400">
                  <a:moveTo>
                    <a:pt x="114300" y="0"/>
                  </a:moveTo>
                  <a:lnTo>
                    <a:pt x="4781550" y="0"/>
                  </a:lnTo>
                  <a:cubicBezTo>
                    <a:pt x="4844676" y="0"/>
                    <a:pt x="4895850" y="51174"/>
                    <a:pt x="4895850" y="114300"/>
                  </a:cubicBezTo>
                  <a:lnTo>
                    <a:pt x="4895850" y="419100"/>
                  </a:lnTo>
                  <a:cubicBezTo>
                    <a:pt x="4895850" y="482226"/>
                    <a:pt x="4844676" y="533400"/>
                    <a:pt x="4781550" y="533400"/>
                  </a:cubicBezTo>
                  <a:lnTo>
                    <a:pt x="114300" y="533400"/>
                  </a:lnTo>
                  <a:cubicBezTo>
                    <a:pt x="51174" y="533400"/>
                    <a:pt x="0" y="482226"/>
                    <a:pt x="0" y="419100"/>
                  </a:cubicBezTo>
                  <a:lnTo>
                    <a:pt x="0" y="114300"/>
                  </a:lnTo>
                  <a:cubicBezTo>
                    <a:pt x="0" y="51174"/>
                    <a:pt x="51174" y="0"/>
                    <a:pt x="114300" y="0"/>
                  </a:cubicBezTo>
                  <a:close/>
                </a:path>
              </a:pathLst>
            </a:custGeom>
            <a:solidFill>
              <a:srgbClr val="121A24"/>
            </a:solidFill>
            <a:ln w="19050">
              <a:solidFill>
                <a:srgbClr val="4EC5F1"/>
              </a:solidFill>
            </a:ln>
          </p:spPr>
        </p:sp>
        <p:grpSp>
          <p:nvGrpSpPr>
            <p:cNvPr id="17" name="Group 17"/>
            <p:cNvGrpSpPr/>
            <p:nvPr/>
          </p:nvGrpSpPr>
          <p:grpSpPr>
            <a:xfrm>
              <a:off x="936623" y="4027208"/>
              <a:ext cx="170128" cy="175162"/>
              <a:chOff x="936623" y="4027208"/>
              <a:chExt cx="170128" cy="175162"/>
            </a:xfrm>
          </p:grpSpPr>
          <p:sp>
            <p:nvSpPr>
              <p:cNvPr id="14" name="Freeform 14"/>
              <p:cNvSpPr/>
              <p:nvPr/>
            </p:nvSpPr>
            <p:spPr>
              <a:xfrm>
                <a:off x="988218" y="4083843"/>
                <a:ext cx="61912" cy="61912"/>
              </a:xfrm>
              <a:custGeom>
                <a:avLst/>
                <a:gdLst/>
                <a:ahLst/>
                <a:cxnLst/>
                <a:rect l="l" t="t" r="r" b="b"/>
                <a:pathLst>
                  <a:path w="61912" h="61912">
                    <a:moveTo>
                      <a:pt x="0" y="61912"/>
                    </a:moveTo>
                    <a:lnTo>
                      <a:pt x="61912" y="0"/>
                    </a:lnTo>
                  </a:path>
                </a:pathLst>
              </a:custGeom>
              <a:noFill/>
              <a:ln w="19050">
                <a:solidFill>
                  <a:srgbClr val="4EC5F1"/>
                </a:solidFill>
              </a:ln>
            </p:spPr>
          </p:sp>
          <p:sp>
            <p:nvSpPr>
              <p:cNvPr id="15" name="Freeform 15"/>
              <p:cNvSpPr/>
              <p:nvPr/>
            </p:nvSpPr>
            <p:spPr>
              <a:xfrm>
                <a:off x="1008856" y="4027208"/>
                <a:ext cx="97895" cy="97910"/>
              </a:xfrm>
              <a:custGeom>
                <a:avLst/>
                <a:gdLst/>
                <a:ahLst/>
                <a:cxnLst/>
                <a:rect l="l" t="t" r="r" b="b"/>
                <a:pathLst>
                  <a:path w="97895" h="97910">
                    <a:moveTo>
                      <a:pt x="0" y="25679"/>
                    </a:moveTo>
                    <a:lnTo>
                      <a:pt x="4778" y="20148"/>
                    </a:lnTo>
                    <a:cubicBezTo>
                      <a:pt x="24929" y="0"/>
                      <a:pt x="57598" y="2"/>
                      <a:pt x="77746" y="20154"/>
                    </a:cubicBezTo>
                    <a:cubicBezTo>
                      <a:pt x="97895" y="40305"/>
                      <a:pt x="97892" y="72974"/>
                      <a:pt x="77741" y="93122"/>
                    </a:cubicBezTo>
                    <a:lnTo>
                      <a:pt x="72231" y="97910"/>
                    </a:lnTo>
                  </a:path>
                </a:pathLst>
              </a:custGeom>
              <a:noFill/>
              <a:ln w="19050">
                <a:solidFill>
                  <a:srgbClr val="4EC5F1"/>
                </a:solidFill>
              </a:ln>
            </p:spPr>
          </p:sp>
          <p:sp>
            <p:nvSpPr>
              <p:cNvPr id="16" name="Freeform 16"/>
              <p:cNvSpPr/>
              <p:nvPr/>
            </p:nvSpPr>
            <p:spPr>
              <a:xfrm>
                <a:off x="936623" y="4104481"/>
                <a:ext cx="92870" cy="97889"/>
              </a:xfrm>
              <a:custGeom>
                <a:avLst/>
                <a:gdLst/>
                <a:ahLst/>
                <a:cxnLst/>
                <a:rect l="l" t="t" r="r" b="b"/>
                <a:pathLst>
                  <a:path w="92870" h="97889">
                    <a:moveTo>
                      <a:pt x="92870" y="72231"/>
                    </a:moveTo>
                    <a:lnTo>
                      <a:pt x="88773" y="77741"/>
                    </a:lnTo>
                    <a:cubicBezTo>
                      <a:pt x="68399" y="97889"/>
                      <a:pt x="35606" y="97889"/>
                      <a:pt x="15232" y="77741"/>
                    </a:cubicBezTo>
                    <a:cubicBezTo>
                      <a:pt x="5485" y="68104"/>
                      <a:pt x="0" y="54966"/>
                      <a:pt x="0" y="41259"/>
                    </a:cubicBezTo>
                    <a:cubicBezTo>
                      <a:pt x="0" y="27552"/>
                      <a:pt x="5485" y="14415"/>
                      <a:pt x="15232" y="4778"/>
                    </a:cubicBezTo>
                    <a:lnTo>
                      <a:pt x="20639" y="0"/>
                    </a:lnTo>
                  </a:path>
                </a:pathLst>
              </a:custGeom>
              <a:noFill/>
              <a:ln w="19050">
                <a:solidFill>
                  <a:srgbClr val="4EC5F1"/>
                </a:solidFill>
              </a:ln>
            </p:spPr>
          </p:sp>
        </p:grpSp>
        <p:sp>
          <p:nvSpPr>
            <p:cNvPr id="18" name="TextBox 18"/>
            <p:cNvSpPr txBox="1"/>
            <p:nvPr/>
          </p:nvSpPr>
          <p:spPr>
            <a:xfrm>
              <a:off x="1261110" y="4061460"/>
              <a:ext cx="4495038" cy="243840"/>
            </a:xfrm>
            <a:prstGeom prst="rect">
              <a:avLst/>
            </a:prstGeom>
            <a:noFill/>
            <a:ln>
              <a:noFill/>
            </a:ln>
          </p:spPr>
          <p:txBody>
            <a:bodyPr wrap="none" lIns="0" tIns="0" rIns="0" bIns="0" anchor="t" anchorCtr="0">
              <a:spAutoFit/>
            </a:bodyPr>
            <a:lstStyle/>
            <a:p>
              <a:pPr algn="l"/>
              <a:r>
                <a:rPr lang="zh-CN" sz="1200" dirty="0">
                  <a:solidFill>
                    <a:srgbClr val="EAF1F7"/>
                  </a:solidFill>
                  <a:latin typeface="Consolas"/>
                  <a:ea typeface="Microsoft YaHei"/>
                  <a:cs typeface="Consolas"/>
                </a:rPr>
                <a:t>knife-marie-microwave-anthropology.trycloudflare.com</a:t>
              </a:r>
            </a:p>
          </p:txBody>
        </p:sp>
        <p:sp>
          <p:nvSpPr>
            <p:cNvPr id="19" name="Freeform 19"/>
            <p:cNvSpPr/>
            <p:nvPr/>
          </p:nvSpPr>
          <p:spPr>
            <a:xfrm>
              <a:off x="647700" y="4552950"/>
              <a:ext cx="2990850" cy="457200"/>
            </a:xfrm>
            <a:custGeom>
              <a:avLst/>
              <a:gdLst/>
              <a:ahLst/>
              <a:cxnLst/>
              <a:rect l="l" t="t" r="r" b="b"/>
              <a:pathLst>
                <a:path w="2990850" h="457200">
                  <a:moveTo>
                    <a:pt x="228600" y="0"/>
                  </a:moveTo>
                  <a:lnTo>
                    <a:pt x="2762250" y="0"/>
                  </a:lnTo>
                  <a:cubicBezTo>
                    <a:pt x="2888502" y="0"/>
                    <a:pt x="2990850" y="102348"/>
                    <a:pt x="2990850" y="228600"/>
                  </a:cubicBezTo>
                  <a:lnTo>
                    <a:pt x="2990850" y="228600"/>
                  </a:lnTo>
                  <a:cubicBezTo>
                    <a:pt x="2990850" y="354852"/>
                    <a:pt x="2888502" y="457200"/>
                    <a:pt x="2762250" y="457200"/>
                  </a:cubicBezTo>
                  <a:lnTo>
                    <a:pt x="228600" y="457200"/>
                  </a:lnTo>
                  <a:cubicBezTo>
                    <a:pt x="102348" y="457200"/>
                    <a:pt x="0" y="354852"/>
                    <a:pt x="0" y="228600"/>
                  </a:cubicBezTo>
                  <a:lnTo>
                    <a:pt x="0" y="228600"/>
                  </a:lnTo>
                  <a:cubicBezTo>
                    <a:pt x="0" y="102348"/>
                    <a:pt x="102348" y="0"/>
                    <a:pt x="228600" y="0"/>
                  </a:cubicBezTo>
                  <a:close/>
                </a:path>
              </a:pathLst>
            </a:custGeom>
            <a:solidFill>
              <a:srgbClr val="73F0B8">
                <a:alpha val="14000"/>
              </a:srgbClr>
            </a:solidFill>
            <a:ln w="16192">
              <a:solidFill>
                <a:srgbClr val="73F0B8"/>
              </a:solidFill>
            </a:ln>
          </p:spPr>
        </p:sp>
        <p:sp>
          <p:nvSpPr>
            <p:cNvPr id="20" name="Freeform 20"/>
            <p:cNvSpPr/>
            <p:nvPr/>
          </p:nvSpPr>
          <p:spPr>
            <a:xfrm>
              <a:off x="923925" y="4695825"/>
              <a:ext cx="133350" cy="171450"/>
            </a:xfrm>
            <a:custGeom>
              <a:avLst/>
              <a:gdLst/>
              <a:ahLst/>
              <a:cxnLst/>
              <a:rect l="l" t="t" r="r" b="b"/>
              <a:pathLst>
                <a:path w="133350" h="171450">
                  <a:moveTo>
                    <a:pt x="0" y="171450"/>
                  </a:moveTo>
                  <a:lnTo>
                    <a:pt x="0" y="19050"/>
                  </a:lnTo>
                  <a:cubicBezTo>
                    <a:pt x="0" y="8529"/>
                    <a:pt x="8529" y="0"/>
                    <a:pt x="19050" y="0"/>
                  </a:cubicBezTo>
                  <a:lnTo>
                    <a:pt x="114300" y="0"/>
                  </a:lnTo>
                  <a:cubicBezTo>
                    <a:pt x="124821" y="0"/>
                    <a:pt x="133350" y="8529"/>
                    <a:pt x="133350" y="19050"/>
                  </a:cubicBezTo>
                  <a:lnTo>
                    <a:pt x="133350" y="171450"/>
                  </a:lnTo>
                  <a:lnTo>
                    <a:pt x="104775" y="152400"/>
                  </a:lnTo>
                  <a:lnTo>
                    <a:pt x="85725" y="171450"/>
                  </a:lnTo>
                  <a:lnTo>
                    <a:pt x="66675" y="152400"/>
                  </a:lnTo>
                  <a:lnTo>
                    <a:pt x="47625" y="171450"/>
                  </a:lnTo>
                  <a:lnTo>
                    <a:pt x="28575" y="152400"/>
                  </a:lnTo>
                  <a:lnTo>
                    <a:pt x="0" y="171450"/>
                  </a:lnTo>
                  <a:moveTo>
                    <a:pt x="38100" y="38100"/>
                  </a:moveTo>
                  <a:lnTo>
                    <a:pt x="95250" y="38100"/>
                  </a:lnTo>
                  <a:moveTo>
                    <a:pt x="38100" y="76200"/>
                  </a:moveTo>
                  <a:lnTo>
                    <a:pt x="95250" y="76200"/>
                  </a:lnTo>
                  <a:moveTo>
                    <a:pt x="76200" y="114300"/>
                  </a:moveTo>
                  <a:lnTo>
                    <a:pt x="95250" y="114300"/>
                  </a:lnTo>
                </a:path>
              </a:pathLst>
            </a:custGeom>
            <a:noFill/>
            <a:ln w="19050">
              <a:solidFill>
                <a:srgbClr val="73F0B8"/>
              </a:solidFill>
            </a:ln>
          </p:spPr>
        </p:sp>
        <p:sp>
          <p:nvSpPr>
            <p:cNvPr id="21" name="TextBox 21"/>
            <p:cNvSpPr txBox="1"/>
            <p:nvPr/>
          </p:nvSpPr>
          <p:spPr>
            <a:xfrm>
              <a:off x="1223010" y="4728210"/>
              <a:ext cx="1046607" cy="243840"/>
            </a:xfrm>
            <a:prstGeom prst="rect">
              <a:avLst/>
            </a:prstGeom>
            <a:noFill/>
            <a:ln>
              <a:noFill/>
            </a:ln>
          </p:spPr>
          <p:txBody>
            <a:bodyPr wrap="none" lIns="0" tIns="0" rIns="0" bIns="0" anchor="t" anchorCtr="0">
              <a:spAutoFit/>
            </a:bodyPr>
            <a:lstStyle/>
            <a:p>
              <a:pPr algn="l"/>
              <a:r>
                <a:rPr lang="zh-CN" sz="1200" dirty="0">
                  <a:solidFill>
                    <a:srgbClr val="73F0B8"/>
                  </a:solidFill>
                  <a:latin typeface="Consolas"/>
                  <a:ea typeface="Microsoft YaHei"/>
                  <a:cs typeface="Consolas"/>
                </a:rPr>
                <a:t>/?will=latest</a:t>
              </a:r>
            </a:p>
          </p:txBody>
        </p:sp>
        <p:grpSp>
          <p:nvGrpSpPr>
            <p:cNvPr id="26" name="Group 26"/>
            <p:cNvGrpSpPr/>
            <p:nvPr/>
          </p:nvGrpSpPr>
          <p:grpSpPr>
            <a:xfrm>
              <a:off x="767556" y="5454968"/>
              <a:ext cx="4257834" cy="598170"/>
              <a:chOff x="767556" y="5454968"/>
              <a:chExt cx="4257834" cy="598170"/>
            </a:xfrm>
          </p:grpSpPr>
          <p:sp>
            <p:nvSpPr>
              <p:cNvPr id="22" name="Freeform 22"/>
              <p:cNvSpPr/>
              <p:nvPr/>
            </p:nvSpPr>
            <p:spPr>
              <a:xfrm>
                <a:off x="767556" y="5490369"/>
                <a:ext cx="130969" cy="87313"/>
              </a:xfrm>
              <a:custGeom>
                <a:avLst/>
                <a:gdLst/>
                <a:ahLst/>
                <a:cxnLst/>
                <a:rect l="l" t="t" r="r" b="b"/>
                <a:pathLst>
                  <a:path w="130969" h="87313">
                    <a:moveTo>
                      <a:pt x="0" y="43656"/>
                    </a:moveTo>
                    <a:lnTo>
                      <a:pt x="43656" y="87313"/>
                    </a:lnTo>
                    <a:lnTo>
                      <a:pt x="130969" y="0"/>
                    </a:lnTo>
                  </a:path>
                </a:pathLst>
              </a:custGeom>
              <a:noFill/>
              <a:ln w="19050">
                <a:solidFill>
                  <a:srgbClr val="73F0B8"/>
                </a:solidFill>
              </a:ln>
            </p:spPr>
          </p:sp>
          <p:sp>
            <p:nvSpPr>
              <p:cNvPr id="23" name="TextBox 23"/>
              <p:cNvSpPr txBox="1"/>
              <p:nvPr/>
            </p:nvSpPr>
            <p:spPr>
              <a:xfrm>
                <a:off x="1030605" y="5454968"/>
                <a:ext cx="3247692" cy="274320"/>
              </a:xfrm>
              <a:prstGeom prst="rect">
                <a:avLst/>
              </a:prstGeom>
              <a:noFill/>
              <a:ln>
                <a:noFill/>
              </a:ln>
            </p:spPr>
            <p:txBody>
              <a:bodyPr wrap="none" lIns="0" tIns="0" rIns="0" bIns="0" anchor="t" anchorCtr="0">
                <a:spAutoFit/>
              </a:bodyPr>
              <a:lstStyle/>
              <a:p>
                <a:pPr algn="l"/>
                <a:r>
                  <a:rPr lang="zh-CN" sz="1350" dirty="0">
                    <a:solidFill>
                      <a:srgbClr val="A8B6C6"/>
                    </a:solidFill>
                    <a:latin typeface="Aptos"/>
                    <a:ea typeface="Microsoft YaHei"/>
                    <a:cs typeface="Aptos"/>
                  </a:rPr>
                  <a:t>Walrus blob and object id are visible.</a:t>
                </a:r>
              </a:p>
            </p:txBody>
          </p:sp>
          <p:sp>
            <p:nvSpPr>
              <p:cNvPr id="24" name="Freeform 24"/>
              <p:cNvSpPr/>
              <p:nvPr/>
            </p:nvSpPr>
            <p:spPr>
              <a:xfrm>
                <a:off x="767556" y="5814219"/>
                <a:ext cx="130969" cy="87313"/>
              </a:xfrm>
              <a:custGeom>
                <a:avLst/>
                <a:gdLst/>
                <a:ahLst/>
                <a:cxnLst/>
                <a:rect l="l" t="t" r="r" b="b"/>
                <a:pathLst>
                  <a:path w="130969" h="87313">
                    <a:moveTo>
                      <a:pt x="0" y="43656"/>
                    </a:moveTo>
                    <a:lnTo>
                      <a:pt x="43656" y="87313"/>
                    </a:lnTo>
                    <a:lnTo>
                      <a:pt x="130969" y="0"/>
                    </a:lnTo>
                  </a:path>
                </a:pathLst>
              </a:custGeom>
              <a:noFill/>
              <a:ln w="19050">
                <a:solidFill>
                  <a:srgbClr val="73F0B8"/>
                </a:solidFill>
              </a:ln>
            </p:spPr>
          </p:sp>
          <p:sp>
            <p:nvSpPr>
              <p:cNvPr id="25" name="TextBox 25"/>
              <p:cNvSpPr txBox="1"/>
              <p:nvPr/>
            </p:nvSpPr>
            <p:spPr>
              <a:xfrm>
                <a:off x="1030605" y="5778818"/>
                <a:ext cx="3994785" cy="274320"/>
              </a:xfrm>
              <a:prstGeom prst="rect">
                <a:avLst/>
              </a:prstGeom>
              <a:noFill/>
              <a:ln>
                <a:noFill/>
              </a:ln>
            </p:spPr>
            <p:txBody>
              <a:bodyPr wrap="none" lIns="0" tIns="0" rIns="0" bIns="0" anchor="t" anchorCtr="0">
                <a:spAutoFit/>
              </a:bodyPr>
              <a:lstStyle/>
              <a:p>
                <a:pPr algn="l"/>
                <a:r>
                  <a:rPr lang="zh-CN" sz="1350" dirty="0">
                    <a:solidFill>
                      <a:srgbClr val="A8B6C6"/>
                    </a:solidFill>
                    <a:latin typeface="Aptos"/>
                    <a:ea typeface="Microsoft YaHei"/>
                    <a:cs typeface="Aptos"/>
                  </a:rPr>
                  <a:t>Blocked memory stays named but unavailable.</a:t>
                </a:r>
              </a:p>
            </p:txBody>
          </p:sp>
        </p:grpSp>
      </p:grpSp>
      <p:grpSp>
        <p:nvGrpSpPr>
          <p:cNvPr id="37" name="Group 37"/>
          <p:cNvGrpSpPr/>
          <p:nvPr/>
        </p:nvGrpSpPr>
        <p:grpSpPr>
          <a:xfrm>
            <a:off x="6324600" y="1162050"/>
            <a:ext cx="4419600" cy="4953000"/>
            <a:chOff x="6324600" y="1162050"/>
            <a:chExt cx="4419600" cy="4953000"/>
          </a:xfrm>
        </p:grpSpPr>
        <p:sp>
          <p:nvSpPr>
            <p:cNvPr id="28" name="Freeform 28"/>
            <p:cNvSpPr/>
            <p:nvPr/>
          </p:nvSpPr>
          <p:spPr>
            <a:xfrm>
              <a:off x="6324600" y="1162050"/>
              <a:ext cx="4400550" cy="4953000"/>
            </a:xfrm>
            <a:custGeom>
              <a:avLst/>
              <a:gdLst/>
              <a:ahLst/>
              <a:cxnLst/>
              <a:rect l="l" t="t" r="r" b="b"/>
              <a:pathLst>
                <a:path w="4400550" h="4953000">
                  <a:moveTo>
                    <a:pt x="152400" y="0"/>
                  </a:moveTo>
                  <a:lnTo>
                    <a:pt x="4248150" y="0"/>
                  </a:lnTo>
                  <a:cubicBezTo>
                    <a:pt x="4332318" y="0"/>
                    <a:pt x="4400550" y="68232"/>
                    <a:pt x="4400550" y="152400"/>
                  </a:cubicBezTo>
                  <a:lnTo>
                    <a:pt x="4400550" y="4800600"/>
                  </a:lnTo>
                  <a:cubicBezTo>
                    <a:pt x="4400550" y="4884768"/>
                    <a:pt x="4332318" y="4953000"/>
                    <a:pt x="4248150" y="4953000"/>
                  </a:cubicBezTo>
                  <a:lnTo>
                    <a:pt x="152400" y="4953000"/>
                  </a:lnTo>
                  <a:cubicBezTo>
                    <a:pt x="68232" y="4953000"/>
                    <a:pt x="0" y="4884768"/>
                    <a:pt x="0" y="4800600"/>
                  </a:cubicBezTo>
                  <a:lnTo>
                    <a:pt x="0" y="152400"/>
                  </a:lnTo>
                  <a:cubicBezTo>
                    <a:pt x="0" y="68232"/>
                    <a:pt x="68232" y="0"/>
                    <a:pt x="152400" y="0"/>
                  </a:cubicBezTo>
                  <a:close/>
                </a:path>
              </a:pathLst>
            </a:custGeom>
            <a:solidFill>
              <a:srgbClr val="071018"/>
            </a:solidFill>
            <a:ln w="19050">
              <a:solidFill>
                <a:srgbClr val="2B3A4B"/>
              </a:solidFill>
            </a:ln>
          </p:spPr>
        </p:sp>
        <p:sp>
          <p:nvSpPr>
            <p:cNvPr id="29" name="Freeform 29"/>
            <p:cNvSpPr/>
            <p:nvPr/>
          </p:nvSpPr>
          <p:spPr>
            <a:xfrm>
              <a:off x="6591300" y="1466850"/>
              <a:ext cx="3867150" cy="4171950"/>
            </a:xfrm>
            <a:custGeom>
              <a:avLst/>
              <a:gdLst/>
              <a:ahLst/>
              <a:cxnLst/>
              <a:rect l="l" t="t" r="r" b="b"/>
              <a:pathLst>
                <a:path w="3867150" h="4171950">
                  <a:moveTo>
                    <a:pt x="95250" y="0"/>
                  </a:moveTo>
                  <a:lnTo>
                    <a:pt x="3771900" y="0"/>
                  </a:lnTo>
                  <a:cubicBezTo>
                    <a:pt x="3824505" y="0"/>
                    <a:pt x="3867150" y="42645"/>
                    <a:pt x="3867150" y="95250"/>
                  </a:cubicBezTo>
                  <a:lnTo>
                    <a:pt x="3867150" y="4076700"/>
                  </a:lnTo>
                  <a:cubicBezTo>
                    <a:pt x="3867150" y="4129305"/>
                    <a:pt x="3824505" y="4171950"/>
                    <a:pt x="3771900" y="4171950"/>
                  </a:cubicBezTo>
                  <a:lnTo>
                    <a:pt x="95250" y="4171950"/>
                  </a:lnTo>
                  <a:cubicBezTo>
                    <a:pt x="42645" y="4171950"/>
                    <a:pt x="0" y="4129305"/>
                    <a:pt x="0" y="4076700"/>
                  </a:cubicBezTo>
                  <a:lnTo>
                    <a:pt x="0" y="95250"/>
                  </a:lnTo>
                  <a:cubicBezTo>
                    <a:pt x="0" y="42645"/>
                    <a:pt x="42645" y="0"/>
                    <a:pt x="95250" y="0"/>
                  </a:cubicBezTo>
                  <a:close/>
                </a:path>
              </a:pathLst>
            </a:custGeom>
            <a:solidFill>
              <a:srgbClr val="0B0F14"/>
            </a:solidFill>
            <a:ln w="19050">
              <a:solidFill>
                <a:srgbClr val="4EC5F1"/>
              </a:solidFill>
            </a:ln>
            <a:effectLst>
              <a:glow rad="57150">
                <a:srgbClr val="4EC5F1">
                  <a:alpha val="30000"/>
                </a:srgbClr>
              </a:glow>
            </a:effectLst>
          </p:spPr>
        </p:sp>
        <p:pic>
          <p:nvPicPr>
            <p:cNvPr id="30" name="Image 30"/>
            <p:cNvPicPr>
              <a:picLocks noChangeAspect="1"/>
            </p:cNvPicPr>
            <p:nvPr/>
          </p:nvPicPr>
          <p:blipFill>
            <a:blip r:embed="rId2"/>
            <a:stretch>
              <a:fillRect/>
            </a:stretch>
          </p:blipFill>
          <p:spPr>
            <a:xfrm>
              <a:off x="6933533" y="1638300"/>
              <a:ext cx="3182588" cy="3752850"/>
            </a:xfrm>
            <a:prstGeom prst="rect">
              <a:avLst/>
            </a:prstGeom>
          </p:spPr>
        </p:pic>
        <p:sp>
          <p:nvSpPr>
            <p:cNvPr id="31" name="Rectangle 31"/>
            <p:cNvSpPr/>
            <p:nvPr/>
          </p:nvSpPr>
          <p:spPr>
            <a:xfrm>
              <a:off x="6743700" y="5086350"/>
              <a:ext cx="3562350" cy="304800"/>
            </a:xfrm>
            <a:prstGeom prst="rect">
              <a:avLst/>
            </a:prstGeom>
            <a:solidFill>
              <a:srgbClr val="0B0F14">
                <a:alpha val="82000"/>
              </a:srgbClr>
            </a:solidFill>
            <a:ln>
              <a:noFill/>
            </a:ln>
          </p:spPr>
        </p:sp>
        <p:sp>
          <p:nvSpPr>
            <p:cNvPr id="32" name="TextBox 32"/>
            <p:cNvSpPr txBox="1"/>
            <p:nvPr/>
          </p:nvSpPr>
          <p:spPr>
            <a:xfrm>
              <a:off x="6921818" y="5181124"/>
              <a:ext cx="1994511" cy="198120"/>
            </a:xfrm>
            <a:prstGeom prst="rect">
              <a:avLst/>
            </a:prstGeom>
            <a:noFill/>
            <a:ln>
              <a:noFill/>
            </a:ln>
          </p:spPr>
          <p:txBody>
            <a:bodyPr wrap="none" lIns="0" tIns="0" rIns="0" bIns="0" anchor="t" anchorCtr="0">
              <a:spAutoFit/>
            </a:bodyPr>
            <a:lstStyle/>
            <a:p>
              <a:pPr algn="l"/>
              <a:r>
                <a:rPr lang="zh-CN" sz="975" dirty="0">
                  <a:solidFill>
                    <a:srgbClr val="4EC5F1"/>
                  </a:solidFill>
                  <a:latin typeface="Consolas"/>
                  <a:ea typeface="Microsoft YaHei"/>
                  <a:cs typeface="Consolas"/>
                </a:rPr>
                <a:t>real desktop smoke screenshot</a:t>
              </a:r>
            </a:p>
          </p:txBody>
        </p:sp>
        <p:sp>
          <p:nvSpPr>
            <p:cNvPr id="33" name="Freeform 33"/>
            <p:cNvSpPr/>
            <p:nvPr/>
          </p:nvSpPr>
          <p:spPr>
            <a:xfrm>
              <a:off x="9620250" y="3790950"/>
              <a:ext cx="1123950" cy="2038350"/>
            </a:xfrm>
            <a:custGeom>
              <a:avLst/>
              <a:gdLst/>
              <a:ahLst/>
              <a:cxnLst/>
              <a:rect l="l" t="t" r="r" b="b"/>
              <a:pathLst>
                <a:path w="1123950" h="2038350">
                  <a:moveTo>
                    <a:pt x="114300" y="0"/>
                  </a:moveTo>
                  <a:lnTo>
                    <a:pt x="1009650" y="0"/>
                  </a:lnTo>
                  <a:cubicBezTo>
                    <a:pt x="1072776" y="0"/>
                    <a:pt x="1123950" y="51174"/>
                    <a:pt x="1123950" y="114300"/>
                  </a:cubicBezTo>
                  <a:lnTo>
                    <a:pt x="1123950" y="1924050"/>
                  </a:lnTo>
                  <a:cubicBezTo>
                    <a:pt x="1123950" y="1987176"/>
                    <a:pt x="1072776" y="2038350"/>
                    <a:pt x="1009650" y="2038350"/>
                  </a:cubicBezTo>
                  <a:lnTo>
                    <a:pt x="114300" y="2038350"/>
                  </a:lnTo>
                  <a:cubicBezTo>
                    <a:pt x="51174" y="2038350"/>
                    <a:pt x="0" y="1987176"/>
                    <a:pt x="0" y="1924050"/>
                  </a:cubicBezTo>
                  <a:lnTo>
                    <a:pt x="0" y="114300"/>
                  </a:lnTo>
                  <a:cubicBezTo>
                    <a:pt x="0" y="51174"/>
                    <a:pt x="51174" y="0"/>
                    <a:pt x="114300" y="0"/>
                  </a:cubicBezTo>
                  <a:close/>
                </a:path>
              </a:pathLst>
            </a:custGeom>
            <a:solidFill>
              <a:srgbClr val="121A24"/>
            </a:solidFill>
            <a:ln w="19050">
              <a:solidFill>
                <a:srgbClr val="73F0B8"/>
              </a:solidFill>
            </a:ln>
          </p:spPr>
        </p:sp>
        <p:pic>
          <p:nvPicPr>
            <p:cNvPr id="34" name="Image 34"/>
            <p:cNvPicPr>
              <a:picLocks noChangeAspect="1"/>
            </p:cNvPicPr>
            <p:nvPr/>
          </p:nvPicPr>
          <p:blipFill>
            <a:blip r:embed="rId3"/>
            <a:stretch>
              <a:fillRect/>
            </a:stretch>
          </p:blipFill>
          <p:spPr>
            <a:xfrm>
              <a:off x="9753600" y="3943350"/>
              <a:ext cx="857250" cy="1676400"/>
            </a:xfrm>
            <a:prstGeom prst="rect">
              <a:avLst/>
            </a:prstGeom>
          </p:spPr>
        </p:pic>
        <p:sp>
          <p:nvSpPr>
            <p:cNvPr id="35" name="Rectangle 35"/>
            <p:cNvSpPr/>
            <p:nvPr/>
          </p:nvSpPr>
          <p:spPr>
            <a:xfrm>
              <a:off x="9753600" y="5391150"/>
              <a:ext cx="857250" cy="228600"/>
            </a:xfrm>
            <a:prstGeom prst="rect">
              <a:avLst/>
            </a:prstGeom>
            <a:solidFill>
              <a:srgbClr val="0B0F14">
                <a:alpha val="78000"/>
              </a:srgbClr>
            </a:solidFill>
            <a:ln>
              <a:noFill/>
            </a:ln>
          </p:spPr>
        </p:sp>
        <p:sp>
          <p:nvSpPr>
            <p:cNvPr id="36" name="TextBox 36"/>
            <p:cNvSpPr txBox="1"/>
            <p:nvPr/>
          </p:nvSpPr>
          <p:spPr>
            <a:xfrm>
              <a:off x="9870162" y="5472112"/>
              <a:ext cx="624126" cy="152400"/>
            </a:xfrm>
            <a:prstGeom prst="rect">
              <a:avLst/>
            </a:prstGeom>
            <a:noFill/>
            <a:ln>
              <a:noFill/>
            </a:ln>
          </p:spPr>
          <p:txBody>
            <a:bodyPr wrap="none" lIns="0" tIns="0" rIns="0" bIns="0" anchor="t" anchorCtr="0">
              <a:spAutoFit/>
            </a:bodyPr>
            <a:lstStyle/>
            <a:p>
              <a:pPr algn="ctr"/>
              <a:r>
                <a:rPr lang="zh-CN" sz="750" dirty="0">
                  <a:solidFill>
                    <a:srgbClr val="73F0B8"/>
                  </a:solidFill>
                  <a:latin typeface="Consolas"/>
                  <a:ea typeface="Microsoft YaHei"/>
                  <a:cs typeface="Consolas"/>
                </a:rPr>
                <a:t>mobile proof</a:t>
              </a:r>
            </a:p>
          </p:txBody>
        </p:sp>
      </p:grpSp>
      <p:grpSp>
        <p:nvGrpSpPr>
          <p:cNvPr id="43" name="Group 43"/>
          <p:cNvGrpSpPr/>
          <p:nvPr/>
        </p:nvGrpSpPr>
        <p:grpSpPr>
          <a:xfrm>
            <a:off x="6915150" y="5753100"/>
            <a:ext cx="4440574" cy="400050"/>
            <a:chOff x="6915150" y="5753100"/>
            <a:chExt cx="4440574" cy="400050"/>
          </a:xfrm>
        </p:grpSpPr>
        <p:sp>
          <p:nvSpPr>
            <p:cNvPr id="38" name="Freeform 38"/>
            <p:cNvSpPr/>
            <p:nvPr/>
          </p:nvSpPr>
          <p:spPr>
            <a:xfrm>
              <a:off x="6915150" y="5753100"/>
              <a:ext cx="4324350" cy="400050"/>
            </a:xfrm>
            <a:custGeom>
              <a:avLst/>
              <a:gdLst/>
              <a:ahLst/>
              <a:cxnLst/>
              <a:rect l="l" t="t" r="r" b="b"/>
              <a:pathLst>
                <a:path w="4324350" h="400050">
                  <a:moveTo>
                    <a:pt x="200025" y="0"/>
                  </a:moveTo>
                  <a:lnTo>
                    <a:pt x="4124325" y="0"/>
                  </a:lnTo>
                  <a:cubicBezTo>
                    <a:pt x="4234796" y="0"/>
                    <a:pt x="4324350" y="89554"/>
                    <a:pt x="4324350" y="200025"/>
                  </a:cubicBezTo>
                  <a:lnTo>
                    <a:pt x="4324350" y="200025"/>
                  </a:lnTo>
                  <a:cubicBezTo>
                    <a:pt x="4324350" y="310496"/>
                    <a:pt x="4234796" y="400050"/>
                    <a:pt x="4124325" y="400050"/>
                  </a:cubicBezTo>
                  <a:lnTo>
                    <a:pt x="200025" y="400050"/>
                  </a:lnTo>
                  <a:cubicBezTo>
                    <a:pt x="89554" y="400050"/>
                    <a:pt x="0" y="310496"/>
                    <a:pt x="0" y="200025"/>
                  </a:cubicBezTo>
                  <a:lnTo>
                    <a:pt x="0" y="200025"/>
                  </a:lnTo>
                  <a:cubicBezTo>
                    <a:pt x="0" y="89554"/>
                    <a:pt x="89554" y="0"/>
                    <a:pt x="200025" y="0"/>
                  </a:cubicBezTo>
                  <a:close/>
                </a:path>
              </a:pathLst>
            </a:custGeom>
            <a:solidFill>
              <a:srgbClr val="121A24"/>
            </a:solidFill>
            <a:ln w="14288">
              <a:solidFill>
                <a:srgbClr val="F7B955"/>
              </a:solidFill>
            </a:ln>
          </p:spPr>
        </p:sp>
        <p:grpSp>
          <p:nvGrpSpPr>
            <p:cNvPr id="41" name="Group 41"/>
            <p:cNvGrpSpPr/>
            <p:nvPr/>
          </p:nvGrpSpPr>
          <p:grpSpPr>
            <a:xfrm>
              <a:off x="7158160" y="5874544"/>
              <a:ext cx="170506" cy="157162"/>
              <a:chOff x="7158160" y="5874544"/>
              <a:chExt cx="170506" cy="157162"/>
            </a:xfrm>
          </p:grpSpPr>
          <p:sp>
            <p:nvSpPr>
              <p:cNvPr id="39" name="Freeform 39"/>
              <p:cNvSpPr/>
              <p:nvPr/>
            </p:nvSpPr>
            <p:spPr>
              <a:xfrm>
                <a:off x="7158160" y="5874544"/>
                <a:ext cx="170506" cy="155818"/>
              </a:xfrm>
              <a:custGeom>
                <a:avLst/>
                <a:gdLst/>
                <a:ahLst/>
                <a:cxnLst/>
                <a:rect l="l" t="t" r="r" b="b"/>
                <a:pathLst>
                  <a:path w="170506" h="155818">
                    <a:moveTo>
                      <a:pt x="85650" y="155818"/>
                    </a:moveTo>
                    <a:cubicBezTo>
                      <a:pt x="30952" y="138863"/>
                      <a:pt x="0" y="81134"/>
                      <a:pt x="16149" y="26194"/>
                    </a:cubicBezTo>
                    <a:cubicBezTo>
                      <a:pt x="43351" y="27439"/>
                      <a:pt x="69970" y="18044"/>
                      <a:pt x="90365" y="0"/>
                    </a:cubicBezTo>
                    <a:cubicBezTo>
                      <a:pt x="110759" y="18044"/>
                      <a:pt x="137378" y="27439"/>
                      <a:pt x="164580" y="26194"/>
                    </a:cubicBezTo>
                    <a:cubicBezTo>
                      <a:pt x="170506" y="46355"/>
                      <a:pt x="170232" y="67833"/>
                      <a:pt x="163794" y="87836"/>
                    </a:cubicBezTo>
                  </a:path>
                </a:pathLst>
              </a:custGeom>
              <a:noFill/>
              <a:ln w="19050">
                <a:solidFill>
                  <a:srgbClr val="F7B955"/>
                </a:solidFill>
              </a:ln>
            </p:spPr>
          </p:sp>
          <p:sp>
            <p:nvSpPr>
              <p:cNvPr id="40" name="Freeform 40"/>
              <p:cNvSpPr/>
              <p:nvPr/>
            </p:nvSpPr>
            <p:spPr>
              <a:xfrm>
                <a:off x="7274719" y="5996781"/>
                <a:ext cx="52388" cy="34925"/>
              </a:xfrm>
              <a:custGeom>
                <a:avLst/>
                <a:gdLst/>
                <a:ahLst/>
                <a:cxnLst/>
                <a:rect l="l" t="t" r="r" b="b"/>
                <a:pathLst>
                  <a:path w="52388" h="34925">
                    <a:moveTo>
                      <a:pt x="0" y="17463"/>
                    </a:moveTo>
                    <a:lnTo>
                      <a:pt x="17463" y="34925"/>
                    </a:lnTo>
                    <a:lnTo>
                      <a:pt x="52388" y="0"/>
                    </a:lnTo>
                  </a:path>
                </a:pathLst>
              </a:custGeom>
              <a:noFill/>
              <a:ln w="19050">
                <a:solidFill>
                  <a:srgbClr val="F7B955"/>
                </a:solidFill>
              </a:ln>
            </p:spPr>
          </p:sp>
        </p:grpSp>
        <p:sp>
          <p:nvSpPr>
            <p:cNvPr id="42" name="TextBox 42"/>
            <p:cNvSpPr txBox="1"/>
            <p:nvPr/>
          </p:nvSpPr>
          <p:spPr>
            <a:xfrm>
              <a:off x="7452360" y="5880735"/>
              <a:ext cx="3903364" cy="243840"/>
            </a:xfrm>
            <a:prstGeom prst="rect">
              <a:avLst/>
            </a:prstGeom>
            <a:noFill/>
            <a:ln>
              <a:noFill/>
            </a:ln>
          </p:spPr>
          <p:txBody>
            <a:bodyPr wrap="none" lIns="0" tIns="0" rIns="0" bIns="0" anchor="t" anchorCtr="0">
              <a:spAutoFit/>
            </a:bodyPr>
            <a:lstStyle/>
            <a:p>
              <a:pPr algn="l"/>
              <a:r>
                <a:rPr lang="zh-CN" sz="1200" b="1" dirty="0">
                  <a:solidFill>
                    <a:srgbClr val="EAF1F7"/>
                  </a:solidFill>
                  <a:latin typeface="Aptos"/>
                  <a:ea typeface="Microsoft YaHei"/>
                  <a:cs typeface="Aptos"/>
                </a:rPr>
                <a:t>Inspect receipt proof before judging the claim.</a:t>
              </a:r>
            </a:p>
          </p:txBody>
        </p:sp>
      </p:grpSp>
      <p:sp>
        <p:nvSpPr>
          <p:cNvPr id="44" name="TextBox 44"/>
          <p:cNvSpPr txBox="1"/>
          <p:nvPr/>
        </p:nvSpPr>
        <p:spPr>
          <a:xfrm>
            <a:off x="518160" y="6366510"/>
            <a:ext cx="6023229" cy="243840"/>
          </a:xfrm>
          <a:prstGeom prst="rect">
            <a:avLst/>
          </a:prstGeom>
          <a:noFill/>
          <a:ln>
            <a:noFill/>
          </a:ln>
        </p:spPr>
        <p:txBody>
          <a:bodyPr wrap="none" lIns="0" tIns="0" rIns="0" bIns="0" anchor="t" anchorCtr="0">
            <a:spAutoFit/>
          </a:bodyPr>
          <a:lstStyle/>
          <a:p>
            <a:pPr algn="l"/>
            <a:r>
              <a:rPr lang="zh-CN" sz="1200" dirty="0">
                <a:solidFill>
                  <a:srgbClr val="A8B6C6"/>
                </a:solidFill>
                <a:latin typeface="Aptos"/>
                <a:ea typeface="Microsoft YaHei"/>
                <a:cs typeface="Aptos"/>
              </a:rPr>
              <a:t>Submission hold: final hackathon form still requires explicit human approval.</a:t>
            </a:r>
          </a:p>
        </p:txBody>
      </p:sp>
    </p:spTree>
  </p:cSld>
  <p:clrMapOvr>
    <a:masterClrMapping/>
  </p:clrMapOvr>
  <p:transition xmlns:p14="http://schemas.microsoft.com/office/powerpoint/2010/main" p14:dur="35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2026-06-21T14:02:47Z</dcterms:created>
  <dcterms:modified xsi:type="dcterms:W3CDTF">2026-06-21T14:02:47Z</dcterms:modified>
  <cp:category/>
  <cp:contentStatus/>
</cp:coreProperties>
</file>